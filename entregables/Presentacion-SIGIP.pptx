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2" r:id="rId24"/>
    <p:sldId id="273" r:id="rId25"/>
    <p:sldId id="274" r:id="rId26"/>
    <p:sldId id="275" r:id="rId27"/>
    <p:sldId id="276" r:id="rId28"/>
    <p:sldId id="277" r:id="rId29"/>
    <p:sldId id="278" r:id="rId30"/>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83F66"/>
                </a:solidFill>
                <a:latin typeface="Arial"/>
              </a:rPr>
              <a:t>Rendimiento (req/s)  +55 %</a:t>
            </a:r>
          </a:p>
        </c:rich>
      </c:tx>
      <c:layout/>
      <c:overlay val="0"/>
    </c:title>
    <c:autoTitleDeleted val="0"/>
    <c:plotArea>
      <c:barChart>
        <c:barDir val="col"/>
        <c:grouping val="clustered"/>
        <c:ser>
          <c:idx val="0"/>
          <c:order val="0"/>
          <c:tx>
            <c:strRef>
              <c:f>Sheet1!$B$1</c:f>
              <c:strCache>
                <c:ptCount val="1"/>
                <c:pt idx="0">
                  <c:v>Peticiones por segundo</c:v>
                </c:pt>
              </c:strCache>
            </c:strRef>
          </c:tx>
          <c:dPt>
            <c:idx val="0"/>
            <c:spPr>
              <a:solidFill>
                <a:srgbClr val="9AA5B1"/>
              </a:solidFill>
            </c:spPr>
          </c:dPt>
          <c:dPt>
            <c:idx val="1"/>
            <c:spPr>
              <a:solidFill>
                <a:srgbClr val="4F9667"/>
              </a:solidFill>
            </c:spPr>
          </c:dPt>
          <c:cat>
            <c:strRef>
              <c:f>Sheet1!$A$2:$A$3</c:f>
              <c:strCache>
                <c:ptCount val="2"/>
                <c:pt idx="0">
                  <c:v>Sin caché</c:v>
                </c:pt>
                <c:pt idx="1">
                  <c:v>Con caché</c:v>
                </c:pt>
              </c:strCache>
            </c:strRef>
          </c:cat>
          <c:val>
            <c:numRef>
              <c:f>Sheet1!$B$2:$B$3</c:f>
              <c:numCache>
                <c:formatCode>General</c:formatCode>
                <c:ptCount val="2"/>
                <c:pt idx="0">
                  <c:v>404</c:v>
                </c:pt>
                <c:pt idx="1">
                  <c:v>627</c:v>
                </c:pt>
              </c:numCache>
            </c:numRef>
          </c:val>
        </c:ser>
        <c:dLbls>
          <c:txPr>
            <a:bodyPr/>
            <a:lstStyle/>
            <a:p>
              <a:pPr>
                <a:defRPr sz="1100"/>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83F66"/>
                </a:solidFill>
                <a:latin typeface="Arial"/>
              </a:rPr>
              <a:t>Latencia (ms)  p95: 116 → 59</a:t>
            </a:r>
          </a:p>
        </c:rich>
      </c:tx>
      <c:layout/>
      <c:overlay val="0"/>
    </c:title>
    <c:autoTitleDeleted val="0"/>
    <c:plotArea>
      <c:barChart>
        <c:barDir val="col"/>
        <c:grouping val="clustered"/>
        <c:ser>
          <c:idx val="0"/>
          <c:order val="0"/>
          <c:tx>
            <c:strRef>
              <c:f>Sheet1!$B$1</c:f>
              <c:strCache>
                <c:ptCount val="1"/>
                <c:pt idx="0">
                  <c:v>Sin caché</c:v>
                </c:pt>
              </c:strCache>
            </c:strRef>
          </c:tx>
          <c:spPr>
            <a:solidFill>
              <a:srgbClr val="9AA5B1"/>
            </a:solidFill>
          </c:spPr>
          <c:cat>
            <c:strRef>
              <c:f>Sheet1!$A$2:$A$4</c:f>
              <c:strCache>
                <c:ptCount val="3"/>
                <c:pt idx="0">
                  <c:v>p50</c:v>
                </c:pt>
                <c:pt idx="1">
                  <c:v>p95</c:v>
                </c:pt>
                <c:pt idx="2">
                  <c:v>p99</c:v>
                </c:pt>
              </c:strCache>
            </c:strRef>
          </c:cat>
          <c:val>
            <c:numRef>
              <c:f>Sheet1!$B$2:$B$4</c:f>
              <c:numCache>
                <c:formatCode>General</c:formatCode>
                <c:ptCount val="3"/>
                <c:pt idx="0">
                  <c:v>41.6</c:v>
                </c:pt>
                <c:pt idx="1">
                  <c:v>116.0</c:v>
                </c:pt>
                <c:pt idx="2">
                  <c:v>165.1</c:v>
                </c:pt>
              </c:numCache>
            </c:numRef>
          </c:val>
        </c:ser>
        <c:ser>
          <c:idx val="1"/>
          <c:order val="1"/>
          <c:tx>
            <c:strRef>
              <c:f>Sheet1!$C$1</c:f>
              <c:strCache>
                <c:ptCount val="1"/>
                <c:pt idx="0">
                  <c:v>Con caché</c:v>
                </c:pt>
              </c:strCache>
            </c:strRef>
          </c:tx>
          <c:spPr>
            <a:solidFill>
              <a:srgbClr val="4F9667"/>
            </a:solidFill>
          </c:spPr>
          <c:cat>
            <c:strRef>
              <c:f>Sheet1!$A$2:$A$4</c:f>
              <c:strCache>
                <c:ptCount val="3"/>
                <c:pt idx="0">
                  <c:v>p50</c:v>
                </c:pt>
                <c:pt idx="1">
                  <c:v>p95</c:v>
                </c:pt>
                <c:pt idx="2">
                  <c:v>p99</c:v>
                </c:pt>
              </c:strCache>
            </c:strRef>
          </c:cat>
          <c:val>
            <c:numRef>
              <c:f>Sheet1!$C$2:$C$4</c:f>
              <c:numCache>
                <c:formatCode>General</c:formatCode>
                <c:ptCount val="3"/>
                <c:pt idx="0">
                  <c:v>29.2</c:v>
                </c:pt>
                <c:pt idx="1">
                  <c:v>59.3</c:v>
                </c:pt>
                <c:pt idx="2">
                  <c:v>79.6</c:v>
                </c:pt>
              </c:numCache>
            </c:numRef>
          </c:val>
        </c:ser>
        <c:dLbls>
          <c:txPr>
            <a:bodyPr/>
            <a:lstStyle/>
            <a:p>
              <a:pPr>
                <a:defRPr sz="1100"/>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40–50 segundos.</a:t>
            </a:r>
          </a:p>
          <a:p>
            <a:r>
              <a:t>Qué decir: “Buenas tardes. Nuestro proyecto se llama SIGIP, Sistema Integral de Gestión de Impresión y Pedidos. Es una aplicación web pensada para una empresa de impresión. La idea es que el cliente pueda consultar servicios, registrar su pedido y hacer seguimiento, mientras la empresa puede organizar y controlar las etapas del trabajo. En esta presentación explicaremos el problema, los objetivos, el proceso y la parte técnica del sistema.”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a:t>
            </a:r>
          </a:p>
          <a:p>
            <a:r>
              <a:t>Qué decir: “SIGIP tiene tres partes que debemos entender. Primero está el cliente, que interactúa con el catálogo y registra su pedido. Segundo está la empresa, que recibe esa información y continúa con diseño, producción, inventario y entrega. Y tercero está el sistema, que conecta estas actividades mediante Angular, Spring Boot, servicios REST y MySQL. Por eso no es solamente una tienda virtual; también contempla la gestión interna del pedido.”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a:t>
            </a:r>
          </a:p>
          <a:p>
            <a:r>
              <a:t>Qué decir: “El problema que planteamos no es solamente que falte una página web. El problema está en el seguimiento de la información. Un pedido puede tener datos del cliente, archivos, cambios, estado y coordinación interna. Si todo se maneja por diferentes medios, es más difícil saber qué información corresponde a cada trabajo. SIGIP busca que el pedido tenga un recorrido visible y ordenado.”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a:t>
            </a:r>
          </a:p>
          <a:p>
            <a:r>
              <a:t>Qué decir: “En esta comparación se entiende mejor el aporte. Antes, cada dato podía estar en un medio diferente. Con SIGIP, la información queda asociada al pedido. El cliente inicia en el catálogo y la empresa puede continuar con las siguientes etapas. No estamos diciendo que todo el proceso físico desaparezca; lo que hacemos es mejorar la gestión de la información que acompaña al trabajo.”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 20 segundos.</a:t>
            </a:r>
          </a:p>
          <a:p>
            <a:r>
              <a:t>Qué decir: “Para el diagnóstico usamos SEPTE. En lo social consideramos la necesidad de una atención más digital. En lo económico, el comercio electrónico representa una oportunidad para nuevos canales de venta. En lo político, tenemos que considerar la protección de datos personales. En lo tecnológico, el proyecto aprovecha tecnologías web actuales. Y en lo ecológico, la gestión digital puede reducir documentos impresos. En el informe estos puntos están desarrollados con sus respectivas fuentes.”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 30 segundos.</a:t>
            </a:r>
          </a:p>
          <a:p>
            <a:r>
              <a:t>Qué decir: “Planteamos dos objetivos SMART. El primero está enfocado en el cliente y describe las acciones que podrá realizar en el canal digital. El segundo está enfocado en la empresa y en la gestión de los pedidos. Son específicos porque indican qué se hará, medibles porque se pueden relacionar con funciones concretas del sistema, alcanzables porque corresponden al alcance tecnológico del proyecto, relevantes para el problema y temporales porque se plantean para el año 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55 segundos.</a:t>
            </a:r>
          </a:p>
          <a:p>
            <a:r>
              <a:t>Qué decir: “Los beneficiarios directos son quienes usan el sistema. El cliente obtiene un canal para consultar y hacer seguimiento, y el personal puede administrar la información de los pedidos. Como beneficiarios indirectos consideramos a responsables y áreas que reciben el impacto de una mejor organización de la información, aunque no necesariamente realicen todas las operaciones dentro del sistema.”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 30 segundos.</a:t>
            </a:r>
          </a:p>
          <a:p>
            <a:r>
              <a:t>Qué decir: “Este es el flujo principal. El cliente comienza consultando el catálogo y registrando su solicitud. Luego la empresa revisa y puede emitir una proforma. Al aceptar las condiciones, se confirma el pedido y se registra el pago como parte de esa confirmación. Después vienen diseño, aprobación, materiales, producción, control y entrega. Es importante aclarar que en el proyecto académico el pago se plantea como confirmación o registro; no estamos presentando una pasarela bancaria real.”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 40 segundos.</a:t>
            </a:r>
          </a:p>
          <a:p>
            <a:r>
              <a:t>Qué decir: “En la parte técnica dividimos el sistema por responsabilidades. Angular representa la interfaz. Las peticiones ingresan por el API Gateway. Luego se distribuyen a los microservicios, por ejemplo autenticación, catálogo, ventas, diseño, producción e inventario. Cada servicio trabaja con su información en MySQL. Además tenemos Eureka para el descubrimiento de servicios, Spring Security con JWT para la seguridad y RabbitMQ como componente de mensajería para notificaciones. La idea de dividirlo es que cada servicio tenga una responsabilidad clara.”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a:t>
            </a:r>
          </a:p>
          <a:p>
            <a:r>
              <a:t>Qué decir: “Para explicar REST, tomamos un ejemplo sencillo. El usuario abre el catálogo en Angular. Angular realiza una petición GET al endpoint del catálogo. La petición pasa por el Gateway, llega al catalog-service y este consulta MySQL. Luego la respuesta regresa hasta Angular y se muestra al usuario. El proyecto también contempla los métodos POST, PUT y DELETE para registrar, actualizar y eliminar información, que es parte de la especificación técnica del curso.”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 10 segundos.</a:t>
            </a:r>
          </a:p>
          <a:p>
            <a:r>
              <a:t>Qué decir: “La seguridad es una parte importante del proyecto. El usuario inicia sesión con sus credenciales. El servicio de autenticación valida la contraseña usando BCrypt y, si corresponde, genera un JWT. Angular utiliza ese token para acceder a los recursos protegidos. Además, existen roles como CLIENTE y ADMIN para controlar qué operaciones puede realizar cada usuario. En el informe debemos ser precisos: BCrypt hace hash de contraseñas, no es un cifrado reversible.”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a:t>
            </a:r>
          </a:p>
          <a:p>
            <a:r>
              <a:t>Qué decir: “Estos son los módulos que organizan el sistema. Usuarios controla acceso y roles; catálogo presenta los servicios; pedidos gestiona la parte comercial; diseño y producción acompañan la elaboración; inventario controla insumos; notificaciones permite comunicar cambios; y reportes permite consultar información operativa. No es necesario explicar cada módulo con mucho detalle, sino mostrar cómo se relacionan con el flujo del pedido.”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a:t>
            </a:r>
          </a:p>
          <a:p>
            <a:r>
              <a:t>Qué decir: “Definir el alcance nos ayuda a no confundir lo que hace el sistema con lo que podría agregarse después. Dentro del alcance tenemos usuarios, catálogo, pedidos, confirmación del pago, diseño, producción, inventario, notificaciones y reportes. Fuera del alcance dejamos una pasarela bancaria real, facturación electrónica, contabilidad integral, integración directa con maquinaria y la gestión de múltiples empresas.”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a:t>
            </a:r>
          </a:p>
          <a:p>
            <a:r>
              <a:t>Qué decir: “Las tecnologías no se eligieron solo por nombre, sino por la función que cumplen. Angular se utiliza en el frontend. Java y Spring Boot forman el backend. Spring Data JPA permite trabajar con la persistencia. Spring Security participa en la seguridad. MySQL almacena los datos. Eureka permite el descubrimiento de servicios y RabbitMQ se utiliza como componente de mensajería. Esta combinación permite implementar el tipo de aplicación web que solicita el curso.”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50 segundos.</a:t>
            </a:r>
          </a:p>
          <a:p>
            <a:r>
              <a:t>Qué decir: “La sustentación no debe quedarse solo en explicar conceptos. Tenemos que relacionar el informe con el aplicativo y con las evidencias. El plan del proyecto solicita un informe, una presentación y los desarrollos realizados; además, la evaluación técnica considera el servicio REST de login y las operaciones de acceso a datos. Por eso conviene mostrar evidencias concretas como login, CRUD, persistencia y el recorrido del pedido.”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 minuto.</a:t>
            </a:r>
          </a:p>
          <a:p>
            <a:r>
              <a:t>Qué decir: “Como conclusión, SIGIP plantea una gestión más ordenada de los pedidos de impresión y permite relacionar la atención al cliente con las actividades internas. La arquitectura separa responsabilidades y utiliza las tecnologías trabajadas en el curso. Como siguientes pasos, se pueden ampliar reportes, integrar una pasarela de pago real y agregar nuevas funciones según las necesidades del negocio. Muchas gracias.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7132320" cy="6858000"/>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58368"/>
            <a:ext cx="2331720" cy="384048"/>
          </a:xfrm>
          <a:prstGeom prst="roundRect">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67512"/>
            <a:ext cx="2331720" cy="365759"/>
          </a:xfrm>
          <a:prstGeom prst="rect">
            <a:avLst/>
          </a:prstGeom>
          <a:noFill/>
        </p:spPr>
        <p:txBody>
          <a:bodyPr wrap="square" anchor="ctr">
            <a:spAutoFit/>
          </a:bodyPr>
          <a:lstStyle/>
          <a:p>
            <a:pPr algn="ctr"/>
            <a:r>
              <a:rPr sz="1100" b="1">
                <a:solidFill>
                  <a:srgbClr val="FFFFFF"/>
                </a:solidFill>
                <a:latin typeface="Arial"/>
              </a:rPr>
              <a:t>PROYECTO DE ECOMMERCE</a:t>
            </a:r>
          </a:p>
        </p:txBody>
      </p:sp>
      <p:sp>
        <p:nvSpPr>
          <p:cNvPr id="5" name="TextBox 4"/>
          <p:cNvSpPr txBox="1"/>
          <p:nvPr/>
        </p:nvSpPr>
        <p:spPr>
          <a:xfrm>
            <a:off x="594360" y="1325880"/>
            <a:ext cx="4114800" cy="914400"/>
          </a:xfrm>
          <a:prstGeom prst="rect">
            <a:avLst/>
          </a:prstGeom>
          <a:noFill/>
        </p:spPr>
        <p:txBody>
          <a:bodyPr wrap="square" anchor="t">
            <a:spAutoFit/>
          </a:bodyPr>
          <a:lstStyle/>
          <a:p>
            <a:pPr algn="l"/>
            <a:r>
              <a:rPr sz="4800" b="1">
                <a:solidFill>
                  <a:srgbClr val="FFFFFF"/>
                </a:solidFill>
                <a:latin typeface="Arial"/>
              </a:rPr>
              <a:t>SIGIP</a:t>
            </a:r>
          </a:p>
        </p:txBody>
      </p:sp>
      <p:sp>
        <p:nvSpPr>
          <p:cNvPr id="6" name="TextBox 5"/>
          <p:cNvSpPr txBox="1"/>
          <p:nvPr/>
        </p:nvSpPr>
        <p:spPr>
          <a:xfrm>
            <a:off x="640080" y="2212848"/>
            <a:ext cx="5669280" cy="1143000"/>
          </a:xfrm>
          <a:prstGeom prst="rect">
            <a:avLst/>
          </a:prstGeom>
          <a:noFill/>
        </p:spPr>
        <p:txBody>
          <a:bodyPr wrap="square" anchor="t">
            <a:spAutoFit/>
          </a:bodyPr>
          <a:lstStyle/>
          <a:p>
            <a:pPr algn="l"/>
            <a:r>
              <a:rPr sz="2700" b="1">
                <a:solidFill>
                  <a:srgbClr val="FFFFFF"/>
                </a:solidFill>
                <a:latin typeface="Arial"/>
              </a:rPr>
              <a:t>Sistema Integral de Gestión
de Impresión y Pedidos</a:t>
            </a:r>
          </a:p>
        </p:txBody>
      </p:sp>
      <p:sp>
        <p:nvSpPr>
          <p:cNvPr id="7" name="TextBox 6"/>
          <p:cNvSpPr txBox="1"/>
          <p:nvPr/>
        </p:nvSpPr>
        <p:spPr>
          <a:xfrm>
            <a:off x="658368" y="3520440"/>
            <a:ext cx="5577840" cy="914400"/>
          </a:xfrm>
          <a:prstGeom prst="rect">
            <a:avLst/>
          </a:prstGeom>
          <a:noFill/>
        </p:spPr>
        <p:txBody>
          <a:bodyPr wrap="square" anchor="t">
            <a:spAutoFit/>
          </a:bodyPr>
          <a:lstStyle/>
          <a:p>
            <a:pPr algn="l"/>
            <a:r>
              <a:rPr sz="1800" b="0">
                <a:solidFill>
                  <a:srgbClr val="DCE6EE"/>
                </a:solidFill>
                <a:latin typeface="Arial"/>
              </a:rPr>
              <a:t>Una propuesta web para registrar pedidos,
seguir trabajos y mejorar la atención al cliente.</a:t>
            </a:r>
          </a:p>
        </p:txBody>
      </p:sp>
      <p:sp>
        <p:nvSpPr>
          <p:cNvPr id="8" name="Rounded Rectangle 7"/>
          <p:cNvSpPr/>
          <p:nvPr/>
        </p:nvSpPr>
        <p:spPr>
          <a:xfrm>
            <a:off x="640080" y="4800600"/>
            <a:ext cx="31089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809744"/>
            <a:ext cx="3108960" cy="402336"/>
          </a:xfrm>
          <a:prstGeom prst="rect">
            <a:avLst/>
          </a:prstGeom>
          <a:noFill/>
        </p:spPr>
        <p:txBody>
          <a:bodyPr wrap="square" anchor="ctr">
            <a:spAutoFit/>
          </a:bodyPr>
          <a:lstStyle/>
          <a:p>
            <a:pPr algn="ctr"/>
            <a:r>
              <a:rPr sz="1100" b="1">
                <a:solidFill>
                  <a:srgbClr val="183F66"/>
                </a:solidFill>
                <a:latin typeface="Arial"/>
              </a:rPr>
              <a:t>Desarrollo de Servicios Web II</a:t>
            </a:r>
          </a:p>
        </p:txBody>
      </p:sp>
      <p:sp>
        <p:nvSpPr>
          <p:cNvPr id="10" name="TextBox 9"/>
          <p:cNvSpPr txBox="1"/>
          <p:nvPr/>
        </p:nvSpPr>
        <p:spPr>
          <a:xfrm>
            <a:off x="658368" y="5413248"/>
            <a:ext cx="2560320" cy="320040"/>
          </a:xfrm>
          <a:prstGeom prst="rect">
            <a:avLst/>
          </a:prstGeom>
          <a:noFill/>
        </p:spPr>
        <p:txBody>
          <a:bodyPr wrap="square" anchor="t">
            <a:spAutoFit/>
          </a:bodyPr>
          <a:lstStyle/>
          <a:p>
            <a:pPr algn="l"/>
            <a:r>
              <a:rPr sz="1500" b="1">
                <a:solidFill>
                  <a:srgbClr val="FFFFFF"/>
                </a:solidFill>
                <a:latin typeface="Arial"/>
              </a:rPr>
              <a:t>6.º ciclo  |  2026</a:t>
            </a:r>
          </a:p>
        </p:txBody>
      </p:sp>
      <p:sp>
        <p:nvSpPr>
          <p:cNvPr id="11" name="TextBox 10"/>
          <p:cNvSpPr txBox="1"/>
          <p:nvPr/>
        </p:nvSpPr>
        <p:spPr>
          <a:xfrm>
            <a:off x="658368" y="5897880"/>
            <a:ext cx="4480560" cy="274320"/>
          </a:xfrm>
          <a:prstGeom prst="rect">
            <a:avLst/>
          </a:prstGeom>
          <a:noFill/>
        </p:spPr>
        <p:txBody>
          <a:bodyPr wrap="square" anchor="t">
            <a:spAutoFit/>
          </a:bodyPr>
          <a:lstStyle/>
          <a:p>
            <a:pPr algn="l"/>
            <a:r>
              <a:rPr sz="1200" b="0">
                <a:solidFill>
                  <a:srgbClr val="D7E1EB"/>
                </a:solidFill>
                <a:latin typeface="Arial"/>
              </a:rPr>
              <a:t>Integrantes: [Nombres del grupo]</a:t>
            </a:r>
          </a:p>
        </p:txBody>
      </p:sp>
      <p:sp>
        <p:nvSpPr>
          <p:cNvPr id="12" name="TextBox 11"/>
          <p:cNvSpPr txBox="1"/>
          <p:nvPr/>
        </p:nvSpPr>
        <p:spPr>
          <a:xfrm>
            <a:off x="7635240" y="713232"/>
            <a:ext cx="3931920" cy="320040"/>
          </a:xfrm>
          <a:prstGeom prst="rect">
            <a:avLst/>
          </a:prstGeom>
          <a:noFill/>
        </p:spPr>
        <p:txBody>
          <a:bodyPr wrap="square" anchor="t">
            <a:spAutoFit/>
          </a:bodyPr>
          <a:lstStyle/>
          <a:p>
            <a:pPr algn="ctr"/>
            <a:r>
              <a:rPr sz="1400" b="1">
                <a:solidFill>
                  <a:srgbClr val="183F66"/>
                </a:solidFill>
                <a:latin typeface="Arial"/>
              </a:rPr>
              <a:t>DEL PEDIDO A LA ENTREGA</a:t>
            </a:r>
          </a:p>
        </p:txBody>
      </p:sp>
      <p:sp>
        <p:nvSpPr>
          <p:cNvPr id="13" name="Rounded Rectangle 12"/>
          <p:cNvSpPr/>
          <p:nvPr/>
        </p:nvSpPr>
        <p:spPr>
          <a:xfrm>
            <a:off x="9006840" y="1567281"/>
            <a:ext cx="1481328" cy="790041"/>
          </a:xfrm>
          <a:prstGeom prst="roundRect">
            <a:avLst/>
          </a:prstGeom>
          <a:solidFill>
            <a:srgbClr val="FFFFFF"/>
          </a:solidFill>
          <a:ln w="2540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81160" y="1325880"/>
            <a:ext cx="932688" cy="526694"/>
          </a:xfrm>
          <a:prstGeom prst="rect">
            <a:avLst/>
          </a:prstGeom>
          <a:solidFill>
            <a:srgbClr val="FFFFFF"/>
          </a:solidFill>
          <a:ln w="2540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59214" y="2181758"/>
            <a:ext cx="987552" cy="416966"/>
          </a:xfrm>
          <a:prstGeom prst="rect">
            <a:avLst/>
          </a:prstGeom>
          <a:solidFill>
            <a:srgbClr val="E2EFF9"/>
          </a:solidFill>
          <a:ln w="2540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191902" y="1819656"/>
            <a:ext cx="131673" cy="131673"/>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91902" y="1828800"/>
            <a:ext cx="131673" cy="113385"/>
          </a:xfrm>
          <a:prstGeom prst="rect">
            <a:avLst/>
          </a:prstGeom>
          <a:noFill/>
        </p:spPr>
        <p:txBody>
          <a:bodyPr wrap="square" anchor="ctr">
            <a:spAutoFit/>
          </a:bodyPr>
          <a:lstStyle/>
          <a:p>
            <a:pPr algn="ctr"/>
            <a:r>
              <a:rPr sz="800" b="1">
                <a:solidFill>
                  <a:srgbClr val="FFFFFF"/>
                </a:solidFill>
                <a:latin typeface="Arial"/>
              </a:rPr>
              <a:t>•</a:t>
            </a:r>
          </a:p>
        </p:txBody>
      </p:sp>
      <p:sp>
        <p:nvSpPr>
          <p:cNvPr id="18" name="Oval 17"/>
          <p:cNvSpPr/>
          <p:nvPr/>
        </p:nvSpPr>
        <p:spPr>
          <a:xfrm>
            <a:off x="7635240" y="2697480"/>
            <a:ext cx="384048" cy="384048"/>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35240" y="2706624"/>
            <a:ext cx="384048" cy="365759"/>
          </a:xfrm>
          <a:prstGeom prst="rect">
            <a:avLst/>
          </a:prstGeom>
          <a:noFill/>
        </p:spPr>
        <p:txBody>
          <a:bodyPr wrap="square" anchor="ctr">
            <a:spAutoFit/>
          </a:bodyPr>
          <a:lstStyle/>
          <a:p>
            <a:pPr algn="ctr"/>
            <a:r>
              <a:rPr sz="1400" b="1">
                <a:solidFill>
                  <a:srgbClr val="FFFFFF"/>
                </a:solidFill>
                <a:latin typeface="Arial"/>
              </a:rPr>
              <a:t>1</a:t>
            </a:r>
          </a:p>
        </p:txBody>
      </p:sp>
      <p:sp>
        <p:nvSpPr>
          <p:cNvPr id="20" name="TextBox 19"/>
          <p:cNvSpPr txBox="1"/>
          <p:nvPr/>
        </p:nvSpPr>
        <p:spPr>
          <a:xfrm>
            <a:off x="8156448" y="2724912"/>
            <a:ext cx="2468880" cy="320040"/>
          </a:xfrm>
          <a:prstGeom prst="rect">
            <a:avLst/>
          </a:prstGeom>
          <a:noFill/>
        </p:spPr>
        <p:txBody>
          <a:bodyPr wrap="square" anchor="t">
            <a:spAutoFit/>
          </a:bodyPr>
          <a:lstStyle/>
          <a:p>
            <a:pPr algn="l"/>
            <a:r>
              <a:rPr sz="1500" b="1">
                <a:solidFill>
                  <a:srgbClr val="30373E"/>
                </a:solidFill>
                <a:latin typeface="Arial"/>
              </a:rPr>
              <a:t>Catálogo</a:t>
            </a:r>
          </a:p>
        </p:txBody>
      </p:sp>
      <p:cxnSp>
        <p:nvCxnSpPr>
          <p:cNvPr id="21" name="Connector 20"/>
          <p:cNvCxnSpPr/>
          <p:nvPr/>
        </p:nvCxnSpPr>
        <p:spPr>
          <a:xfrm>
            <a:off x="7827264" y="3090672"/>
            <a:ext cx="0" cy="228600"/>
          </a:xfrm>
          <a:prstGeom prst="line">
            <a:avLst/>
          </a:prstGeom>
          <a:ln w="20320">
            <a:solidFill>
              <a:srgbClr val="CDD3D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635240" y="3355848"/>
            <a:ext cx="384048" cy="384048"/>
          </a:xfrm>
          <a:prstGeom prst="ellipse">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35240" y="3364991"/>
            <a:ext cx="384048" cy="365759"/>
          </a:xfrm>
          <a:prstGeom prst="rect">
            <a:avLst/>
          </a:prstGeom>
          <a:noFill/>
        </p:spPr>
        <p:txBody>
          <a:bodyPr wrap="square" anchor="ctr">
            <a:spAutoFit/>
          </a:bodyPr>
          <a:lstStyle/>
          <a:p>
            <a:pPr algn="ctr"/>
            <a:r>
              <a:rPr sz="1400" b="1">
                <a:solidFill>
                  <a:srgbClr val="FFFFFF"/>
                </a:solidFill>
                <a:latin typeface="Arial"/>
              </a:rPr>
              <a:t>2</a:t>
            </a:r>
          </a:p>
        </p:txBody>
      </p:sp>
      <p:sp>
        <p:nvSpPr>
          <p:cNvPr id="24" name="TextBox 23"/>
          <p:cNvSpPr txBox="1"/>
          <p:nvPr/>
        </p:nvSpPr>
        <p:spPr>
          <a:xfrm>
            <a:off x="8156448" y="3383279"/>
            <a:ext cx="2468880" cy="320040"/>
          </a:xfrm>
          <a:prstGeom prst="rect">
            <a:avLst/>
          </a:prstGeom>
          <a:noFill/>
        </p:spPr>
        <p:txBody>
          <a:bodyPr wrap="square" anchor="t">
            <a:spAutoFit/>
          </a:bodyPr>
          <a:lstStyle/>
          <a:p>
            <a:pPr algn="l"/>
            <a:r>
              <a:rPr sz="1500" b="1">
                <a:solidFill>
                  <a:srgbClr val="30373E"/>
                </a:solidFill>
                <a:latin typeface="Arial"/>
              </a:rPr>
              <a:t>Pedido</a:t>
            </a:r>
          </a:p>
        </p:txBody>
      </p:sp>
      <p:cxnSp>
        <p:nvCxnSpPr>
          <p:cNvPr id="25" name="Connector 24"/>
          <p:cNvCxnSpPr/>
          <p:nvPr/>
        </p:nvCxnSpPr>
        <p:spPr>
          <a:xfrm>
            <a:off x="7827264" y="3749039"/>
            <a:ext cx="0" cy="228600"/>
          </a:xfrm>
          <a:prstGeom prst="line">
            <a:avLst/>
          </a:prstGeom>
          <a:ln w="20320">
            <a:solidFill>
              <a:srgbClr val="CDD3D8"/>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635240" y="4014216"/>
            <a:ext cx="384048" cy="384048"/>
          </a:xfrm>
          <a:prstGeom prst="ellipse">
            <a:avLst/>
          </a:prstGeom>
          <a:solidFill>
            <a:srgbClr val="74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35240" y="4023360"/>
            <a:ext cx="384048" cy="365759"/>
          </a:xfrm>
          <a:prstGeom prst="rect">
            <a:avLst/>
          </a:prstGeom>
          <a:noFill/>
        </p:spPr>
        <p:txBody>
          <a:bodyPr wrap="square" anchor="ctr">
            <a:spAutoFit/>
          </a:bodyPr>
          <a:lstStyle/>
          <a:p>
            <a:pPr algn="ctr"/>
            <a:r>
              <a:rPr sz="1400" b="1">
                <a:solidFill>
                  <a:srgbClr val="FFFFFF"/>
                </a:solidFill>
                <a:latin typeface="Arial"/>
              </a:rPr>
              <a:t>3</a:t>
            </a:r>
          </a:p>
        </p:txBody>
      </p:sp>
      <p:sp>
        <p:nvSpPr>
          <p:cNvPr id="28" name="TextBox 27"/>
          <p:cNvSpPr txBox="1"/>
          <p:nvPr/>
        </p:nvSpPr>
        <p:spPr>
          <a:xfrm>
            <a:off x="8156448" y="4041648"/>
            <a:ext cx="2468880" cy="320040"/>
          </a:xfrm>
          <a:prstGeom prst="rect">
            <a:avLst/>
          </a:prstGeom>
          <a:noFill/>
        </p:spPr>
        <p:txBody>
          <a:bodyPr wrap="square" anchor="t">
            <a:spAutoFit/>
          </a:bodyPr>
          <a:lstStyle/>
          <a:p>
            <a:pPr algn="l"/>
            <a:r>
              <a:rPr sz="1500" b="1">
                <a:solidFill>
                  <a:srgbClr val="30373E"/>
                </a:solidFill>
                <a:latin typeface="Arial"/>
              </a:rPr>
              <a:t>Diseño</a:t>
            </a:r>
          </a:p>
        </p:txBody>
      </p:sp>
      <p:cxnSp>
        <p:nvCxnSpPr>
          <p:cNvPr id="29" name="Connector 28"/>
          <p:cNvCxnSpPr/>
          <p:nvPr/>
        </p:nvCxnSpPr>
        <p:spPr>
          <a:xfrm>
            <a:off x="7827264" y="4407408"/>
            <a:ext cx="0" cy="228600"/>
          </a:xfrm>
          <a:prstGeom prst="line">
            <a:avLst/>
          </a:prstGeom>
          <a:ln w="20320">
            <a:solidFill>
              <a:srgbClr val="CDD3D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7635240" y="4672584"/>
            <a:ext cx="384048" cy="384048"/>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35240" y="4681728"/>
            <a:ext cx="384048" cy="365759"/>
          </a:xfrm>
          <a:prstGeom prst="rect">
            <a:avLst/>
          </a:prstGeom>
          <a:noFill/>
        </p:spPr>
        <p:txBody>
          <a:bodyPr wrap="square" anchor="ctr">
            <a:spAutoFit/>
          </a:bodyPr>
          <a:lstStyle/>
          <a:p>
            <a:pPr algn="ctr"/>
            <a:r>
              <a:rPr sz="1400" b="1">
                <a:solidFill>
                  <a:srgbClr val="FFFFFF"/>
                </a:solidFill>
                <a:latin typeface="Arial"/>
              </a:rPr>
              <a:t>4</a:t>
            </a:r>
          </a:p>
        </p:txBody>
      </p:sp>
      <p:sp>
        <p:nvSpPr>
          <p:cNvPr id="32" name="TextBox 31"/>
          <p:cNvSpPr txBox="1"/>
          <p:nvPr/>
        </p:nvSpPr>
        <p:spPr>
          <a:xfrm>
            <a:off x="8156448" y="4700016"/>
            <a:ext cx="2468880" cy="320040"/>
          </a:xfrm>
          <a:prstGeom prst="rect">
            <a:avLst/>
          </a:prstGeom>
          <a:noFill/>
        </p:spPr>
        <p:txBody>
          <a:bodyPr wrap="square" anchor="t">
            <a:spAutoFit/>
          </a:bodyPr>
          <a:lstStyle/>
          <a:p>
            <a:pPr algn="l"/>
            <a:r>
              <a:rPr sz="1500" b="1">
                <a:solidFill>
                  <a:srgbClr val="30373E"/>
                </a:solidFill>
                <a:latin typeface="Arial"/>
              </a:rPr>
              <a:t>Producción</a:t>
            </a:r>
          </a:p>
        </p:txBody>
      </p:sp>
      <p:cxnSp>
        <p:nvCxnSpPr>
          <p:cNvPr id="33" name="Connector 32"/>
          <p:cNvCxnSpPr/>
          <p:nvPr/>
        </p:nvCxnSpPr>
        <p:spPr>
          <a:xfrm>
            <a:off x="7827264" y="5065776"/>
            <a:ext cx="0" cy="228600"/>
          </a:xfrm>
          <a:prstGeom prst="line">
            <a:avLst/>
          </a:prstGeom>
          <a:ln w="20320">
            <a:solidFill>
              <a:srgbClr val="CDD3D8"/>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7635240" y="5330952"/>
            <a:ext cx="384048" cy="384048"/>
          </a:xfrm>
          <a:prstGeom prst="ellipse">
            <a:avLst/>
          </a:prstGeom>
          <a:solidFill>
            <a:srgbClr val="47A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35240" y="5340096"/>
            <a:ext cx="384048" cy="365759"/>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8156448" y="5358384"/>
            <a:ext cx="2468880" cy="320040"/>
          </a:xfrm>
          <a:prstGeom prst="rect">
            <a:avLst/>
          </a:prstGeom>
          <a:noFill/>
        </p:spPr>
        <p:txBody>
          <a:bodyPr wrap="square" anchor="t">
            <a:spAutoFit/>
          </a:bodyPr>
          <a:lstStyle/>
          <a:p>
            <a:pPr algn="l"/>
            <a:r>
              <a:rPr sz="1500" b="1">
                <a:solidFill>
                  <a:srgbClr val="30373E"/>
                </a:solidFill>
                <a:latin typeface="Arial"/>
              </a:rPr>
              <a:t>Entrega</a:t>
            </a:r>
          </a:p>
        </p:txBody>
      </p:sp>
      <p:sp>
        <p:nvSpPr>
          <p:cNvPr id="37" name="TextBox 36"/>
          <p:cNvSpPr txBox="1"/>
          <p:nvPr/>
        </p:nvSpPr>
        <p:spPr>
          <a:xfrm>
            <a:off x="7818120" y="5806440"/>
            <a:ext cx="3566160" cy="320040"/>
          </a:xfrm>
          <a:prstGeom prst="rect">
            <a:avLst/>
          </a:prstGeom>
          <a:noFill/>
        </p:spPr>
        <p:txBody>
          <a:bodyPr wrap="square" anchor="t">
            <a:spAutoFit/>
          </a:bodyPr>
          <a:lstStyle/>
          <a:p>
            <a:pPr algn="ctr"/>
            <a:r>
              <a:rPr sz="1200" b="0">
                <a:solidFill>
                  <a:srgbClr val="677078"/>
                </a:solidFill>
                <a:latin typeface="Arial"/>
              </a:rPr>
              <a:t>Presentación del proyecto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¿De qué trata SIGIP?</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02</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La idea del proyecto explicada de forma sencilla</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2</a:t>
            </a:r>
          </a:p>
        </p:txBody>
      </p:sp>
      <p:sp>
        <p:nvSpPr>
          <p:cNvPr id="8" name="Rounded Rectangle 7"/>
          <p:cNvSpPr/>
          <p:nvPr/>
        </p:nvSpPr>
        <p:spPr>
          <a:xfrm>
            <a:off x="594360" y="1325880"/>
            <a:ext cx="3474720" cy="4389120"/>
          </a:xfrm>
          <a:prstGeom prst="roundRect">
            <a:avLst/>
          </a:prstGeom>
          <a:solidFill>
            <a:srgbClr val="E2EFF9"/>
          </a:solidFill>
          <a:ln w="13970">
            <a:solidFill>
              <a:srgbClr val="AAC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453895"/>
            <a:ext cx="3145536" cy="347472"/>
          </a:xfrm>
          <a:prstGeom prst="rect">
            <a:avLst/>
          </a:prstGeom>
          <a:noFill/>
        </p:spPr>
        <p:txBody>
          <a:bodyPr wrap="square" anchor="t">
            <a:spAutoFit/>
          </a:bodyPr>
          <a:lstStyle/>
          <a:p>
            <a:pPr algn="l"/>
            <a:r>
              <a:rPr sz="1700" b="1">
                <a:solidFill>
                  <a:srgbClr val="2D70AA"/>
                </a:solidFill>
                <a:latin typeface="Arial"/>
              </a:rPr>
              <a:t>1. Cliente</a:t>
            </a:r>
          </a:p>
        </p:txBody>
      </p:sp>
      <p:sp>
        <p:nvSpPr>
          <p:cNvPr id="10" name="TextBox 9"/>
          <p:cNvSpPr txBox="1"/>
          <p:nvPr/>
        </p:nvSpPr>
        <p:spPr>
          <a:xfrm>
            <a:off x="758952" y="1892807"/>
            <a:ext cx="3145536" cy="3703320"/>
          </a:xfrm>
          <a:prstGeom prst="rect">
            <a:avLst/>
          </a:prstGeom>
          <a:noFill/>
        </p:spPr>
        <p:txBody>
          <a:bodyPr wrap="square" anchor="t">
            <a:spAutoFit/>
          </a:bodyPr>
          <a:lstStyle/>
          <a:p>
            <a:pPr algn="l"/>
            <a:r>
              <a:rPr sz="1600" b="0">
                <a:solidFill>
                  <a:srgbClr val="30373E"/>
                </a:solidFill>
                <a:latin typeface="Arial"/>
              </a:rPr>
              <a:t>• Consulta servicios de impresión
• Registra una solicitud o pedido
• Envía archivos o indicaciones
• Consulta el importe
• Confirma el pago del pedido
• Revisa el estado del trabajo</a:t>
            </a:r>
          </a:p>
        </p:txBody>
      </p:sp>
      <p:sp>
        <p:nvSpPr>
          <p:cNvPr id="11" name="Rounded Rectangle 10"/>
          <p:cNvSpPr/>
          <p:nvPr/>
        </p:nvSpPr>
        <p:spPr>
          <a:xfrm>
            <a:off x="4343400" y="1325880"/>
            <a:ext cx="3474720" cy="4389120"/>
          </a:xfrm>
          <a:prstGeom prst="roundRect">
            <a:avLst/>
          </a:prstGeom>
          <a:solidFill>
            <a:srgbClr val="E5F2E8"/>
          </a:solidFill>
          <a:ln w="13970">
            <a:solidFill>
              <a:srgbClr val="B5D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453895"/>
            <a:ext cx="3145536" cy="347472"/>
          </a:xfrm>
          <a:prstGeom prst="rect">
            <a:avLst/>
          </a:prstGeom>
          <a:noFill/>
        </p:spPr>
        <p:txBody>
          <a:bodyPr wrap="square" anchor="t">
            <a:spAutoFit/>
          </a:bodyPr>
          <a:lstStyle/>
          <a:p>
            <a:pPr algn="l"/>
            <a:r>
              <a:rPr sz="1700" b="1">
                <a:solidFill>
                  <a:srgbClr val="4F9667"/>
                </a:solidFill>
                <a:latin typeface="Arial"/>
              </a:rPr>
              <a:t>2. Empresa</a:t>
            </a:r>
          </a:p>
        </p:txBody>
      </p:sp>
      <p:sp>
        <p:nvSpPr>
          <p:cNvPr id="13" name="TextBox 12"/>
          <p:cNvSpPr txBox="1"/>
          <p:nvPr/>
        </p:nvSpPr>
        <p:spPr>
          <a:xfrm>
            <a:off x="4507992" y="1892807"/>
            <a:ext cx="3145536" cy="3703320"/>
          </a:xfrm>
          <a:prstGeom prst="rect">
            <a:avLst/>
          </a:prstGeom>
          <a:noFill/>
        </p:spPr>
        <p:txBody>
          <a:bodyPr wrap="square" anchor="t">
            <a:spAutoFit/>
          </a:bodyPr>
          <a:lstStyle/>
          <a:p>
            <a:pPr algn="l"/>
            <a:r>
              <a:rPr sz="1600" b="0">
                <a:solidFill>
                  <a:srgbClr val="30373E"/>
                </a:solidFill>
                <a:latin typeface="Arial"/>
              </a:rPr>
              <a:t>• Revisa pedidos recibidos
• Gestiona clientes y servicios
• Coordina diseño y aprobación
• Controla producción e inventario
• Actualiza el estado del pedido
• Consulta información de los trabajos</a:t>
            </a:r>
          </a:p>
        </p:txBody>
      </p:sp>
      <p:sp>
        <p:nvSpPr>
          <p:cNvPr id="14" name="Rounded Rectangle 13"/>
          <p:cNvSpPr/>
          <p:nvPr/>
        </p:nvSpPr>
        <p:spPr>
          <a:xfrm>
            <a:off x="8092440" y="1325880"/>
            <a:ext cx="3474720" cy="4389120"/>
          </a:xfrm>
          <a:prstGeom prst="roundRect">
            <a:avLst/>
          </a:prstGeom>
          <a:solidFill>
            <a:srgbClr val="EFEAF8"/>
          </a:solidFill>
          <a:ln w="13970">
            <a:solidFill>
              <a:srgbClr val="CDC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1453895"/>
            <a:ext cx="3145536" cy="347472"/>
          </a:xfrm>
          <a:prstGeom prst="rect">
            <a:avLst/>
          </a:prstGeom>
          <a:noFill/>
        </p:spPr>
        <p:txBody>
          <a:bodyPr wrap="square" anchor="t">
            <a:spAutoFit/>
          </a:bodyPr>
          <a:lstStyle/>
          <a:p>
            <a:pPr algn="l"/>
            <a:r>
              <a:rPr sz="1700" b="1">
                <a:solidFill>
                  <a:srgbClr val="745B9B"/>
                </a:solidFill>
                <a:latin typeface="Arial"/>
              </a:rPr>
              <a:t>3. Sistema</a:t>
            </a:r>
          </a:p>
        </p:txBody>
      </p:sp>
      <p:sp>
        <p:nvSpPr>
          <p:cNvPr id="16" name="TextBox 15"/>
          <p:cNvSpPr txBox="1"/>
          <p:nvPr/>
        </p:nvSpPr>
        <p:spPr>
          <a:xfrm>
            <a:off x="8257031" y="1892807"/>
            <a:ext cx="3145536" cy="3703320"/>
          </a:xfrm>
          <a:prstGeom prst="rect">
            <a:avLst/>
          </a:prstGeom>
          <a:noFill/>
        </p:spPr>
        <p:txBody>
          <a:bodyPr wrap="square" anchor="t">
            <a:spAutoFit/>
          </a:bodyPr>
          <a:lstStyle/>
          <a:p>
            <a:pPr algn="l"/>
            <a:r>
              <a:rPr sz="1600" b="0">
                <a:solidFill>
                  <a:srgbClr val="30373E"/>
                </a:solidFill>
                <a:latin typeface="Arial"/>
              </a:rPr>
              <a:t>• API Gateway + 8 microservicios
• Backend con Java + Spring Boot
• Servicios REST
• Seguridad con Spring Security
• Datos almacenados en MySQL
• Arquitectura basada en servicios</a:t>
            </a:r>
          </a:p>
        </p:txBody>
      </p:sp>
      <p:cxnSp>
        <p:nvCxnSpPr>
          <p:cNvPr id="17" name="Connector 16"/>
          <p:cNvCxnSpPr/>
          <p:nvPr/>
        </p:nvCxnSpPr>
        <p:spPr>
          <a:xfrm>
            <a:off x="4050791" y="3246120"/>
            <a:ext cx="265177" cy="0"/>
          </a:xfrm>
          <a:prstGeom prst="line">
            <a:avLst/>
          </a:prstGeom>
          <a:ln w="3175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99831" y="3246120"/>
            <a:ext cx="265177" cy="0"/>
          </a:xfrm>
          <a:prstGeom prst="line">
            <a:avLst/>
          </a:prstGeom>
          <a:ln w="31750">
            <a:solidFill>
              <a:srgbClr val="4F966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Problema identificado</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03</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¿Qué sucede cuando la información del pedido está repartida?</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3</a:t>
            </a:r>
          </a:p>
        </p:txBody>
      </p:sp>
      <p:sp>
        <p:nvSpPr>
          <p:cNvPr id="8" name="Rounded Rectangle 7"/>
          <p:cNvSpPr/>
          <p:nvPr/>
        </p:nvSpPr>
        <p:spPr>
          <a:xfrm>
            <a:off x="594360" y="1234440"/>
            <a:ext cx="4937760" cy="4526280"/>
          </a:xfrm>
          <a:prstGeom prst="roundRect">
            <a:avLst/>
          </a:prstGeom>
          <a:solidFill>
            <a:srgbClr val="FAE5E5"/>
          </a:solidFill>
          <a:ln w="13970">
            <a:solidFill>
              <a:srgbClr val="E8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608576" cy="347472"/>
          </a:xfrm>
          <a:prstGeom prst="rect">
            <a:avLst/>
          </a:prstGeom>
          <a:noFill/>
        </p:spPr>
        <p:txBody>
          <a:bodyPr wrap="square" anchor="t">
            <a:spAutoFit/>
          </a:bodyPr>
          <a:lstStyle/>
          <a:p>
            <a:pPr algn="l"/>
            <a:r>
              <a:rPr sz="1700" b="1">
                <a:solidFill>
                  <a:srgbClr val="C64B4B"/>
                </a:solidFill>
                <a:latin typeface="Arial"/>
              </a:rPr>
              <a:t>Situación observada</a:t>
            </a:r>
          </a:p>
        </p:txBody>
      </p:sp>
      <p:sp>
        <p:nvSpPr>
          <p:cNvPr id="10" name="TextBox 9"/>
          <p:cNvSpPr txBox="1"/>
          <p:nvPr/>
        </p:nvSpPr>
        <p:spPr>
          <a:xfrm>
            <a:off x="758952" y="1801368"/>
            <a:ext cx="4608576" cy="3840480"/>
          </a:xfrm>
          <a:prstGeom prst="rect">
            <a:avLst/>
          </a:prstGeom>
          <a:noFill/>
        </p:spPr>
        <p:txBody>
          <a:bodyPr wrap="square" anchor="t">
            <a:spAutoFit/>
          </a:bodyPr>
          <a:lstStyle/>
          <a:p>
            <a:pPr algn="l"/>
            <a:r>
              <a:rPr sz="1700" b="0">
                <a:solidFill>
                  <a:srgbClr val="30373E"/>
                </a:solidFill>
                <a:latin typeface="Arial"/>
              </a:rPr>
              <a:t>• Consultas por diferentes medios
• Archivos enviados sin un orden único
• Dificultad para saber en qué etapa está el trabajo
• Cambios de diseño que pueden perderse entre mensajes
• Seguimiento dependiente de comunicación manual</a:t>
            </a:r>
          </a:p>
        </p:txBody>
      </p:sp>
      <p:sp>
        <p:nvSpPr>
          <p:cNvPr id="11" name="Oval 10"/>
          <p:cNvSpPr/>
          <p:nvPr/>
        </p:nvSpPr>
        <p:spPr>
          <a:xfrm>
            <a:off x="5715000" y="1920240"/>
            <a:ext cx="777240" cy="777240"/>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0" y="1929384"/>
            <a:ext cx="777240" cy="758952"/>
          </a:xfrm>
          <a:prstGeom prst="rect">
            <a:avLst/>
          </a:prstGeom>
          <a:noFill/>
        </p:spPr>
        <p:txBody>
          <a:bodyPr wrap="square" anchor="ctr">
            <a:spAutoFit/>
          </a:bodyPr>
          <a:lstStyle/>
          <a:p>
            <a:pPr algn="ctr"/>
            <a:r>
              <a:rPr sz="3000" b="1">
                <a:solidFill>
                  <a:srgbClr val="FFFFFF"/>
                </a:solidFill>
                <a:latin typeface="Arial"/>
              </a:rPr>
              <a:t>!</a:t>
            </a:r>
          </a:p>
        </p:txBody>
      </p:sp>
      <p:sp>
        <p:nvSpPr>
          <p:cNvPr id="13" name="TextBox 12"/>
          <p:cNvSpPr txBox="1"/>
          <p:nvPr/>
        </p:nvSpPr>
        <p:spPr>
          <a:xfrm>
            <a:off x="5532120" y="2816352"/>
            <a:ext cx="1188720" cy="685800"/>
          </a:xfrm>
          <a:prstGeom prst="rect">
            <a:avLst/>
          </a:prstGeom>
          <a:noFill/>
        </p:spPr>
        <p:txBody>
          <a:bodyPr wrap="square" anchor="t">
            <a:spAutoFit/>
          </a:bodyPr>
          <a:lstStyle/>
          <a:p>
            <a:pPr algn="ctr"/>
            <a:r>
              <a:rPr sz="1400" b="1">
                <a:solidFill>
                  <a:srgbClr val="C64B4B"/>
                </a:solidFill>
                <a:latin typeface="Arial"/>
              </a:rPr>
              <a:t>Información
separada</a:t>
            </a:r>
          </a:p>
        </p:txBody>
      </p:sp>
      <p:sp>
        <p:nvSpPr>
          <p:cNvPr id="14" name="Rounded Rectangle 13"/>
          <p:cNvSpPr/>
          <p:nvPr/>
        </p:nvSpPr>
        <p:spPr>
          <a:xfrm>
            <a:off x="6400800" y="1353312"/>
            <a:ext cx="1143000" cy="38404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62456"/>
            <a:ext cx="1143000" cy="365759"/>
          </a:xfrm>
          <a:prstGeom prst="rect">
            <a:avLst/>
          </a:prstGeom>
          <a:noFill/>
        </p:spPr>
        <p:txBody>
          <a:bodyPr wrap="square" anchor="ctr">
            <a:spAutoFit/>
          </a:bodyPr>
          <a:lstStyle/>
          <a:p>
            <a:pPr algn="ctr"/>
            <a:r>
              <a:rPr sz="1000" b="1">
                <a:solidFill>
                  <a:srgbClr val="183F66"/>
                </a:solidFill>
                <a:latin typeface="Arial"/>
              </a:rPr>
              <a:t>Cliente</a:t>
            </a:r>
          </a:p>
        </p:txBody>
      </p:sp>
      <p:sp>
        <p:nvSpPr>
          <p:cNvPr id="16" name="Rounded Rectangle 15"/>
          <p:cNvSpPr/>
          <p:nvPr/>
        </p:nvSpPr>
        <p:spPr>
          <a:xfrm>
            <a:off x="6400800" y="2112264"/>
            <a:ext cx="1143000" cy="38404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121408"/>
            <a:ext cx="1143000" cy="365759"/>
          </a:xfrm>
          <a:prstGeom prst="rect">
            <a:avLst/>
          </a:prstGeom>
          <a:noFill/>
        </p:spPr>
        <p:txBody>
          <a:bodyPr wrap="square" anchor="ctr">
            <a:spAutoFit/>
          </a:bodyPr>
          <a:lstStyle/>
          <a:p>
            <a:pPr algn="ctr"/>
            <a:r>
              <a:rPr sz="1000" b="1">
                <a:solidFill>
                  <a:srgbClr val="183F66"/>
                </a:solidFill>
                <a:latin typeface="Arial"/>
              </a:rPr>
              <a:t>Pedido</a:t>
            </a:r>
          </a:p>
        </p:txBody>
      </p:sp>
      <p:sp>
        <p:nvSpPr>
          <p:cNvPr id="18" name="Rounded Rectangle 17"/>
          <p:cNvSpPr/>
          <p:nvPr/>
        </p:nvSpPr>
        <p:spPr>
          <a:xfrm>
            <a:off x="6400800" y="2871215"/>
            <a:ext cx="1143000" cy="38404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880359"/>
            <a:ext cx="1143000" cy="365759"/>
          </a:xfrm>
          <a:prstGeom prst="rect">
            <a:avLst/>
          </a:prstGeom>
          <a:noFill/>
        </p:spPr>
        <p:txBody>
          <a:bodyPr wrap="square" anchor="ctr">
            <a:spAutoFit/>
          </a:bodyPr>
          <a:lstStyle/>
          <a:p>
            <a:pPr algn="ctr"/>
            <a:r>
              <a:rPr sz="1000" b="1">
                <a:solidFill>
                  <a:srgbClr val="183F66"/>
                </a:solidFill>
                <a:latin typeface="Arial"/>
              </a:rPr>
              <a:t>Archivo</a:t>
            </a:r>
          </a:p>
        </p:txBody>
      </p:sp>
      <p:sp>
        <p:nvSpPr>
          <p:cNvPr id="20" name="Rounded Rectangle 19"/>
          <p:cNvSpPr/>
          <p:nvPr/>
        </p:nvSpPr>
        <p:spPr>
          <a:xfrm>
            <a:off x="6400800" y="3630168"/>
            <a:ext cx="1143000" cy="38404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639311"/>
            <a:ext cx="1143000" cy="365759"/>
          </a:xfrm>
          <a:prstGeom prst="rect">
            <a:avLst/>
          </a:prstGeom>
          <a:noFill/>
        </p:spPr>
        <p:txBody>
          <a:bodyPr wrap="square" anchor="ctr">
            <a:spAutoFit/>
          </a:bodyPr>
          <a:lstStyle/>
          <a:p>
            <a:pPr algn="ctr"/>
            <a:r>
              <a:rPr sz="1000" b="1">
                <a:solidFill>
                  <a:srgbClr val="183F66"/>
                </a:solidFill>
                <a:latin typeface="Arial"/>
              </a:rPr>
              <a:t>Estado</a:t>
            </a:r>
          </a:p>
        </p:txBody>
      </p:sp>
      <p:cxnSp>
        <p:nvCxnSpPr>
          <p:cNvPr id="22" name="Connector 21"/>
          <p:cNvCxnSpPr/>
          <p:nvPr/>
        </p:nvCxnSpPr>
        <p:spPr>
          <a:xfrm>
            <a:off x="7635240" y="2926080"/>
            <a:ext cx="640080" cy="0"/>
          </a:xfrm>
          <a:prstGeom prst="line">
            <a:avLst/>
          </a:prstGeom>
          <a:ln w="31750">
            <a:solidFill>
              <a:srgbClr val="C64B4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366760" y="1234440"/>
            <a:ext cx="3246120" cy="4526280"/>
          </a:xfrm>
          <a:prstGeom prst="roundRect">
            <a:avLst/>
          </a:prstGeom>
          <a:solidFill>
            <a:srgbClr val="FCF7DE"/>
          </a:solidFill>
          <a:ln w="13970">
            <a:solidFill>
              <a:srgbClr val="ECD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31352" y="1362456"/>
            <a:ext cx="2916936" cy="347472"/>
          </a:xfrm>
          <a:prstGeom prst="rect">
            <a:avLst/>
          </a:prstGeom>
          <a:noFill/>
        </p:spPr>
        <p:txBody>
          <a:bodyPr wrap="square" anchor="t">
            <a:spAutoFit/>
          </a:bodyPr>
          <a:lstStyle/>
          <a:p>
            <a:pPr algn="l"/>
            <a:r>
              <a:rPr sz="1700" b="1">
                <a:solidFill>
                  <a:srgbClr val="E69138"/>
                </a:solidFill>
                <a:latin typeface="Arial"/>
              </a:rPr>
              <a:t>Consecuencia</a:t>
            </a:r>
          </a:p>
        </p:txBody>
      </p:sp>
      <p:sp>
        <p:nvSpPr>
          <p:cNvPr id="25" name="TextBox 24"/>
          <p:cNvSpPr txBox="1"/>
          <p:nvPr/>
        </p:nvSpPr>
        <p:spPr>
          <a:xfrm>
            <a:off x="8531352" y="1801368"/>
            <a:ext cx="2916936" cy="3840480"/>
          </a:xfrm>
          <a:prstGeom prst="rect">
            <a:avLst/>
          </a:prstGeom>
          <a:noFill/>
        </p:spPr>
        <p:txBody>
          <a:bodyPr wrap="square" anchor="t">
            <a:spAutoFit/>
          </a:bodyPr>
          <a:lstStyle/>
          <a:p>
            <a:pPr algn="l"/>
            <a:r>
              <a:rPr sz="1700" b="0">
                <a:solidFill>
                  <a:srgbClr val="30373E"/>
                </a:solidFill>
                <a:latin typeface="Arial"/>
              </a:rPr>
              <a:t>• Más tiempo para responder
• Dudas sobre el estado del pedido
• Mayor riesgo de errores
• Menor visibilidad del proceso
• Experiencia menos clara para el cliente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Antes y después de SIGIP</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04</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Comparación del flujo de atención que propone el proyecto</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4</a:t>
            </a:r>
          </a:p>
        </p:txBody>
      </p:sp>
      <p:sp>
        <p:nvSpPr>
          <p:cNvPr id="8" name="Rounded Rectangle 7"/>
          <p:cNvSpPr/>
          <p:nvPr/>
        </p:nvSpPr>
        <p:spPr>
          <a:xfrm>
            <a:off x="594360" y="1234440"/>
            <a:ext cx="5212080" cy="4526280"/>
          </a:xfrm>
          <a:prstGeom prst="roundRect">
            <a:avLst/>
          </a:prstGeom>
          <a:solidFill>
            <a:srgbClr val="FAE5E5"/>
          </a:solidFill>
          <a:ln w="13970">
            <a:solidFill>
              <a:srgbClr val="E8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882896" cy="347472"/>
          </a:xfrm>
          <a:prstGeom prst="rect">
            <a:avLst/>
          </a:prstGeom>
          <a:noFill/>
        </p:spPr>
        <p:txBody>
          <a:bodyPr wrap="square" anchor="t">
            <a:spAutoFit/>
          </a:bodyPr>
          <a:lstStyle/>
          <a:p>
            <a:pPr algn="l"/>
            <a:r>
              <a:rPr sz="1700" b="1">
                <a:solidFill>
                  <a:srgbClr val="C64B4B"/>
                </a:solidFill>
                <a:latin typeface="Arial"/>
              </a:rPr>
              <a:t>ANTES  |  Gestión dispersa</a:t>
            </a:r>
          </a:p>
        </p:txBody>
      </p:sp>
      <p:sp>
        <p:nvSpPr>
          <p:cNvPr id="10" name="Oval 9"/>
          <p:cNvSpPr/>
          <p:nvPr/>
        </p:nvSpPr>
        <p:spPr>
          <a:xfrm>
            <a:off x="868680" y="1965960"/>
            <a:ext cx="411480" cy="411480"/>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75103"/>
            <a:ext cx="411480" cy="393192"/>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417320" y="1984248"/>
            <a:ext cx="1234440" cy="274320"/>
          </a:xfrm>
          <a:prstGeom prst="rect">
            <a:avLst/>
          </a:prstGeom>
          <a:noFill/>
        </p:spPr>
        <p:txBody>
          <a:bodyPr wrap="square" anchor="t">
            <a:spAutoFit/>
          </a:bodyPr>
          <a:lstStyle/>
          <a:p>
            <a:pPr algn="l"/>
            <a:r>
              <a:rPr sz="1500" b="1">
                <a:solidFill>
                  <a:srgbClr val="30373E"/>
                </a:solidFill>
                <a:latin typeface="Arial"/>
              </a:rPr>
              <a:t>Consulta</a:t>
            </a:r>
          </a:p>
        </p:txBody>
      </p:sp>
      <p:sp>
        <p:nvSpPr>
          <p:cNvPr id="13" name="TextBox 12"/>
          <p:cNvSpPr txBox="1"/>
          <p:nvPr/>
        </p:nvSpPr>
        <p:spPr>
          <a:xfrm>
            <a:off x="2743200" y="1984248"/>
            <a:ext cx="2377440" cy="274320"/>
          </a:xfrm>
          <a:prstGeom prst="rect">
            <a:avLst/>
          </a:prstGeom>
          <a:noFill/>
        </p:spPr>
        <p:txBody>
          <a:bodyPr wrap="square" anchor="t">
            <a:spAutoFit/>
          </a:bodyPr>
          <a:lstStyle/>
          <a:p>
            <a:pPr algn="l"/>
            <a:r>
              <a:rPr sz="1400" b="0">
                <a:solidFill>
                  <a:srgbClr val="677078"/>
                </a:solidFill>
                <a:latin typeface="Arial"/>
              </a:rPr>
              <a:t>mensaje</a:t>
            </a:r>
          </a:p>
        </p:txBody>
      </p:sp>
      <p:sp>
        <p:nvSpPr>
          <p:cNvPr id="14" name="Oval 13"/>
          <p:cNvSpPr/>
          <p:nvPr/>
        </p:nvSpPr>
        <p:spPr>
          <a:xfrm>
            <a:off x="868680" y="2770632"/>
            <a:ext cx="411480" cy="411480"/>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79775"/>
            <a:ext cx="411480" cy="393192"/>
          </a:xfrm>
          <a:prstGeom prst="rect">
            <a:avLst/>
          </a:prstGeom>
          <a:noFill/>
        </p:spPr>
        <p:txBody>
          <a:bodyPr wrap="square" anchor="ctr">
            <a:spAutoFit/>
          </a:bodyPr>
          <a:lstStyle/>
          <a:p>
            <a:pPr algn="ctr"/>
            <a:r>
              <a:rPr sz="1400" b="1">
                <a:solidFill>
                  <a:srgbClr val="FFFFFF"/>
                </a:solidFill>
                <a:latin typeface="Arial"/>
              </a:rPr>
              <a:t>2</a:t>
            </a:r>
          </a:p>
        </p:txBody>
      </p:sp>
      <p:sp>
        <p:nvSpPr>
          <p:cNvPr id="16" name="TextBox 15"/>
          <p:cNvSpPr txBox="1"/>
          <p:nvPr/>
        </p:nvSpPr>
        <p:spPr>
          <a:xfrm>
            <a:off x="1417320" y="2788920"/>
            <a:ext cx="1234440" cy="274320"/>
          </a:xfrm>
          <a:prstGeom prst="rect">
            <a:avLst/>
          </a:prstGeom>
          <a:noFill/>
        </p:spPr>
        <p:txBody>
          <a:bodyPr wrap="square" anchor="t">
            <a:spAutoFit/>
          </a:bodyPr>
          <a:lstStyle/>
          <a:p>
            <a:pPr algn="l"/>
            <a:r>
              <a:rPr sz="1500" b="1">
                <a:solidFill>
                  <a:srgbClr val="30373E"/>
                </a:solidFill>
                <a:latin typeface="Arial"/>
              </a:rPr>
              <a:t>Archivo</a:t>
            </a:r>
          </a:p>
        </p:txBody>
      </p:sp>
      <p:sp>
        <p:nvSpPr>
          <p:cNvPr id="17" name="TextBox 16"/>
          <p:cNvSpPr txBox="1"/>
          <p:nvPr/>
        </p:nvSpPr>
        <p:spPr>
          <a:xfrm>
            <a:off x="2743200" y="2788920"/>
            <a:ext cx="2377440" cy="274320"/>
          </a:xfrm>
          <a:prstGeom prst="rect">
            <a:avLst/>
          </a:prstGeom>
          <a:noFill/>
        </p:spPr>
        <p:txBody>
          <a:bodyPr wrap="square" anchor="t">
            <a:spAutoFit/>
          </a:bodyPr>
          <a:lstStyle/>
          <a:p>
            <a:pPr algn="l"/>
            <a:r>
              <a:rPr sz="1400" b="0">
                <a:solidFill>
                  <a:srgbClr val="677078"/>
                </a:solidFill>
                <a:latin typeface="Arial"/>
              </a:rPr>
              <a:t>correo/chat</a:t>
            </a:r>
          </a:p>
        </p:txBody>
      </p:sp>
      <p:sp>
        <p:nvSpPr>
          <p:cNvPr id="18" name="Oval 17"/>
          <p:cNvSpPr/>
          <p:nvPr/>
        </p:nvSpPr>
        <p:spPr>
          <a:xfrm>
            <a:off x="868680" y="3575304"/>
            <a:ext cx="411480" cy="411480"/>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584448"/>
            <a:ext cx="411480" cy="393192"/>
          </a:xfrm>
          <a:prstGeom prst="rect">
            <a:avLst/>
          </a:prstGeom>
          <a:noFill/>
        </p:spPr>
        <p:txBody>
          <a:bodyPr wrap="square" anchor="ctr">
            <a:spAutoFit/>
          </a:bodyPr>
          <a:lstStyle/>
          <a:p>
            <a:pPr algn="ctr"/>
            <a:r>
              <a:rPr sz="1400" b="1">
                <a:solidFill>
                  <a:srgbClr val="FFFFFF"/>
                </a:solidFill>
                <a:latin typeface="Arial"/>
              </a:rPr>
              <a:t>3</a:t>
            </a:r>
          </a:p>
        </p:txBody>
      </p:sp>
      <p:sp>
        <p:nvSpPr>
          <p:cNvPr id="20" name="TextBox 19"/>
          <p:cNvSpPr txBox="1"/>
          <p:nvPr/>
        </p:nvSpPr>
        <p:spPr>
          <a:xfrm>
            <a:off x="1417320" y="3593592"/>
            <a:ext cx="1234440" cy="274320"/>
          </a:xfrm>
          <a:prstGeom prst="rect">
            <a:avLst/>
          </a:prstGeom>
          <a:noFill/>
        </p:spPr>
        <p:txBody>
          <a:bodyPr wrap="square" anchor="t">
            <a:spAutoFit/>
          </a:bodyPr>
          <a:lstStyle/>
          <a:p>
            <a:pPr algn="l"/>
            <a:r>
              <a:rPr sz="1500" b="1">
                <a:solidFill>
                  <a:srgbClr val="30373E"/>
                </a:solidFill>
                <a:latin typeface="Arial"/>
              </a:rPr>
              <a:t>Pedido</a:t>
            </a:r>
          </a:p>
        </p:txBody>
      </p:sp>
      <p:sp>
        <p:nvSpPr>
          <p:cNvPr id="21" name="TextBox 20"/>
          <p:cNvSpPr txBox="1"/>
          <p:nvPr/>
        </p:nvSpPr>
        <p:spPr>
          <a:xfrm>
            <a:off x="2743200" y="3593592"/>
            <a:ext cx="2377440" cy="274320"/>
          </a:xfrm>
          <a:prstGeom prst="rect">
            <a:avLst/>
          </a:prstGeom>
          <a:noFill/>
        </p:spPr>
        <p:txBody>
          <a:bodyPr wrap="square" anchor="t">
            <a:spAutoFit/>
          </a:bodyPr>
          <a:lstStyle/>
          <a:p>
            <a:pPr algn="l"/>
            <a:r>
              <a:rPr sz="1400" b="0">
                <a:solidFill>
                  <a:srgbClr val="677078"/>
                </a:solidFill>
                <a:latin typeface="Arial"/>
              </a:rPr>
              <a:t>registro manual</a:t>
            </a:r>
          </a:p>
        </p:txBody>
      </p:sp>
      <p:sp>
        <p:nvSpPr>
          <p:cNvPr id="22" name="Oval 21"/>
          <p:cNvSpPr/>
          <p:nvPr/>
        </p:nvSpPr>
        <p:spPr>
          <a:xfrm>
            <a:off x="868680" y="4379976"/>
            <a:ext cx="411480" cy="411480"/>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389120"/>
            <a:ext cx="411480" cy="393192"/>
          </a:xfrm>
          <a:prstGeom prst="rect">
            <a:avLst/>
          </a:prstGeom>
          <a:noFill/>
        </p:spPr>
        <p:txBody>
          <a:bodyPr wrap="square" anchor="ctr">
            <a:spAutoFit/>
          </a:bodyPr>
          <a:lstStyle/>
          <a:p>
            <a:pPr algn="ctr"/>
            <a:r>
              <a:rPr sz="1400" b="1">
                <a:solidFill>
                  <a:srgbClr val="FFFFFF"/>
                </a:solidFill>
                <a:latin typeface="Arial"/>
              </a:rPr>
              <a:t>4</a:t>
            </a:r>
          </a:p>
        </p:txBody>
      </p:sp>
      <p:sp>
        <p:nvSpPr>
          <p:cNvPr id="24" name="TextBox 23"/>
          <p:cNvSpPr txBox="1"/>
          <p:nvPr/>
        </p:nvSpPr>
        <p:spPr>
          <a:xfrm>
            <a:off x="1417320" y="4398264"/>
            <a:ext cx="1234440" cy="274320"/>
          </a:xfrm>
          <a:prstGeom prst="rect">
            <a:avLst/>
          </a:prstGeom>
          <a:noFill/>
        </p:spPr>
        <p:txBody>
          <a:bodyPr wrap="square" anchor="t">
            <a:spAutoFit/>
          </a:bodyPr>
          <a:lstStyle/>
          <a:p>
            <a:pPr algn="l"/>
            <a:r>
              <a:rPr sz="1500" b="1">
                <a:solidFill>
                  <a:srgbClr val="30373E"/>
                </a:solidFill>
                <a:latin typeface="Arial"/>
              </a:rPr>
              <a:t>Estado</a:t>
            </a:r>
          </a:p>
        </p:txBody>
      </p:sp>
      <p:sp>
        <p:nvSpPr>
          <p:cNvPr id="25" name="TextBox 24"/>
          <p:cNvSpPr txBox="1"/>
          <p:nvPr/>
        </p:nvSpPr>
        <p:spPr>
          <a:xfrm>
            <a:off x="2743200" y="4398264"/>
            <a:ext cx="2377440" cy="274320"/>
          </a:xfrm>
          <a:prstGeom prst="rect">
            <a:avLst/>
          </a:prstGeom>
          <a:noFill/>
        </p:spPr>
        <p:txBody>
          <a:bodyPr wrap="square" anchor="t">
            <a:spAutoFit/>
          </a:bodyPr>
          <a:lstStyle/>
          <a:p>
            <a:pPr algn="l"/>
            <a:r>
              <a:rPr sz="1400" b="0">
                <a:solidFill>
                  <a:srgbClr val="677078"/>
                </a:solidFill>
                <a:latin typeface="Arial"/>
              </a:rPr>
              <a:t>preguntar</a:t>
            </a:r>
          </a:p>
        </p:txBody>
      </p:sp>
      <p:cxnSp>
        <p:nvCxnSpPr>
          <p:cNvPr id="26" name="Connector 25"/>
          <p:cNvCxnSpPr/>
          <p:nvPr/>
        </p:nvCxnSpPr>
        <p:spPr>
          <a:xfrm>
            <a:off x="5989320" y="3429000"/>
            <a:ext cx="457200" cy="0"/>
          </a:xfrm>
          <a:prstGeom prst="line">
            <a:avLst/>
          </a:prstGeom>
          <a:ln w="38100">
            <a:solidFill>
              <a:srgbClr val="2D70A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870448" y="2697480"/>
            <a:ext cx="685800" cy="384048"/>
          </a:xfrm>
          <a:prstGeom prst="rect">
            <a:avLst/>
          </a:prstGeom>
          <a:noFill/>
        </p:spPr>
        <p:txBody>
          <a:bodyPr wrap="square" anchor="t">
            <a:spAutoFit/>
          </a:bodyPr>
          <a:lstStyle/>
          <a:p>
            <a:pPr algn="ctr"/>
            <a:r>
              <a:rPr sz="1600" b="1">
                <a:solidFill>
                  <a:srgbClr val="2D70AA"/>
                </a:solidFill>
                <a:latin typeface="Arial"/>
              </a:rPr>
              <a:t>SIGIP</a:t>
            </a:r>
          </a:p>
        </p:txBody>
      </p:sp>
      <p:sp>
        <p:nvSpPr>
          <p:cNvPr id="28" name="Rounded Rectangle 27"/>
          <p:cNvSpPr/>
          <p:nvPr/>
        </p:nvSpPr>
        <p:spPr>
          <a:xfrm>
            <a:off x="6629400" y="1234440"/>
            <a:ext cx="4983480" cy="4526280"/>
          </a:xfrm>
          <a:prstGeom prst="roundRect">
            <a:avLst/>
          </a:prstGeom>
          <a:solidFill>
            <a:srgbClr val="E5F2E8"/>
          </a:solidFill>
          <a:ln w="13970">
            <a:solidFill>
              <a:srgbClr val="B5D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93992" y="1362456"/>
            <a:ext cx="4654296" cy="347472"/>
          </a:xfrm>
          <a:prstGeom prst="rect">
            <a:avLst/>
          </a:prstGeom>
          <a:noFill/>
        </p:spPr>
        <p:txBody>
          <a:bodyPr wrap="square" anchor="t">
            <a:spAutoFit/>
          </a:bodyPr>
          <a:lstStyle/>
          <a:p>
            <a:pPr algn="l"/>
            <a:r>
              <a:rPr sz="1700" b="1">
                <a:solidFill>
                  <a:srgbClr val="4F9667"/>
                </a:solidFill>
                <a:latin typeface="Arial"/>
              </a:rPr>
              <a:t>CON SIGIP  |  Información relacionada</a:t>
            </a:r>
          </a:p>
        </p:txBody>
      </p:sp>
      <p:sp>
        <p:nvSpPr>
          <p:cNvPr id="30" name="Oval 29"/>
          <p:cNvSpPr/>
          <p:nvPr/>
        </p:nvSpPr>
        <p:spPr>
          <a:xfrm>
            <a:off x="6931152" y="1965960"/>
            <a:ext cx="411480" cy="411480"/>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31152" y="1975103"/>
            <a:ext cx="411480" cy="393192"/>
          </a:xfrm>
          <a:prstGeom prst="rect">
            <a:avLst/>
          </a:prstGeom>
          <a:noFill/>
        </p:spPr>
        <p:txBody>
          <a:bodyPr wrap="square" anchor="ctr">
            <a:spAutoFit/>
          </a:bodyPr>
          <a:lstStyle/>
          <a:p>
            <a:pPr algn="ctr"/>
            <a:r>
              <a:rPr sz="1500" b="1">
                <a:solidFill>
                  <a:srgbClr val="FFFFFF"/>
                </a:solidFill>
                <a:latin typeface="Arial"/>
              </a:rPr>
              <a:t>✓</a:t>
            </a:r>
          </a:p>
        </p:txBody>
      </p:sp>
      <p:sp>
        <p:nvSpPr>
          <p:cNvPr id="32" name="TextBox 31"/>
          <p:cNvSpPr txBox="1"/>
          <p:nvPr/>
        </p:nvSpPr>
        <p:spPr>
          <a:xfrm>
            <a:off x="7479792" y="1984248"/>
            <a:ext cx="1234440" cy="274320"/>
          </a:xfrm>
          <a:prstGeom prst="rect">
            <a:avLst/>
          </a:prstGeom>
          <a:noFill/>
        </p:spPr>
        <p:txBody>
          <a:bodyPr wrap="square" anchor="t">
            <a:spAutoFit/>
          </a:bodyPr>
          <a:lstStyle/>
          <a:p>
            <a:pPr algn="l"/>
            <a:r>
              <a:rPr sz="1500" b="1">
                <a:solidFill>
                  <a:srgbClr val="30373E"/>
                </a:solidFill>
                <a:latin typeface="Arial"/>
              </a:rPr>
              <a:t>Catálogo</a:t>
            </a:r>
          </a:p>
        </p:txBody>
      </p:sp>
      <p:sp>
        <p:nvSpPr>
          <p:cNvPr id="33" name="TextBox 32"/>
          <p:cNvSpPr txBox="1"/>
          <p:nvPr/>
        </p:nvSpPr>
        <p:spPr>
          <a:xfrm>
            <a:off x="8796528" y="1984248"/>
            <a:ext cx="2331720" cy="274320"/>
          </a:xfrm>
          <a:prstGeom prst="rect">
            <a:avLst/>
          </a:prstGeom>
          <a:noFill/>
        </p:spPr>
        <p:txBody>
          <a:bodyPr wrap="square" anchor="t">
            <a:spAutoFit/>
          </a:bodyPr>
          <a:lstStyle/>
          <a:p>
            <a:pPr algn="l"/>
            <a:r>
              <a:rPr sz="1400" b="0">
                <a:solidFill>
                  <a:srgbClr val="677078"/>
                </a:solidFill>
                <a:latin typeface="Arial"/>
              </a:rPr>
              <a:t>servicio</a:t>
            </a:r>
          </a:p>
        </p:txBody>
      </p:sp>
      <p:sp>
        <p:nvSpPr>
          <p:cNvPr id="34" name="Oval 33"/>
          <p:cNvSpPr/>
          <p:nvPr/>
        </p:nvSpPr>
        <p:spPr>
          <a:xfrm>
            <a:off x="6931152" y="2770632"/>
            <a:ext cx="411480" cy="411480"/>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31152" y="2779775"/>
            <a:ext cx="411480" cy="393192"/>
          </a:xfrm>
          <a:prstGeom prst="rect">
            <a:avLst/>
          </a:prstGeom>
          <a:noFill/>
        </p:spPr>
        <p:txBody>
          <a:bodyPr wrap="square" anchor="ctr">
            <a:spAutoFit/>
          </a:bodyPr>
          <a:lstStyle/>
          <a:p>
            <a:pPr algn="ctr"/>
            <a:r>
              <a:rPr sz="1500" b="1">
                <a:solidFill>
                  <a:srgbClr val="FFFFFF"/>
                </a:solidFill>
                <a:latin typeface="Arial"/>
              </a:rPr>
              <a:t>✓</a:t>
            </a:r>
          </a:p>
        </p:txBody>
      </p:sp>
      <p:sp>
        <p:nvSpPr>
          <p:cNvPr id="36" name="TextBox 35"/>
          <p:cNvSpPr txBox="1"/>
          <p:nvPr/>
        </p:nvSpPr>
        <p:spPr>
          <a:xfrm>
            <a:off x="7479792" y="2788920"/>
            <a:ext cx="1234440" cy="274320"/>
          </a:xfrm>
          <a:prstGeom prst="rect">
            <a:avLst/>
          </a:prstGeom>
          <a:noFill/>
        </p:spPr>
        <p:txBody>
          <a:bodyPr wrap="square" anchor="t">
            <a:spAutoFit/>
          </a:bodyPr>
          <a:lstStyle/>
          <a:p>
            <a:pPr algn="l"/>
            <a:r>
              <a:rPr sz="1500" b="1">
                <a:solidFill>
                  <a:srgbClr val="30373E"/>
                </a:solidFill>
                <a:latin typeface="Arial"/>
              </a:rPr>
              <a:t>Pedido</a:t>
            </a:r>
          </a:p>
        </p:txBody>
      </p:sp>
      <p:sp>
        <p:nvSpPr>
          <p:cNvPr id="37" name="TextBox 36"/>
          <p:cNvSpPr txBox="1"/>
          <p:nvPr/>
        </p:nvSpPr>
        <p:spPr>
          <a:xfrm>
            <a:off x="8796528" y="2788920"/>
            <a:ext cx="2331720" cy="274320"/>
          </a:xfrm>
          <a:prstGeom prst="rect">
            <a:avLst/>
          </a:prstGeom>
          <a:noFill/>
        </p:spPr>
        <p:txBody>
          <a:bodyPr wrap="square" anchor="t">
            <a:spAutoFit/>
          </a:bodyPr>
          <a:lstStyle/>
          <a:p>
            <a:pPr algn="l"/>
            <a:r>
              <a:rPr sz="1400" b="0">
                <a:solidFill>
                  <a:srgbClr val="677078"/>
                </a:solidFill>
                <a:latin typeface="Arial"/>
              </a:rPr>
              <a:t>datos + archivo</a:t>
            </a:r>
          </a:p>
        </p:txBody>
      </p:sp>
      <p:sp>
        <p:nvSpPr>
          <p:cNvPr id="38" name="Oval 37"/>
          <p:cNvSpPr/>
          <p:nvPr/>
        </p:nvSpPr>
        <p:spPr>
          <a:xfrm>
            <a:off x="6931152" y="3575304"/>
            <a:ext cx="411480" cy="411480"/>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31152" y="3584448"/>
            <a:ext cx="411480" cy="393192"/>
          </a:xfrm>
          <a:prstGeom prst="rect">
            <a:avLst/>
          </a:prstGeom>
          <a:noFill/>
        </p:spPr>
        <p:txBody>
          <a:bodyPr wrap="square" anchor="ctr">
            <a:spAutoFit/>
          </a:bodyPr>
          <a:lstStyle/>
          <a:p>
            <a:pPr algn="ctr"/>
            <a:r>
              <a:rPr sz="1500" b="1">
                <a:solidFill>
                  <a:srgbClr val="FFFFFF"/>
                </a:solidFill>
                <a:latin typeface="Arial"/>
              </a:rPr>
              <a:t>✓</a:t>
            </a:r>
          </a:p>
        </p:txBody>
      </p:sp>
      <p:sp>
        <p:nvSpPr>
          <p:cNvPr id="40" name="TextBox 39"/>
          <p:cNvSpPr txBox="1"/>
          <p:nvPr/>
        </p:nvSpPr>
        <p:spPr>
          <a:xfrm>
            <a:off x="7479792" y="3593592"/>
            <a:ext cx="1234440" cy="274320"/>
          </a:xfrm>
          <a:prstGeom prst="rect">
            <a:avLst/>
          </a:prstGeom>
          <a:noFill/>
        </p:spPr>
        <p:txBody>
          <a:bodyPr wrap="square" anchor="t">
            <a:spAutoFit/>
          </a:bodyPr>
          <a:lstStyle/>
          <a:p>
            <a:pPr algn="l"/>
            <a:r>
              <a:rPr sz="1500" b="1">
                <a:solidFill>
                  <a:srgbClr val="30373E"/>
                </a:solidFill>
                <a:latin typeface="Arial"/>
              </a:rPr>
              <a:t>Proceso</a:t>
            </a:r>
          </a:p>
        </p:txBody>
      </p:sp>
      <p:sp>
        <p:nvSpPr>
          <p:cNvPr id="41" name="TextBox 40"/>
          <p:cNvSpPr txBox="1"/>
          <p:nvPr/>
        </p:nvSpPr>
        <p:spPr>
          <a:xfrm>
            <a:off x="8796528" y="3593592"/>
            <a:ext cx="2331720" cy="274320"/>
          </a:xfrm>
          <a:prstGeom prst="rect">
            <a:avLst/>
          </a:prstGeom>
          <a:noFill/>
        </p:spPr>
        <p:txBody>
          <a:bodyPr wrap="square" anchor="t">
            <a:spAutoFit/>
          </a:bodyPr>
          <a:lstStyle/>
          <a:p>
            <a:pPr algn="l"/>
            <a:r>
              <a:rPr sz="1400" b="0">
                <a:solidFill>
                  <a:srgbClr val="677078"/>
                </a:solidFill>
                <a:latin typeface="Arial"/>
              </a:rPr>
              <a:t>estado</a:t>
            </a:r>
          </a:p>
        </p:txBody>
      </p:sp>
      <p:sp>
        <p:nvSpPr>
          <p:cNvPr id="42" name="Oval 41"/>
          <p:cNvSpPr/>
          <p:nvPr/>
        </p:nvSpPr>
        <p:spPr>
          <a:xfrm>
            <a:off x="6931152" y="4379976"/>
            <a:ext cx="411480" cy="411480"/>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31152" y="4389120"/>
            <a:ext cx="411480" cy="393192"/>
          </a:xfrm>
          <a:prstGeom prst="rect">
            <a:avLst/>
          </a:prstGeom>
          <a:noFill/>
        </p:spPr>
        <p:txBody>
          <a:bodyPr wrap="square" anchor="ctr">
            <a:spAutoFit/>
          </a:bodyPr>
          <a:lstStyle/>
          <a:p>
            <a:pPr algn="ctr"/>
            <a:r>
              <a:rPr sz="1500" b="1">
                <a:solidFill>
                  <a:srgbClr val="FFFFFF"/>
                </a:solidFill>
                <a:latin typeface="Arial"/>
              </a:rPr>
              <a:t>✓</a:t>
            </a:r>
          </a:p>
        </p:txBody>
      </p:sp>
      <p:sp>
        <p:nvSpPr>
          <p:cNvPr id="44" name="TextBox 43"/>
          <p:cNvSpPr txBox="1"/>
          <p:nvPr/>
        </p:nvSpPr>
        <p:spPr>
          <a:xfrm>
            <a:off x="7479792" y="4398264"/>
            <a:ext cx="1234440" cy="274320"/>
          </a:xfrm>
          <a:prstGeom prst="rect">
            <a:avLst/>
          </a:prstGeom>
          <a:noFill/>
        </p:spPr>
        <p:txBody>
          <a:bodyPr wrap="square" anchor="t">
            <a:spAutoFit/>
          </a:bodyPr>
          <a:lstStyle/>
          <a:p>
            <a:pPr algn="l"/>
            <a:r>
              <a:rPr sz="1500" b="1">
                <a:solidFill>
                  <a:srgbClr val="30373E"/>
                </a:solidFill>
                <a:latin typeface="Arial"/>
              </a:rPr>
              <a:t>Entrega</a:t>
            </a:r>
          </a:p>
        </p:txBody>
      </p:sp>
      <p:sp>
        <p:nvSpPr>
          <p:cNvPr id="45" name="TextBox 44"/>
          <p:cNvSpPr txBox="1"/>
          <p:nvPr/>
        </p:nvSpPr>
        <p:spPr>
          <a:xfrm>
            <a:off x="8796528" y="4398264"/>
            <a:ext cx="2331720" cy="274320"/>
          </a:xfrm>
          <a:prstGeom prst="rect">
            <a:avLst/>
          </a:prstGeom>
          <a:noFill/>
        </p:spPr>
        <p:txBody>
          <a:bodyPr wrap="square" anchor="t">
            <a:spAutoFit/>
          </a:bodyPr>
          <a:lstStyle/>
          <a:p>
            <a:pPr algn="l"/>
            <a:r>
              <a:rPr sz="1400" b="0">
                <a:solidFill>
                  <a:srgbClr val="677078"/>
                </a:solidFill>
                <a:latin typeface="Arial"/>
              </a:rPr>
              <a:t>seguimiento</a:t>
            </a:r>
          </a:p>
        </p:txBody>
      </p:sp>
      <p:sp>
        <p:nvSpPr>
          <p:cNvPr id="46" name="Rounded Rectangle 45"/>
          <p:cNvSpPr/>
          <p:nvPr/>
        </p:nvSpPr>
        <p:spPr>
          <a:xfrm>
            <a:off x="3246120" y="5961888"/>
            <a:ext cx="5715000" cy="365760"/>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6120" y="5971031"/>
            <a:ext cx="5715000" cy="347472"/>
          </a:xfrm>
          <a:prstGeom prst="rect">
            <a:avLst/>
          </a:prstGeom>
          <a:noFill/>
        </p:spPr>
        <p:txBody>
          <a:bodyPr wrap="square" anchor="ctr">
            <a:spAutoFit/>
          </a:bodyPr>
          <a:lstStyle/>
          <a:p>
            <a:pPr algn="ctr"/>
            <a:r>
              <a:rPr sz="1100" b="1">
                <a:solidFill>
                  <a:srgbClr val="183F66"/>
                </a:solidFill>
                <a:latin typeface="Arial"/>
              </a:rPr>
              <a:t>El pedido se convierte en el hilo conductor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Diagnóstico SEPTE</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05</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Factores externos que consideramos para el proyecto</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5</a:t>
            </a:r>
          </a:p>
        </p:txBody>
      </p:sp>
      <p:sp>
        <p:nvSpPr>
          <p:cNvPr id="8" name="Oval 7"/>
          <p:cNvSpPr/>
          <p:nvPr/>
        </p:nvSpPr>
        <p:spPr>
          <a:xfrm>
            <a:off x="5276088" y="2487168"/>
            <a:ext cx="1645920" cy="1645920"/>
          </a:xfrm>
          <a:prstGeom prst="ellipse">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76088" y="2496312"/>
            <a:ext cx="1645920" cy="1627632"/>
          </a:xfrm>
          <a:prstGeom prst="rect">
            <a:avLst/>
          </a:prstGeom>
          <a:noFill/>
        </p:spPr>
        <p:txBody>
          <a:bodyPr wrap="square" anchor="ctr">
            <a:spAutoFit/>
          </a:bodyPr>
          <a:lstStyle/>
          <a:p>
            <a:pPr algn="ctr"/>
            <a:r>
              <a:rPr sz="2500" b="1">
                <a:solidFill>
                  <a:srgbClr val="FFFFFF"/>
                </a:solidFill>
                <a:latin typeface="Arial"/>
              </a:rPr>
              <a:t>SEPTE</a:t>
            </a:r>
          </a:p>
        </p:txBody>
      </p:sp>
      <p:sp>
        <p:nvSpPr>
          <p:cNvPr id="10" name="Rounded Rectangle 9"/>
          <p:cNvSpPr/>
          <p:nvPr/>
        </p:nvSpPr>
        <p:spPr>
          <a:xfrm>
            <a:off x="640080" y="1234440"/>
            <a:ext cx="3154680" cy="1325880"/>
          </a:xfrm>
          <a:prstGeom prst="roundRect">
            <a:avLst/>
          </a:prstGeom>
          <a:solidFill>
            <a:srgbClr val="E2EFF9"/>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86384" y="1408176"/>
            <a:ext cx="384048" cy="384048"/>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1417320"/>
            <a:ext cx="384048" cy="365759"/>
          </a:xfrm>
          <a:prstGeom prst="rect">
            <a:avLst/>
          </a:prstGeom>
          <a:noFill/>
        </p:spPr>
        <p:txBody>
          <a:bodyPr wrap="square" anchor="ctr">
            <a:spAutoFit/>
          </a:bodyPr>
          <a:lstStyle/>
          <a:p>
            <a:pPr algn="ctr"/>
            <a:r>
              <a:rPr sz="1300" b="1">
                <a:solidFill>
                  <a:srgbClr val="FFFFFF"/>
                </a:solidFill>
                <a:latin typeface="Arial"/>
              </a:rPr>
              <a:t>S</a:t>
            </a:r>
          </a:p>
        </p:txBody>
      </p:sp>
      <p:sp>
        <p:nvSpPr>
          <p:cNvPr id="13" name="TextBox 12"/>
          <p:cNvSpPr txBox="1"/>
          <p:nvPr/>
        </p:nvSpPr>
        <p:spPr>
          <a:xfrm>
            <a:off x="1280160" y="1371600"/>
            <a:ext cx="2286000" cy="274320"/>
          </a:xfrm>
          <a:prstGeom prst="rect">
            <a:avLst/>
          </a:prstGeom>
          <a:noFill/>
        </p:spPr>
        <p:txBody>
          <a:bodyPr wrap="square" anchor="t">
            <a:spAutoFit/>
          </a:bodyPr>
          <a:lstStyle/>
          <a:p>
            <a:pPr algn="l"/>
            <a:r>
              <a:rPr sz="1450" b="1">
                <a:solidFill>
                  <a:srgbClr val="30373E"/>
                </a:solidFill>
                <a:latin typeface="Arial"/>
              </a:rPr>
              <a:t>Social</a:t>
            </a:r>
          </a:p>
        </p:txBody>
      </p:sp>
      <p:sp>
        <p:nvSpPr>
          <p:cNvPr id="14" name="TextBox 13"/>
          <p:cNvSpPr txBox="1"/>
          <p:nvPr/>
        </p:nvSpPr>
        <p:spPr>
          <a:xfrm>
            <a:off x="1280160" y="1709928"/>
            <a:ext cx="2240280" cy="658368"/>
          </a:xfrm>
          <a:prstGeom prst="rect">
            <a:avLst/>
          </a:prstGeom>
          <a:noFill/>
        </p:spPr>
        <p:txBody>
          <a:bodyPr wrap="square" anchor="t">
            <a:spAutoFit/>
          </a:bodyPr>
          <a:lstStyle/>
          <a:p>
            <a:pPr algn="l"/>
            <a:r>
              <a:rPr sz="1150" b="0">
                <a:solidFill>
                  <a:srgbClr val="677078"/>
                </a:solidFill>
                <a:latin typeface="Arial"/>
              </a:rPr>
              <a:t>Clientes esperan atención digital.</a:t>
            </a:r>
          </a:p>
        </p:txBody>
      </p:sp>
      <p:sp>
        <p:nvSpPr>
          <p:cNvPr id="15" name="Rounded Rectangle 14"/>
          <p:cNvSpPr/>
          <p:nvPr/>
        </p:nvSpPr>
        <p:spPr>
          <a:xfrm>
            <a:off x="8321040" y="1234440"/>
            <a:ext cx="3154680" cy="1325880"/>
          </a:xfrm>
          <a:prstGeom prst="roundRect">
            <a:avLst/>
          </a:prstGeom>
          <a:solidFill>
            <a:srgbClr val="FCEFDC"/>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67344" y="1408176"/>
            <a:ext cx="384048" cy="384048"/>
          </a:xfrm>
          <a:prstGeom prst="ellipse">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67344" y="1417320"/>
            <a:ext cx="384048" cy="365759"/>
          </a:xfrm>
          <a:prstGeom prst="rect">
            <a:avLst/>
          </a:prstGeom>
          <a:noFill/>
        </p:spPr>
        <p:txBody>
          <a:bodyPr wrap="square" anchor="ctr">
            <a:spAutoFit/>
          </a:bodyPr>
          <a:lstStyle/>
          <a:p>
            <a:pPr algn="ctr"/>
            <a:r>
              <a:rPr sz="1300" b="1">
                <a:solidFill>
                  <a:srgbClr val="FFFFFF"/>
                </a:solidFill>
                <a:latin typeface="Arial"/>
              </a:rPr>
              <a:t>E</a:t>
            </a:r>
          </a:p>
        </p:txBody>
      </p:sp>
      <p:sp>
        <p:nvSpPr>
          <p:cNvPr id="18" name="TextBox 17"/>
          <p:cNvSpPr txBox="1"/>
          <p:nvPr/>
        </p:nvSpPr>
        <p:spPr>
          <a:xfrm>
            <a:off x="8961119" y="1371600"/>
            <a:ext cx="2286000" cy="274320"/>
          </a:xfrm>
          <a:prstGeom prst="rect">
            <a:avLst/>
          </a:prstGeom>
          <a:noFill/>
        </p:spPr>
        <p:txBody>
          <a:bodyPr wrap="square" anchor="t">
            <a:spAutoFit/>
          </a:bodyPr>
          <a:lstStyle/>
          <a:p>
            <a:pPr algn="l"/>
            <a:r>
              <a:rPr sz="1450" b="1">
                <a:solidFill>
                  <a:srgbClr val="30373E"/>
                </a:solidFill>
                <a:latin typeface="Arial"/>
              </a:rPr>
              <a:t>Económico</a:t>
            </a:r>
          </a:p>
        </p:txBody>
      </p:sp>
      <p:sp>
        <p:nvSpPr>
          <p:cNvPr id="19" name="TextBox 18"/>
          <p:cNvSpPr txBox="1"/>
          <p:nvPr/>
        </p:nvSpPr>
        <p:spPr>
          <a:xfrm>
            <a:off x="8961119" y="1709928"/>
            <a:ext cx="2240280" cy="658368"/>
          </a:xfrm>
          <a:prstGeom prst="rect">
            <a:avLst/>
          </a:prstGeom>
          <a:noFill/>
        </p:spPr>
        <p:txBody>
          <a:bodyPr wrap="square" anchor="t">
            <a:spAutoFit/>
          </a:bodyPr>
          <a:lstStyle/>
          <a:p>
            <a:pPr algn="l"/>
            <a:r>
              <a:rPr sz="1150" b="0">
                <a:solidFill>
                  <a:srgbClr val="677078"/>
                </a:solidFill>
                <a:latin typeface="Arial"/>
              </a:rPr>
              <a:t>El comercio digital abre oportunidades.</a:t>
            </a:r>
          </a:p>
        </p:txBody>
      </p:sp>
      <p:sp>
        <p:nvSpPr>
          <p:cNvPr id="20" name="Rounded Rectangle 19"/>
          <p:cNvSpPr/>
          <p:nvPr/>
        </p:nvSpPr>
        <p:spPr>
          <a:xfrm>
            <a:off x="640080" y="4160520"/>
            <a:ext cx="3154680" cy="1325880"/>
          </a:xfrm>
          <a:prstGeom prst="roundRect">
            <a:avLst/>
          </a:prstGeom>
          <a:solidFill>
            <a:srgbClr val="FAE5E5"/>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6384" y="4334256"/>
            <a:ext cx="384048" cy="384048"/>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343400"/>
            <a:ext cx="384048" cy="365759"/>
          </a:xfrm>
          <a:prstGeom prst="rect">
            <a:avLst/>
          </a:prstGeom>
          <a:noFill/>
        </p:spPr>
        <p:txBody>
          <a:bodyPr wrap="square" anchor="ctr">
            <a:spAutoFit/>
          </a:bodyPr>
          <a:lstStyle/>
          <a:p>
            <a:pPr algn="ctr"/>
            <a:r>
              <a:rPr sz="1300" b="1">
                <a:solidFill>
                  <a:srgbClr val="FFFFFF"/>
                </a:solidFill>
                <a:latin typeface="Arial"/>
              </a:rPr>
              <a:t>P</a:t>
            </a:r>
          </a:p>
        </p:txBody>
      </p:sp>
      <p:sp>
        <p:nvSpPr>
          <p:cNvPr id="23" name="TextBox 22"/>
          <p:cNvSpPr txBox="1"/>
          <p:nvPr/>
        </p:nvSpPr>
        <p:spPr>
          <a:xfrm>
            <a:off x="1280160" y="4297680"/>
            <a:ext cx="2286000" cy="274320"/>
          </a:xfrm>
          <a:prstGeom prst="rect">
            <a:avLst/>
          </a:prstGeom>
          <a:noFill/>
        </p:spPr>
        <p:txBody>
          <a:bodyPr wrap="square" anchor="t">
            <a:spAutoFit/>
          </a:bodyPr>
          <a:lstStyle/>
          <a:p>
            <a:pPr algn="l"/>
            <a:r>
              <a:rPr sz="1450" b="1">
                <a:solidFill>
                  <a:srgbClr val="30373E"/>
                </a:solidFill>
                <a:latin typeface="Arial"/>
              </a:rPr>
              <a:t>Político</a:t>
            </a:r>
          </a:p>
        </p:txBody>
      </p:sp>
      <p:sp>
        <p:nvSpPr>
          <p:cNvPr id="24" name="TextBox 23"/>
          <p:cNvSpPr txBox="1"/>
          <p:nvPr/>
        </p:nvSpPr>
        <p:spPr>
          <a:xfrm>
            <a:off x="1280160" y="4636008"/>
            <a:ext cx="2240280" cy="658368"/>
          </a:xfrm>
          <a:prstGeom prst="rect">
            <a:avLst/>
          </a:prstGeom>
          <a:noFill/>
        </p:spPr>
        <p:txBody>
          <a:bodyPr wrap="square" anchor="t">
            <a:spAutoFit/>
          </a:bodyPr>
          <a:lstStyle/>
          <a:p>
            <a:pPr algn="l"/>
            <a:r>
              <a:rPr sz="1150" b="0">
                <a:solidFill>
                  <a:srgbClr val="677078"/>
                </a:solidFill>
                <a:latin typeface="Arial"/>
              </a:rPr>
              <a:t>Se deben proteger los datos personales.</a:t>
            </a:r>
          </a:p>
        </p:txBody>
      </p:sp>
      <p:sp>
        <p:nvSpPr>
          <p:cNvPr id="25" name="Rounded Rectangle 24"/>
          <p:cNvSpPr/>
          <p:nvPr/>
        </p:nvSpPr>
        <p:spPr>
          <a:xfrm>
            <a:off x="8321040" y="4160520"/>
            <a:ext cx="3154680" cy="1325880"/>
          </a:xfrm>
          <a:prstGeom prst="roundRect">
            <a:avLst/>
          </a:prstGeom>
          <a:solidFill>
            <a:srgbClr val="EFEA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67344" y="4334256"/>
            <a:ext cx="384048" cy="384048"/>
          </a:xfrm>
          <a:prstGeom prst="ellipse">
            <a:avLst/>
          </a:prstGeom>
          <a:solidFill>
            <a:srgbClr val="74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67344" y="4343400"/>
            <a:ext cx="384048" cy="365759"/>
          </a:xfrm>
          <a:prstGeom prst="rect">
            <a:avLst/>
          </a:prstGeom>
          <a:noFill/>
        </p:spPr>
        <p:txBody>
          <a:bodyPr wrap="square" anchor="ctr">
            <a:spAutoFit/>
          </a:bodyPr>
          <a:lstStyle/>
          <a:p>
            <a:pPr algn="ctr"/>
            <a:r>
              <a:rPr sz="1300" b="1">
                <a:solidFill>
                  <a:srgbClr val="FFFFFF"/>
                </a:solidFill>
                <a:latin typeface="Arial"/>
              </a:rPr>
              <a:t>T</a:t>
            </a:r>
          </a:p>
        </p:txBody>
      </p:sp>
      <p:sp>
        <p:nvSpPr>
          <p:cNvPr id="28" name="TextBox 27"/>
          <p:cNvSpPr txBox="1"/>
          <p:nvPr/>
        </p:nvSpPr>
        <p:spPr>
          <a:xfrm>
            <a:off x="8961119" y="4297680"/>
            <a:ext cx="2286000" cy="274320"/>
          </a:xfrm>
          <a:prstGeom prst="rect">
            <a:avLst/>
          </a:prstGeom>
          <a:noFill/>
        </p:spPr>
        <p:txBody>
          <a:bodyPr wrap="square" anchor="t">
            <a:spAutoFit/>
          </a:bodyPr>
          <a:lstStyle/>
          <a:p>
            <a:pPr algn="l"/>
            <a:r>
              <a:rPr sz="1450" b="1">
                <a:solidFill>
                  <a:srgbClr val="30373E"/>
                </a:solidFill>
                <a:latin typeface="Arial"/>
              </a:rPr>
              <a:t>Tecnológico</a:t>
            </a:r>
          </a:p>
        </p:txBody>
      </p:sp>
      <p:sp>
        <p:nvSpPr>
          <p:cNvPr id="29" name="TextBox 28"/>
          <p:cNvSpPr txBox="1"/>
          <p:nvPr/>
        </p:nvSpPr>
        <p:spPr>
          <a:xfrm>
            <a:off x="8961119" y="4636008"/>
            <a:ext cx="2240280" cy="658368"/>
          </a:xfrm>
          <a:prstGeom prst="rect">
            <a:avLst/>
          </a:prstGeom>
          <a:noFill/>
        </p:spPr>
        <p:txBody>
          <a:bodyPr wrap="square" anchor="t">
            <a:spAutoFit/>
          </a:bodyPr>
          <a:lstStyle/>
          <a:p>
            <a:pPr algn="l"/>
            <a:r>
              <a:rPr sz="1150" b="0">
                <a:solidFill>
                  <a:srgbClr val="677078"/>
                </a:solidFill>
                <a:latin typeface="Arial"/>
              </a:rPr>
              <a:t>Uso de REST, Spring Cloud y la nube.</a:t>
            </a:r>
          </a:p>
        </p:txBody>
      </p:sp>
      <p:sp>
        <p:nvSpPr>
          <p:cNvPr id="30" name="Rounded Rectangle 29"/>
          <p:cNvSpPr/>
          <p:nvPr/>
        </p:nvSpPr>
        <p:spPr>
          <a:xfrm>
            <a:off x="3840480" y="5166360"/>
            <a:ext cx="3154680" cy="1325880"/>
          </a:xfrm>
          <a:prstGeom prst="roundRect">
            <a:avLst/>
          </a:prstGeom>
          <a:solidFill>
            <a:srgbClr val="E5F2E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986784" y="5340096"/>
            <a:ext cx="384048" cy="384048"/>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86784" y="5349240"/>
            <a:ext cx="384048" cy="365759"/>
          </a:xfrm>
          <a:prstGeom prst="rect">
            <a:avLst/>
          </a:prstGeom>
          <a:noFill/>
        </p:spPr>
        <p:txBody>
          <a:bodyPr wrap="square" anchor="ctr">
            <a:spAutoFit/>
          </a:bodyPr>
          <a:lstStyle/>
          <a:p>
            <a:pPr algn="ctr"/>
            <a:r>
              <a:rPr sz="1300" b="1">
                <a:solidFill>
                  <a:srgbClr val="FFFFFF"/>
                </a:solidFill>
                <a:latin typeface="Arial"/>
              </a:rPr>
              <a:t>E</a:t>
            </a:r>
          </a:p>
        </p:txBody>
      </p:sp>
      <p:sp>
        <p:nvSpPr>
          <p:cNvPr id="33" name="TextBox 32"/>
          <p:cNvSpPr txBox="1"/>
          <p:nvPr/>
        </p:nvSpPr>
        <p:spPr>
          <a:xfrm>
            <a:off x="4480560" y="5303520"/>
            <a:ext cx="2286000" cy="274320"/>
          </a:xfrm>
          <a:prstGeom prst="rect">
            <a:avLst/>
          </a:prstGeom>
          <a:noFill/>
        </p:spPr>
        <p:txBody>
          <a:bodyPr wrap="square" anchor="t">
            <a:spAutoFit/>
          </a:bodyPr>
          <a:lstStyle/>
          <a:p>
            <a:pPr algn="l"/>
            <a:r>
              <a:rPr sz="1450" b="1">
                <a:solidFill>
                  <a:srgbClr val="30373E"/>
                </a:solidFill>
                <a:latin typeface="Arial"/>
              </a:rPr>
              <a:t>Ecológico</a:t>
            </a:r>
          </a:p>
        </p:txBody>
      </p:sp>
      <p:sp>
        <p:nvSpPr>
          <p:cNvPr id="34" name="TextBox 33"/>
          <p:cNvSpPr txBox="1"/>
          <p:nvPr/>
        </p:nvSpPr>
        <p:spPr>
          <a:xfrm>
            <a:off x="4480560" y="5641848"/>
            <a:ext cx="2240280" cy="658368"/>
          </a:xfrm>
          <a:prstGeom prst="rect">
            <a:avLst/>
          </a:prstGeom>
          <a:noFill/>
        </p:spPr>
        <p:txBody>
          <a:bodyPr wrap="square" anchor="t">
            <a:spAutoFit/>
          </a:bodyPr>
          <a:lstStyle/>
          <a:p>
            <a:pPr algn="l"/>
            <a:r>
              <a:rPr sz="1150" b="0">
                <a:solidFill>
                  <a:srgbClr val="677078"/>
                </a:solidFill>
                <a:latin typeface="Arial"/>
              </a:rPr>
              <a:t>Menos dependencia de documentos impresos.</a:t>
            </a:r>
          </a:p>
        </p:txBody>
      </p:sp>
      <p:cxnSp>
        <p:nvCxnSpPr>
          <p:cNvPr id="35" name="Connector 34"/>
          <p:cNvCxnSpPr/>
          <p:nvPr/>
        </p:nvCxnSpPr>
        <p:spPr>
          <a:xfrm>
            <a:off x="3794760" y="1874519"/>
            <a:ext cx="1435608" cy="914401"/>
          </a:xfrm>
          <a:prstGeom prst="line">
            <a:avLst/>
          </a:prstGeom>
          <a:ln w="17780">
            <a:solidFill>
              <a:srgbClr val="CDD3D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903720" y="1874519"/>
            <a:ext cx="1417320" cy="914401"/>
          </a:xfrm>
          <a:prstGeom prst="line">
            <a:avLst/>
          </a:prstGeom>
          <a:ln w="17780">
            <a:solidFill>
              <a:srgbClr val="CDD3D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794760" y="3794760"/>
            <a:ext cx="1435608" cy="822960"/>
          </a:xfrm>
          <a:prstGeom prst="line">
            <a:avLst/>
          </a:prstGeom>
          <a:ln w="17780">
            <a:solidFill>
              <a:srgbClr val="CDD3D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6903720" y="3794760"/>
            <a:ext cx="1417320" cy="822960"/>
          </a:xfrm>
          <a:prstGeom prst="line">
            <a:avLst/>
          </a:prstGeom>
          <a:ln w="17780">
            <a:solidFill>
              <a:srgbClr val="CDD3D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99048" y="4160520"/>
            <a:ext cx="0" cy="978408"/>
          </a:xfrm>
          <a:prstGeom prst="line">
            <a:avLst/>
          </a:prstGeom>
          <a:ln w="17780">
            <a:solidFill>
              <a:srgbClr val="CDD3D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Objetivos SMART</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06</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Dos objetivos directamente relacionados con el proyecto</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6</a:t>
            </a:r>
          </a:p>
        </p:txBody>
      </p:sp>
      <p:sp>
        <p:nvSpPr>
          <p:cNvPr id="8" name="Rounded Rectangle 7"/>
          <p:cNvSpPr/>
          <p:nvPr/>
        </p:nvSpPr>
        <p:spPr>
          <a:xfrm>
            <a:off x="594360" y="1234440"/>
            <a:ext cx="5486400" cy="4526280"/>
          </a:xfrm>
          <a:prstGeom prst="roundRect">
            <a:avLst/>
          </a:prstGeom>
          <a:solidFill>
            <a:srgbClr val="E2EFF9"/>
          </a:solidFill>
          <a:ln w="13970">
            <a:solidFill>
              <a:srgbClr val="AAC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5157216" cy="347472"/>
          </a:xfrm>
          <a:prstGeom prst="rect">
            <a:avLst/>
          </a:prstGeom>
          <a:noFill/>
        </p:spPr>
        <p:txBody>
          <a:bodyPr wrap="square" anchor="t">
            <a:spAutoFit/>
          </a:bodyPr>
          <a:lstStyle/>
          <a:p>
            <a:pPr algn="l"/>
            <a:r>
              <a:rPr sz="1700" b="1">
                <a:solidFill>
                  <a:srgbClr val="2D70AA"/>
                </a:solidFill>
                <a:latin typeface="Arial"/>
              </a:rPr>
              <a:t>OBJETIVO 1</a:t>
            </a:r>
          </a:p>
        </p:txBody>
      </p:sp>
      <p:sp>
        <p:nvSpPr>
          <p:cNvPr id="10" name="TextBox 9"/>
          <p:cNvSpPr txBox="1"/>
          <p:nvPr/>
        </p:nvSpPr>
        <p:spPr>
          <a:xfrm>
            <a:off x="868680" y="1938528"/>
            <a:ext cx="4937760" cy="2057400"/>
          </a:xfrm>
          <a:prstGeom prst="rect">
            <a:avLst/>
          </a:prstGeom>
          <a:noFill/>
        </p:spPr>
        <p:txBody>
          <a:bodyPr wrap="square" anchor="t">
            <a:spAutoFit/>
          </a:bodyPr>
          <a:lstStyle/>
          <a:p>
            <a:pPr algn="l"/>
            <a:r>
              <a:rPr sz="1700" b="0">
                <a:solidFill>
                  <a:srgbClr val="30373E"/>
                </a:solidFill>
                <a:latin typeface="Arial"/>
              </a:rPr>
              <a:t>Mejorar la atención de los clientes durante el año 2026 mediante SIGIP, brindando un canal digital que permita consultar los servicios de impresión, registrar pedidos, proporcionar archivos o indicaciones, conocer el importe, confirmar el pago y realizar el seguimiento del pedido hasta su entrega.</a:t>
            </a:r>
          </a:p>
        </p:txBody>
      </p:sp>
      <p:sp>
        <p:nvSpPr>
          <p:cNvPr id="11" name="Rounded Rectangle 10"/>
          <p:cNvSpPr/>
          <p:nvPr/>
        </p:nvSpPr>
        <p:spPr>
          <a:xfrm>
            <a:off x="1143000" y="4434840"/>
            <a:ext cx="4251960" cy="411480"/>
          </a:xfrm>
          <a:prstGeom prst="roundRect">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443983"/>
            <a:ext cx="4251960" cy="393192"/>
          </a:xfrm>
          <a:prstGeom prst="rect">
            <a:avLst/>
          </a:prstGeom>
          <a:noFill/>
        </p:spPr>
        <p:txBody>
          <a:bodyPr wrap="square" anchor="ctr">
            <a:spAutoFit/>
          </a:bodyPr>
          <a:lstStyle/>
          <a:p>
            <a:pPr algn="ctr"/>
            <a:r>
              <a:rPr sz="1200" b="1">
                <a:solidFill>
                  <a:srgbClr val="FFFFFF"/>
                </a:solidFill>
                <a:latin typeface="Arial"/>
              </a:rPr>
              <a:t>Cliente  →  Pedido  →  Seguimiento</a:t>
            </a:r>
          </a:p>
        </p:txBody>
      </p:sp>
      <p:sp>
        <p:nvSpPr>
          <p:cNvPr id="13" name="Rounded Rectangle 12"/>
          <p:cNvSpPr/>
          <p:nvPr/>
        </p:nvSpPr>
        <p:spPr>
          <a:xfrm>
            <a:off x="6309360" y="1234440"/>
            <a:ext cx="5303520" cy="4526280"/>
          </a:xfrm>
          <a:prstGeom prst="roundRect">
            <a:avLst/>
          </a:prstGeom>
          <a:solidFill>
            <a:srgbClr val="E5F2E8"/>
          </a:solidFill>
          <a:ln w="13970">
            <a:solidFill>
              <a:srgbClr val="B5D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362456"/>
            <a:ext cx="4974336" cy="347472"/>
          </a:xfrm>
          <a:prstGeom prst="rect">
            <a:avLst/>
          </a:prstGeom>
          <a:noFill/>
        </p:spPr>
        <p:txBody>
          <a:bodyPr wrap="square" anchor="t">
            <a:spAutoFit/>
          </a:bodyPr>
          <a:lstStyle/>
          <a:p>
            <a:pPr algn="l"/>
            <a:r>
              <a:rPr sz="1700" b="1">
                <a:solidFill>
                  <a:srgbClr val="4F9667"/>
                </a:solidFill>
                <a:latin typeface="Arial"/>
              </a:rPr>
              <a:t>OBJETIVO 2</a:t>
            </a:r>
          </a:p>
        </p:txBody>
      </p:sp>
      <p:sp>
        <p:nvSpPr>
          <p:cNvPr id="15" name="TextBox 14"/>
          <p:cNvSpPr txBox="1"/>
          <p:nvPr/>
        </p:nvSpPr>
        <p:spPr>
          <a:xfrm>
            <a:off x="6583680" y="1938528"/>
            <a:ext cx="4754880" cy="2057400"/>
          </a:xfrm>
          <a:prstGeom prst="rect">
            <a:avLst/>
          </a:prstGeom>
          <a:noFill/>
        </p:spPr>
        <p:txBody>
          <a:bodyPr wrap="square" anchor="t">
            <a:spAutoFit/>
          </a:bodyPr>
          <a:lstStyle/>
          <a:p>
            <a:pPr algn="l"/>
            <a:r>
              <a:rPr sz="1700" b="0">
                <a:solidFill>
                  <a:srgbClr val="30373E"/>
                </a:solidFill>
                <a:latin typeface="Arial"/>
              </a:rPr>
              <a:t>Mejorar la gestión de los pedidos de la empresa durante el año 2026 mediante SIGIP, permitiendo al personal autorizado registrar, consultar, actualizar y controlar la información de clientes, servicios y pedidos, así como dar seguimiento a las principales etapas de atención, producción e inventario.</a:t>
            </a:r>
          </a:p>
        </p:txBody>
      </p:sp>
      <p:sp>
        <p:nvSpPr>
          <p:cNvPr id="16" name="Rounded Rectangle 15"/>
          <p:cNvSpPr/>
          <p:nvPr/>
        </p:nvSpPr>
        <p:spPr>
          <a:xfrm>
            <a:off x="6995160" y="4434840"/>
            <a:ext cx="3977639" cy="411480"/>
          </a:xfrm>
          <a:prstGeom prst="roundRect">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5160" y="4443983"/>
            <a:ext cx="3977639" cy="393192"/>
          </a:xfrm>
          <a:prstGeom prst="rect">
            <a:avLst/>
          </a:prstGeom>
          <a:noFill/>
        </p:spPr>
        <p:txBody>
          <a:bodyPr wrap="square" anchor="ctr">
            <a:spAutoFit/>
          </a:bodyPr>
          <a:lstStyle/>
          <a:p>
            <a:pPr algn="ctr"/>
            <a:r>
              <a:rPr sz="1200" b="1">
                <a:solidFill>
                  <a:srgbClr val="FFFFFF"/>
                </a:solidFill>
                <a:latin typeface="Arial"/>
              </a:rPr>
              <a:t>Empresa  →  Gestión  →  Control</a:t>
            </a:r>
          </a:p>
        </p:txBody>
      </p:sp>
      <p:sp>
        <p:nvSpPr>
          <p:cNvPr id="18" name="Oval 17"/>
          <p:cNvSpPr/>
          <p:nvPr/>
        </p:nvSpPr>
        <p:spPr>
          <a:xfrm>
            <a:off x="914400" y="5897880"/>
            <a:ext cx="347472" cy="347472"/>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907024"/>
            <a:ext cx="347472" cy="329184"/>
          </a:xfrm>
          <a:prstGeom prst="rect">
            <a:avLst/>
          </a:prstGeom>
          <a:noFill/>
        </p:spPr>
        <p:txBody>
          <a:bodyPr wrap="square" anchor="ctr">
            <a:spAutoFit/>
          </a:bodyPr>
          <a:lstStyle/>
          <a:p>
            <a:pPr algn="ctr"/>
            <a:r>
              <a:rPr sz="1300" b="1">
                <a:solidFill>
                  <a:srgbClr val="FFFFFF"/>
                </a:solidFill>
                <a:latin typeface="Arial"/>
              </a:rPr>
              <a:t>S</a:t>
            </a:r>
          </a:p>
        </p:txBody>
      </p:sp>
      <p:sp>
        <p:nvSpPr>
          <p:cNvPr id="20" name="TextBox 19"/>
          <p:cNvSpPr txBox="1"/>
          <p:nvPr/>
        </p:nvSpPr>
        <p:spPr>
          <a:xfrm>
            <a:off x="1353312" y="5934456"/>
            <a:ext cx="1325880" cy="228600"/>
          </a:xfrm>
          <a:prstGeom prst="rect">
            <a:avLst/>
          </a:prstGeom>
          <a:noFill/>
        </p:spPr>
        <p:txBody>
          <a:bodyPr wrap="square" anchor="t">
            <a:spAutoFit/>
          </a:bodyPr>
          <a:lstStyle/>
          <a:p>
            <a:pPr algn="l"/>
            <a:r>
              <a:rPr sz="1150" b="1">
                <a:solidFill>
                  <a:srgbClr val="30373E"/>
                </a:solidFill>
                <a:latin typeface="Arial"/>
              </a:rPr>
              <a:t>Específico</a:t>
            </a:r>
          </a:p>
        </p:txBody>
      </p:sp>
      <p:sp>
        <p:nvSpPr>
          <p:cNvPr id="21" name="Oval 20"/>
          <p:cNvSpPr/>
          <p:nvPr/>
        </p:nvSpPr>
        <p:spPr>
          <a:xfrm>
            <a:off x="2999232" y="5897880"/>
            <a:ext cx="347472" cy="347472"/>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99232" y="5907024"/>
            <a:ext cx="347472" cy="329184"/>
          </a:xfrm>
          <a:prstGeom prst="rect">
            <a:avLst/>
          </a:prstGeom>
          <a:noFill/>
        </p:spPr>
        <p:txBody>
          <a:bodyPr wrap="square" anchor="ctr">
            <a:spAutoFit/>
          </a:bodyPr>
          <a:lstStyle/>
          <a:p>
            <a:pPr algn="ctr"/>
            <a:r>
              <a:rPr sz="1300" b="1">
                <a:solidFill>
                  <a:srgbClr val="FFFFFF"/>
                </a:solidFill>
                <a:latin typeface="Arial"/>
              </a:rPr>
              <a:t>M</a:t>
            </a:r>
          </a:p>
        </p:txBody>
      </p:sp>
      <p:sp>
        <p:nvSpPr>
          <p:cNvPr id="23" name="TextBox 22"/>
          <p:cNvSpPr txBox="1"/>
          <p:nvPr/>
        </p:nvSpPr>
        <p:spPr>
          <a:xfrm>
            <a:off x="3438144" y="5934456"/>
            <a:ext cx="1325880" cy="228600"/>
          </a:xfrm>
          <a:prstGeom prst="rect">
            <a:avLst/>
          </a:prstGeom>
          <a:noFill/>
        </p:spPr>
        <p:txBody>
          <a:bodyPr wrap="square" anchor="t">
            <a:spAutoFit/>
          </a:bodyPr>
          <a:lstStyle/>
          <a:p>
            <a:pPr algn="l"/>
            <a:r>
              <a:rPr sz="1150" b="1">
                <a:solidFill>
                  <a:srgbClr val="30373E"/>
                </a:solidFill>
                <a:latin typeface="Arial"/>
              </a:rPr>
              <a:t>Medible</a:t>
            </a:r>
          </a:p>
        </p:txBody>
      </p:sp>
      <p:sp>
        <p:nvSpPr>
          <p:cNvPr id="24" name="Oval 23"/>
          <p:cNvSpPr/>
          <p:nvPr/>
        </p:nvSpPr>
        <p:spPr>
          <a:xfrm>
            <a:off x="5084064" y="5897880"/>
            <a:ext cx="347472" cy="347472"/>
          </a:xfrm>
          <a:prstGeom prst="ellipse">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4064" y="5907024"/>
            <a:ext cx="347472" cy="329184"/>
          </a:xfrm>
          <a:prstGeom prst="rect">
            <a:avLst/>
          </a:prstGeom>
          <a:noFill/>
        </p:spPr>
        <p:txBody>
          <a:bodyPr wrap="square" anchor="ctr">
            <a:spAutoFit/>
          </a:bodyPr>
          <a:lstStyle/>
          <a:p>
            <a:pPr algn="ctr"/>
            <a:r>
              <a:rPr sz="1300" b="1">
                <a:solidFill>
                  <a:srgbClr val="FFFFFF"/>
                </a:solidFill>
                <a:latin typeface="Arial"/>
              </a:rPr>
              <a:t>A</a:t>
            </a:r>
          </a:p>
        </p:txBody>
      </p:sp>
      <p:sp>
        <p:nvSpPr>
          <p:cNvPr id="26" name="TextBox 25"/>
          <p:cNvSpPr txBox="1"/>
          <p:nvPr/>
        </p:nvSpPr>
        <p:spPr>
          <a:xfrm>
            <a:off x="5522975" y="5934456"/>
            <a:ext cx="1325880" cy="228600"/>
          </a:xfrm>
          <a:prstGeom prst="rect">
            <a:avLst/>
          </a:prstGeom>
          <a:noFill/>
        </p:spPr>
        <p:txBody>
          <a:bodyPr wrap="square" anchor="t">
            <a:spAutoFit/>
          </a:bodyPr>
          <a:lstStyle/>
          <a:p>
            <a:pPr algn="l"/>
            <a:r>
              <a:rPr sz="1150" b="1">
                <a:solidFill>
                  <a:srgbClr val="30373E"/>
                </a:solidFill>
                <a:latin typeface="Arial"/>
              </a:rPr>
              <a:t>Alcanzable</a:t>
            </a:r>
          </a:p>
        </p:txBody>
      </p:sp>
      <p:sp>
        <p:nvSpPr>
          <p:cNvPr id="27" name="Oval 26"/>
          <p:cNvSpPr/>
          <p:nvPr/>
        </p:nvSpPr>
        <p:spPr>
          <a:xfrm>
            <a:off x="7168896" y="5897880"/>
            <a:ext cx="347472" cy="347472"/>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68896" y="5907024"/>
            <a:ext cx="347472" cy="329184"/>
          </a:xfrm>
          <a:prstGeom prst="rect">
            <a:avLst/>
          </a:prstGeom>
          <a:noFill/>
        </p:spPr>
        <p:txBody>
          <a:bodyPr wrap="square" anchor="ctr">
            <a:spAutoFit/>
          </a:bodyPr>
          <a:lstStyle/>
          <a:p>
            <a:pPr algn="ctr"/>
            <a:r>
              <a:rPr sz="1300" b="1">
                <a:solidFill>
                  <a:srgbClr val="FFFFFF"/>
                </a:solidFill>
                <a:latin typeface="Arial"/>
              </a:rPr>
              <a:t>R</a:t>
            </a:r>
          </a:p>
        </p:txBody>
      </p:sp>
      <p:sp>
        <p:nvSpPr>
          <p:cNvPr id="29" name="TextBox 28"/>
          <p:cNvSpPr txBox="1"/>
          <p:nvPr/>
        </p:nvSpPr>
        <p:spPr>
          <a:xfrm>
            <a:off x="7607808" y="5934456"/>
            <a:ext cx="1325880" cy="228600"/>
          </a:xfrm>
          <a:prstGeom prst="rect">
            <a:avLst/>
          </a:prstGeom>
          <a:noFill/>
        </p:spPr>
        <p:txBody>
          <a:bodyPr wrap="square" anchor="t">
            <a:spAutoFit/>
          </a:bodyPr>
          <a:lstStyle/>
          <a:p>
            <a:pPr algn="l"/>
            <a:r>
              <a:rPr sz="1150" b="1">
                <a:solidFill>
                  <a:srgbClr val="30373E"/>
                </a:solidFill>
                <a:latin typeface="Arial"/>
              </a:rPr>
              <a:t>Relevante</a:t>
            </a:r>
          </a:p>
        </p:txBody>
      </p:sp>
      <p:sp>
        <p:nvSpPr>
          <p:cNvPr id="30" name="Oval 29"/>
          <p:cNvSpPr/>
          <p:nvPr/>
        </p:nvSpPr>
        <p:spPr>
          <a:xfrm>
            <a:off x="9253728" y="5897880"/>
            <a:ext cx="347472" cy="347472"/>
          </a:xfrm>
          <a:prstGeom prst="ellipse">
            <a:avLst/>
          </a:prstGeom>
          <a:solidFill>
            <a:srgbClr val="74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53728" y="5907024"/>
            <a:ext cx="347472" cy="329184"/>
          </a:xfrm>
          <a:prstGeom prst="rect">
            <a:avLst/>
          </a:prstGeom>
          <a:noFill/>
        </p:spPr>
        <p:txBody>
          <a:bodyPr wrap="square" anchor="ctr">
            <a:spAutoFit/>
          </a:bodyPr>
          <a:lstStyle/>
          <a:p>
            <a:pPr algn="ctr"/>
            <a:r>
              <a:rPr sz="1300" b="1">
                <a:solidFill>
                  <a:srgbClr val="FFFFFF"/>
                </a:solidFill>
                <a:latin typeface="Arial"/>
              </a:rPr>
              <a:t>T</a:t>
            </a:r>
          </a:p>
        </p:txBody>
      </p:sp>
      <p:sp>
        <p:nvSpPr>
          <p:cNvPr id="32" name="TextBox 31"/>
          <p:cNvSpPr txBox="1"/>
          <p:nvPr/>
        </p:nvSpPr>
        <p:spPr>
          <a:xfrm>
            <a:off x="9692640" y="5934456"/>
            <a:ext cx="1325880" cy="228600"/>
          </a:xfrm>
          <a:prstGeom prst="rect">
            <a:avLst/>
          </a:prstGeom>
          <a:noFill/>
        </p:spPr>
        <p:txBody>
          <a:bodyPr wrap="square" anchor="t">
            <a:spAutoFit/>
          </a:bodyPr>
          <a:lstStyle/>
          <a:p>
            <a:pPr algn="l"/>
            <a:r>
              <a:rPr sz="1150" b="1">
                <a:solidFill>
                  <a:srgbClr val="30373E"/>
                </a:solidFill>
                <a:latin typeface="Arial"/>
              </a:rPr>
              <a:t>Temporal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¿A quién beneficia el proyecto?</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07</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Beneficiarios directos e indirectos</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7</a:t>
            </a:r>
          </a:p>
        </p:txBody>
      </p:sp>
      <p:sp>
        <p:nvSpPr>
          <p:cNvPr id="8" name="Oval 7"/>
          <p:cNvSpPr/>
          <p:nvPr/>
        </p:nvSpPr>
        <p:spPr>
          <a:xfrm>
            <a:off x="5074920" y="2240280"/>
            <a:ext cx="2011680" cy="2011680"/>
          </a:xfrm>
          <a:prstGeom prst="ellipse">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2249424"/>
            <a:ext cx="2011680" cy="1993392"/>
          </a:xfrm>
          <a:prstGeom prst="rect">
            <a:avLst/>
          </a:prstGeom>
          <a:noFill/>
        </p:spPr>
        <p:txBody>
          <a:bodyPr wrap="square" anchor="ctr">
            <a:spAutoFit/>
          </a:bodyPr>
          <a:lstStyle/>
          <a:p>
            <a:pPr algn="ctr"/>
            <a:r>
              <a:rPr sz="2400" b="1">
                <a:solidFill>
                  <a:srgbClr val="FFFFFF"/>
                </a:solidFill>
                <a:latin typeface="Arial"/>
              </a:rPr>
              <a:t>SIGIP</a:t>
            </a:r>
          </a:p>
        </p:txBody>
      </p:sp>
      <p:sp>
        <p:nvSpPr>
          <p:cNvPr id="10" name="Rounded Rectangle 9"/>
          <p:cNvSpPr/>
          <p:nvPr/>
        </p:nvSpPr>
        <p:spPr>
          <a:xfrm>
            <a:off x="685800" y="1325880"/>
            <a:ext cx="3749039" cy="1874519"/>
          </a:xfrm>
          <a:prstGeom prst="roundRect">
            <a:avLst/>
          </a:prstGeom>
          <a:solidFill>
            <a:srgbClr val="E2EFF9"/>
          </a:solidFill>
          <a:ln w="13970">
            <a:solidFill>
              <a:srgbClr val="AAC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1453895"/>
            <a:ext cx="3419856" cy="347472"/>
          </a:xfrm>
          <a:prstGeom prst="rect">
            <a:avLst/>
          </a:prstGeom>
          <a:noFill/>
        </p:spPr>
        <p:txBody>
          <a:bodyPr wrap="square" anchor="t">
            <a:spAutoFit/>
          </a:bodyPr>
          <a:lstStyle/>
          <a:p>
            <a:pPr algn="l"/>
            <a:r>
              <a:rPr sz="1700" b="1">
                <a:solidFill>
                  <a:srgbClr val="2D70AA"/>
                </a:solidFill>
                <a:latin typeface="Arial"/>
              </a:rPr>
              <a:t>Beneficiarios directos</a:t>
            </a:r>
          </a:p>
        </p:txBody>
      </p:sp>
      <p:sp>
        <p:nvSpPr>
          <p:cNvPr id="12" name="TextBox 11"/>
          <p:cNvSpPr txBox="1"/>
          <p:nvPr/>
        </p:nvSpPr>
        <p:spPr>
          <a:xfrm>
            <a:off x="850392" y="1892807"/>
            <a:ext cx="3419856" cy="1188719"/>
          </a:xfrm>
          <a:prstGeom prst="rect">
            <a:avLst/>
          </a:prstGeom>
          <a:noFill/>
        </p:spPr>
        <p:txBody>
          <a:bodyPr wrap="square" anchor="t">
            <a:spAutoFit/>
          </a:bodyPr>
          <a:lstStyle/>
          <a:p>
            <a:pPr algn="l"/>
            <a:r>
              <a:rPr sz="1500" b="0">
                <a:solidFill>
                  <a:srgbClr val="30373E"/>
                </a:solidFill>
                <a:latin typeface="Arial"/>
              </a:rPr>
              <a:t>Clientes y personal de la empresa.
Interactúan directamente con el sistema para consultar, registrar, actualizar y dar seguimiento.</a:t>
            </a:r>
          </a:p>
        </p:txBody>
      </p:sp>
      <p:sp>
        <p:nvSpPr>
          <p:cNvPr id="13" name="Rounded Rectangle 12"/>
          <p:cNvSpPr/>
          <p:nvPr/>
        </p:nvSpPr>
        <p:spPr>
          <a:xfrm>
            <a:off x="7772400" y="1325880"/>
            <a:ext cx="3749039" cy="1874519"/>
          </a:xfrm>
          <a:prstGeom prst="roundRect">
            <a:avLst/>
          </a:prstGeom>
          <a:solidFill>
            <a:srgbClr val="E5F2E8"/>
          </a:solidFill>
          <a:ln w="13970">
            <a:solidFill>
              <a:srgbClr val="B5D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1453895"/>
            <a:ext cx="3419856" cy="347472"/>
          </a:xfrm>
          <a:prstGeom prst="rect">
            <a:avLst/>
          </a:prstGeom>
          <a:noFill/>
        </p:spPr>
        <p:txBody>
          <a:bodyPr wrap="square" anchor="t">
            <a:spAutoFit/>
          </a:bodyPr>
          <a:lstStyle/>
          <a:p>
            <a:pPr algn="l"/>
            <a:r>
              <a:rPr sz="1700" b="1">
                <a:solidFill>
                  <a:srgbClr val="4F9667"/>
                </a:solidFill>
                <a:latin typeface="Arial"/>
              </a:rPr>
              <a:t>Beneficiarios indirectos</a:t>
            </a:r>
          </a:p>
        </p:txBody>
      </p:sp>
      <p:sp>
        <p:nvSpPr>
          <p:cNvPr id="15" name="TextBox 14"/>
          <p:cNvSpPr txBox="1"/>
          <p:nvPr/>
        </p:nvSpPr>
        <p:spPr>
          <a:xfrm>
            <a:off x="7936992" y="1892807"/>
            <a:ext cx="3419856" cy="1188719"/>
          </a:xfrm>
          <a:prstGeom prst="rect">
            <a:avLst/>
          </a:prstGeom>
          <a:noFill/>
        </p:spPr>
        <p:txBody>
          <a:bodyPr wrap="square" anchor="t">
            <a:spAutoFit/>
          </a:bodyPr>
          <a:lstStyle/>
          <a:p>
            <a:pPr algn="l"/>
            <a:r>
              <a:rPr sz="1500" b="0">
                <a:solidFill>
                  <a:srgbClr val="30373E"/>
                </a:solidFill>
                <a:latin typeface="Arial"/>
              </a:rPr>
              <a:t>Propietarios, responsables y áreas relacionadas.
Reciben el beneficio de una información más ordenada y de un mejor seguimiento.</a:t>
            </a:r>
          </a:p>
        </p:txBody>
      </p:sp>
      <p:cxnSp>
        <p:nvCxnSpPr>
          <p:cNvPr id="16" name="Connector 15"/>
          <p:cNvCxnSpPr/>
          <p:nvPr/>
        </p:nvCxnSpPr>
        <p:spPr>
          <a:xfrm>
            <a:off x="4462272" y="2148840"/>
            <a:ext cx="566928" cy="594360"/>
          </a:xfrm>
          <a:prstGeom prst="line">
            <a:avLst/>
          </a:prstGeom>
          <a:ln w="2540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7114032" y="2148840"/>
            <a:ext cx="640080" cy="594360"/>
          </a:xfrm>
          <a:prstGeom prst="line">
            <a:avLst/>
          </a:prstGeom>
          <a:ln w="25400">
            <a:solidFill>
              <a:srgbClr val="4F9667"/>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417320" y="4069080"/>
            <a:ext cx="2926080" cy="1234440"/>
          </a:xfrm>
          <a:prstGeom prst="roundRect">
            <a:avLst/>
          </a:prstGeom>
          <a:solidFill>
            <a:srgbClr val="F7F9FB"/>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81912" y="4197096"/>
            <a:ext cx="2596896" cy="347472"/>
          </a:xfrm>
          <a:prstGeom prst="rect">
            <a:avLst/>
          </a:prstGeom>
          <a:noFill/>
        </p:spPr>
        <p:txBody>
          <a:bodyPr wrap="square" anchor="t">
            <a:spAutoFit/>
          </a:bodyPr>
          <a:lstStyle/>
          <a:p>
            <a:pPr algn="l"/>
            <a:r>
              <a:rPr sz="1500" b="1">
                <a:solidFill>
                  <a:srgbClr val="2D70AA"/>
                </a:solidFill>
                <a:latin typeface="Arial"/>
              </a:rPr>
              <a:t>Cliente</a:t>
            </a:r>
          </a:p>
        </p:txBody>
      </p:sp>
      <p:sp>
        <p:nvSpPr>
          <p:cNvPr id="20" name="TextBox 19"/>
          <p:cNvSpPr txBox="1"/>
          <p:nvPr/>
        </p:nvSpPr>
        <p:spPr>
          <a:xfrm>
            <a:off x="1581912" y="4636008"/>
            <a:ext cx="2596896" cy="548640"/>
          </a:xfrm>
          <a:prstGeom prst="rect">
            <a:avLst/>
          </a:prstGeom>
          <a:noFill/>
        </p:spPr>
        <p:txBody>
          <a:bodyPr wrap="square" anchor="t">
            <a:spAutoFit/>
          </a:bodyPr>
          <a:lstStyle/>
          <a:p>
            <a:pPr algn="l"/>
            <a:r>
              <a:rPr sz="1250" b="0">
                <a:solidFill>
                  <a:srgbClr val="30373E"/>
                </a:solidFill>
                <a:latin typeface="Arial"/>
              </a:rPr>
              <a:t>Consulta, pedido, pago y seguimiento.</a:t>
            </a:r>
          </a:p>
        </p:txBody>
      </p:sp>
      <p:sp>
        <p:nvSpPr>
          <p:cNvPr id="21" name="Rounded Rectangle 20"/>
          <p:cNvSpPr/>
          <p:nvPr/>
        </p:nvSpPr>
        <p:spPr>
          <a:xfrm>
            <a:off x="4617720" y="4069080"/>
            <a:ext cx="2926080" cy="1234440"/>
          </a:xfrm>
          <a:prstGeom prst="roundRect">
            <a:avLst/>
          </a:prstGeom>
          <a:solidFill>
            <a:srgbClr val="F7F9FB"/>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82312" y="4197096"/>
            <a:ext cx="2596896" cy="347472"/>
          </a:xfrm>
          <a:prstGeom prst="rect">
            <a:avLst/>
          </a:prstGeom>
          <a:noFill/>
        </p:spPr>
        <p:txBody>
          <a:bodyPr wrap="square" anchor="t">
            <a:spAutoFit/>
          </a:bodyPr>
          <a:lstStyle/>
          <a:p>
            <a:pPr algn="l"/>
            <a:r>
              <a:rPr sz="1500" b="1">
                <a:solidFill>
                  <a:srgbClr val="745B9B"/>
                </a:solidFill>
                <a:latin typeface="Arial"/>
              </a:rPr>
              <a:t>Personal</a:t>
            </a:r>
          </a:p>
        </p:txBody>
      </p:sp>
      <p:sp>
        <p:nvSpPr>
          <p:cNvPr id="23" name="TextBox 22"/>
          <p:cNvSpPr txBox="1"/>
          <p:nvPr/>
        </p:nvSpPr>
        <p:spPr>
          <a:xfrm>
            <a:off x="4782312" y="4636008"/>
            <a:ext cx="2596896" cy="548640"/>
          </a:xfrm>
          <a:prstGeom prst="rect">
            <a:avLst/>
          </a:prstGeom>
          <a:noFill/>
        </p:spPr>
        <p:txBody>
          <a:bodyPr wrap="square" anchor="t">
            <a:spAutoFit/>
          </a:bodyPr>
          <a:lstStyle/>
          <a:p>
            <a:pPr algn="l"/>
            <a:r>
              <a:rPr sz="1250" b="0">
                <a:solidFill>
                  <a:srgbClr val="30373E"/>
                </a:solidFill>
                <a:latin typeface="Arial"/>
              </a:rPr>
              <a:t>Gestiona pedidos y etapas del trabajo.</a:t>
            </a:r>
          </a:p>
        </p:txBody>
      </p:sp>
      <p:sp>
        <p:nvSpPr>
          <p:cNvPr id="24" name="Rounded Rectangle 23"/>
          <p:cNvSpPr/>
          <p:nvPr/>
        </p:nvSpPr>
        <p:spPr>
          <a:xfrm>
            <a:off x="7818120" y="4069080"/>
            <a:ext cx="2926080" cy="1234440"/>
          </a:xfrm>
          <a:prstGeom prst="roundRect">
            <a:avLst/>
          </a:prstGeom>
          <a:solidFill>
            <a:srgbClr val="F7F9FB"/>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82712" y="4197096"/>
            <a:ext cx="2596896" cy="347472"/>
          </a:xfrm>
          <a:prstGeom prst="rect">
            <a:avLst/>
          </a:prstGeom>
          <a:noFill/>
        </p:spPr>
        <p:txBody>
          <a:bodyPr wrap="square" anchor="t">
            <a:spAutoFit/>
          </a:bodyPr>
          <a:lstStyle/>
          <a:p>
            <a:pPr algn="l"/>
            <a:r>
              <a:rPr sz="1500" b="1">
                <a:solidFill>
                  <a:srgbClr val="4F9667"/>
                </a:solidFill>
                <a:latin typeface="Arial"/>
              </a:rPr>
              <a:t>Empresa</a:t>
            </a:r>
          </a:p>
        </p:txBody>
      </p:sp>
      <p:sp>
        <p:nvSpPr>
          <p:cNvPr id="26" name="TextBox 25"/>
          <p:cNvSpPr txBox="1"/>
          <p:nvPr/>
        </p:nvSpPr>
        <p:spPr>
          <a:xfrm>
            <a:off x="7982712" y="4636008"/>
            <a:ext cx="2596896" cy="548640"/>
          </a:xfrm>
          <a:prstGeom prst="rect">
            <a:avLst/>
          </a:prstGeom>
          <a:noFill/>
        </p:spPr>
        <p:txBody>
          <a:bodyPr wrap="square" anchor="t">
            <a:spAutoFit/>
          </a:bodyPr>
          <a:lstStyle/>
          <a:p>
            <a:pPr algn="l"/>
            <a:r>
              <a:rPr sz="1250" b="0">
                <a:solidFill>
                  <a:srgbClr val="30373E"/>
                </a:solidFill>
                <a:latin typeface="Arial"/>
              </a:rPr>
              <a:t>Mejor información para coordinar actividades.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Flujo general de un pedido</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08</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Este es el recorrido que explicaremos durante la demo</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8</a:t>
            </a:r>
          </a:p>
        </p:txBody>
      </p:sp>
      <p:sp>
        <p:nvSpPr>
          <p:cNvPr id="8" name="Rounded Rectangle 7"/>
          <p:cNvSpPr/>
          <p:nvPr/>
        </p:nvSpPr>
        <p:spPr>
          <a:xfrm>
            <a:off x="411480" y="1874519"/>
            <a:ext cx="1417320" cy="1965960"/>
          </a:xfrm>
          <a:prstGeom prst="roundRect">
            <a:avLst/>
          </a:prstGeom>
          <a:solidFill>
            <a:srgbClr val="E2EFF9"/>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2002536"/>
            <a:ext cx="1088136" cy="347472"/>
          </a:xfrm>
          <a:prstGeom prst="rect">
            <a:avLst/>
          </a:prstGeom>
          <a:noFill/>
        </p:spPr>
        <p:txBody>
          <a:bodyPr wrap="square" anchor="t">
            <a:spAutoFit/>
          </a:bodyPr>
          <a:lstStyle/>
          <a:p>
            <a:pPr algn="l"/>
            <a:r>
              <a:rPr sz="1400" b="1">
                <a:solidFill>
                  <a:srgbClr val="2D70AA"/>
                </a:solidFill>
                <a:latin typeface="Arial"/>
              </a:rPr>
              <a:t>Catálogo</a:t>
            </a:r>
          </a:p>
        </p:txBody>
      </p:sp>
      <p:sp>
        <p:nvSpPr>
          <p:cNvPr id="10" name="TextBox 9"/>
          <p:cNvSpPr txBox="1"/>
          <p:nvPr/>
        </p:nvSpPr>
        <p:spPr>
          <a:xfrm>
            <a:off x="576072" y="2441448"/>
            <a:ext cx="1088136" cy="1280160"/>
          </a:xfrm>
          <a:prstGeom prst="rect">
            <a:avLst/>
          </a:prstGeom>
          <a:noFill/>
        </p:spPr>
        <p:txBody>
          <a:bodyPr wrap="square" anchor="t">
            <a:spAutoFit/>
          </a:bodyPr>
          <a:lstStyle/>
          <a:p>
            <a:pPr algn="l"/>
            <a:r>
              <a:rPr sz="1200" b="0">
                <a:solidFill>
                  <a:srgbClr val="30373E"/>
                </a:solidFill>
                <a:latin typeface="Arial"/>
              </a:rPr>
              <a:t>Consulta servicios</a:t>
            </a:r>
          </a:p>
        </p:txBody>
      </p:sp>
      <p:sp>
        <p:nvSpPr>
          <p:cNvPr id="11" name="Oval 10"/>
          <p:cNvSpPr/>
          <p:nvPr/>
        </p:nvSpPr>
        <p:spPr>
          <a:xfrm>
            <a:off x="905256" y="1371600"/>
            <a:ext cx="411480" cy="411480"/>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380744"/>
            <a:ext cx="411480" cy="393192"/>
          </a:xfrm>
          <a:prstGeom prst="rect">
            <a:avLst/>
          </a:prstGeom>
          <a:noFill/>
        </p:spPr>
        <p:txBody>
          <a:bodyPr wrap="square" anchor="ctr">
            <a:spAutoFit/>
          </a:bodyPr>
          <a:lstStyle/>
          <a:p>
            <a:pPr algn="ctr"/>
            <a:r>
              <a:rPr sz="1400" b="1">
                <a:solidFill>
                  <a:srgbClr val="FFFFFF"/>
                </a:solidFill>
                <a:latin typeface="Arial"/>
              </a:rPr>
              <a:t>1</a:t>
            </a:r>
          </a:p>
        </p:txBody>
      </p:sp>
      <p:cxnSp>
        <p:nvCxnSpPr>
          <p:cNvPr id="13" name="Connector 12"/>
          <p:cNvCxnSpPr/>
          <p:nvPr/>
        </p:nvCxnSpPr>
        <p:spPr>
          <a:xfrm>
            <a:off x="1828800" y="2852928"/>
            <a:ext cx="210312" cy="0"/>
          </a:xfrm>
          <a:prstGeom prst="line">
            <a:avLst/>
          </a:prstGeom>
          <a:ln w="22860">
            <a:solidFill>
              <a:srgbClr val="CDD3D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075688" y="1874519"/>
            <a:ext cx="1417320" cy="1965960"/>
          </a:xfrm>
          <a:prstGeom prst="roundRect">
            <a:avLst/>
          </a:prstGeom>
          <a:solidFill>
            <a:srgbClr val="E4F5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40280" y="2002536"/>
            <a:ext cx="1088136" cy="347472"/>
          </a:xfrm>
          <a:prstGeom prst="rect">
            <a:avLst/>
          </a:prstGeom>
          <a:noFill/>
        </p:spPr>
        <p:txBody>
          <a:bodyPr wrap="square" anchor="t">
            <a:spAutoFit/>
          </a:bodyPr>
          <a:lstStyle/>
          <a:p>
            <a:pPr algn="l"/>
            <a:r>
              <a:rPr sz="1400" b="1">
                <a:solidFill>
                  <a:srgbClr val="47A4B8"/>
                </a:solidFill>
                <a:latin typeface="Arial"/>
              </a:rPr>
              <a:t>Solicitud</a:t>
            </a:r>
          </a:p>
        </p:txBody>
      </p:sp>
      <p:sp>
        <p:nvSpPr>
          <p:cNvPr id="16" name="TextBox 15"/>
          <p:cNvSpPr txBox="1"/>
          <p:nvPr/>
        </p:nvSpPr>
        <p:spPr>
          <a:xfrm>
            <a:off x="2240280" y="2441448"/>
            <a:ext cx="1088136" cy="1280160"/>
          </a:xfrm>
          <a:prstGeom prst="rect">
            <a:avLst/>
          </a:prstGeom>
          <a:noFill/>
        </p:spPr>
        <p:txBody>
          <a:bodyPr wrap="square" anchor="t">
            <a:spAutoFit/>
          </a:bodyPr>
          <a:lstStyle/>
          <a:p>
            <a:pPr algn="l"/>
            <a:r>
              <a:rPr sz="1200" b="0">
                <a:solidFill>
                  <a:srgbClr val="30373E"/>
                </a:solidFill>
                <a:latin typeface="Arial"/>
              </a:rPr>
              <a:t>Datos + archivos</a:t>
            </a:r>
          </a:p>
        </p:txBody>
      </p:sp>
      <p:sp>
        <p:nvSpPr>
          <p:cNvPr id="17" name="Oval 16"/>
          <p:cNvSpPr/>
          <p:nvPr/>
        </p:nvSpPr>
        <p:spPr>
          <a:xfrm>
            <a:off x="2569464" y="1371600"/>
            <a:ext cx="411480" cy="411480"/>
          </a:xfrm>
          <a:prstGeom prst="ellipse">
            <a:avLst/>
          </a:prstGeom>
          <a:solidFill>
            <a:srgbClr val="47A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9464" y="1380744"/>
            <a:ext cx="411480" cy="393192"/>
          </a:xfrm>
          <a:prstGeom prst="rect">
            <a:avLst/>
          </a:prstGeom>
          <a:noFill/>
        </p:spPr>
        <p:txBody>
          <a:bodyPr wrap="square" anchor="ctr">
            <a:spAutoFit/>
          </a:bodyPr>
          <a:lstStyle/>
          <a:p>
            <a:pPr algn="ctr"/>
            <a:r>
              <a:rPr sz="1400" b="1">
                <a:solidFill>
                  <a:srgbClr val="FFFFFF"/>
                </a:solidFill>
                <a:latin typeface="Arial"/>
              </a:rPr>
              <a:t>2</a:t>
            </a:r>
          </a:p>
        </p:txBody>
      </p:sp>
      <p:cxnSp>
        <p:nvCxnSpPr>
          <p:cNvPr id="19" name="Connector 18"/>
          <p:cNvCxnSpPr/>
          <p:nvPr/>
        </p:nvCxnSpPr>
        <p:spPr>
          <a:xfrm>
            <a:off x="3493008" y="2852928"/>
            <a:ext cx="210312" cy="0"/>
          </a:xfrm>
          <a:prstGeom prst="line">
            <a:avLst/>
          </a:prstGeom>
          <a:ln w="22860">
            <a:solidFill>
              <a:srgbClr val="CDD3D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739896" y="1874519"/>
            <a:ext cx="1417320" cy="1965960"/>
          </a:xfrm>
          <a:prstGeom prst="roundRect">
            <a:avLst/>
          </a:prstGeom>
          <a:solidFill>
            <a:srgbClr val="FCEFDC"/>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4487" y="2002536"/>
            <a:ext cx="1088136" cy="347472"/>
          </a:xfrm>
          <a:prstGeom prst="rect">
            <a:avLst/>
          </a:prstGeom>
          <a:noFill/>
        </p:spPr>
        <p:txBody>
          <a:bodyPr wrap="square" anchor="t">
            <a:spAutoFit/>
          </a:bodyPr>
          <a:lstStyle/>
          <a:p>
            <a:pPr algn="l"/>
            <a:r>
              <a:rPr sz="1400" b="1">
                <a:solidFill>
                  <a:srgbClr val="E69138"/>
                </a:solidFill>
                <a:latin typeface="Arial"/>
              </a:rPr>
              <a:t>Proforma</a:t>
            </a:r>
          </a:p>
        </p:txBody>
      </p:sp>
      <p:sp>
        <p:nvSpPr>
          <p:cNvPr id="22" name="TextBox 21"/>
          <p:cNvSpPr txBox="1"/>
          <p:nvPr/>
        </p:nvSpPr>
        <p:spPr>
          <a:xfrm>
            <a:off x="3904487" y="2441448"/>
            <a:ext cx="1088136" cy="1280160"/>
          </a:xfrm>
          <a:prstGeom prst="rect">
            <a:avLst/>
          </a:prstGeom>
          <a:noFill/>
        </p:spPr>
        <p:txBody>
          <a:bodyPr wrap="square" anchor="t">
            <a:spAutoFit/>
          </a:bodyPr>
          <a:lstStyle/>
          <a:p>
            <a:pPr algn="l"/>
            <a:r>
              <a:rPr sz="1200" b="0">
                <a:solidFill>
                  <a:srgbClr val="30373E"/>
                </a:solidFill>
                <a:latin typeface="Arial"/>
              </a:rPr>
              <a:t>Revisión comercial</a:t>
            </a:r>
          </a:p>
        </p:txBody>
      </p:sp>
      <p:sp>
        <p:nvSpPr>
          <p:cNvPr id="23" name="Oval 22"/>
          <p:cNvSpPr/>
          <p:nvPr/>
        </p:nvSpPr>
        <p:spPr>
          <a:xfrm>
            <a:off x="4233672" y="1371600"/>
            <a:ext cx="411480" cy="411480"/>
          </a:xfrm>
          <a:prstGeom prst="ellipse">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33672" y="1380744"/>
            <a:ext cx="411480" cy="393192"/>
          </a:xfrm>
          <a:prstGeom prst="rect">
            <a:avLst/>
          </a:prstGeom>
          <a:noFill/>
        </p:spPr>
        <p:txBody>
          <a:bodyPr wrap="square" anchor="ctr">
            <a:spAutoFit/>
          </a:bodyPr>
          <a:lstStyle/>
          <a:p>
            <a:pPr algn="ctr"/>
            <a:r>
              <a:rPr sz="1400" b="1">
                <a:solidFill>
                  <a:srgbClr val="FFFFFF"/>
                </a:solidFill>
                <a:latin typeface="Arial"/>
              </a:rPr>
              <a:t>3</a:t>
            </a:r>
          </a:p>
        </p:txBody>
      </p:sp>
      <p:cxnSp>
        <p:nvCxnSpPr>
          <p:cNvPr id="25" name="Connector 24"/>
          <p:cNvCxnSpPr/>
          <p:nvPr/>
        </p:nvCxnSpPr>
        <p:spPr>
          <a:xfrm>
            <a:off x="5157216" y="2852928"/>
            <a:ext cx="210312" cy="0"/>
          </a:xfrm>
          <a:prstGeom prst="line">
            <a:avLst/>
          </a:prstGeom>
          <a:ln w="22860">
            <a:solidFill>
              <a:srgbClr val="CDD3D8"/>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04104" y="1874519"/>
            <a:ext cx="1417320" cy="1965960"/>
          </a:xfrm>
          <a:prstGeom prst="roundRect">
            <a:avLst/>
          </a:prstGeom>
          <a:solidFill>
            <a:srgbClr val="FCF7DE"/>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68696" y="2002536"/>
            <a:ext cx="1088136" cy="347472"/>
          </a:xfrm>
          <a:prstGeom prst="rect">
            <a:avLst/>
          </a:prstGeom>
          <a:noFill/>
        </p:spPr>
        <p:txBody>
          <a:bodyPr wrap="square" anchor="t">
            <a:spAutoFit/>
          </a:bodyPr>
          <a:lstStyle/>
          <a:p>
            <a:pPr algn="l"/>
            <a:r>
              <a:rPr sz="1400" b="1">
                <a:solidFill>
                  <a:srgbClr val="ECC148"/>
                </a:solidFill>
                <a:latin typeface="Arial"/>
              </a:rPr>
              <a:t>Confirmación</a:t>
            </a:r>
          </a:p>
        </p:txBody>
      </p:sp>
      <p:sp>
        <p:nvSpPr>
          <p:cNvPr id="28" name="TextBox 27"/>
          <p:cNvSpPr txBox="1"/>
          <p:nvPr/>
        </p:nvSpPr>
        <p:spPr>
          <a:xfrm>
            <a:off x="5568696" y="2441448"/>
            <a:ext cx="1088136" cy="1280160"/>
          </a:xfrm>
          <a:prstGeom prst="rect">
            <a:avLst/>
          </a:prstGeom>
          <a:noFill/>
        </p:spPr>
        <p:txBody>
          <a:bodyPr wrap="square" anchor="t">
            <a:spAutoFit/>
          </a:bodyPr>
          <a:lstStyle/>
          <a:p>
            <a:pPr algn="l"/>
            <a:r>
              <a:rPr sz="1200" b="0">
                <a:solidFill>
                  <a:srgbClr val="30373E"/>
                </a:solidFill>
                <a:latin typeface="Arial"/>
              </a:rPr>
              <a:t>Pedido + pago</a:t>
            </a:r>
          </a:p>
        </p:txBody>
      </p:sp>
      <p:sp>
        <p:nvSpPr>
          <p:cNvPr id="29" name="Oval 28"/>
          <p:cNvSpPr/>
          <p:nvPr/>
        </p:nvSpPr>
        <p:spPr>
          <a:xfrm>
            <a:off x="5897880" y="1371600"/>
            <a:ext cx="411480" cy="411480"/>
          </a:xfrm>
          <a:prstGeom prst="ellipse">
            <a:avLst/>
          </a:prstGeom>
          <a:solidFill>
            <a:srgbClr val="ECC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97880" y="1380744"/>
            <a:ext cx="411480" cy="393192"/>
          </a:xfrm>
          <a:prstGeom prst="rect">
            <a:avLst/>
          </a:prstGeom>
          <a:noFill/>
        </p:spPr>
        <p:txBody>
          <a:bodyPr wrap="square" anchor="ctr">
            <a:spAutoFit/>
          </a:bodyPr>
          <a:lstStyle/>
          <a:p>
            <a:pPr algn="ctr"/>
            <a:r>
              <a:rPr sz="1400" b="1">
                <a:solidFill>
                  <a:srgbClr val="FFFFFF"/>
                </a:solidFill>
                <a:latin typeface="Arial"/>
              </a:rPr>
              <a:t>4</a:t>
            </a:r>
          </a:p>
        </p:txBody>
      </p:sp>
      <p:cxnSp>
        <p:nvCxnSpPr>
          <p:cNvPr id="31" name="Connector 30"/>
          <p:cNvCxnSpPr/>
          <p:nvPr/>
        </p:nvCxnSpPr>
        <p:spPr>
          <a:xfrm>
            <a:off x="6821424" y="2852928"/>
            <a:ext cx="210312" cy="0"/>
          </a:xfrm>
          <a:prstGeom prst="line">
            <a:avLst/>
          </a:prstGeom>
          <a:ln w="22860">
            <a:solidFill>
              <a:srgbClr val="CDD3D8"/>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068312" y="1874519"/>
            <a:ext cx="1417320" cy="1965960"/>
          </a:xfrm>
          <a:prstGeom prst="roundRect">
            <a:avLst/>
          </a:prstGeom>
          <a:solidFill>
            <a:srgbClr val="EFEA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32904" y="2002536"/>
            <a:ext cx="1088136" cy="347472"/>
          </a:xfrm>
          <a:prstGeom prst="rect">
            <a:avLst/>
          </a:prstGeom>
          <a:noFill/>
        </p:spPr>
        <p:txBody>
          <a:bodyPr wrap="square" anchor="t">
            <a:spAutoFit/>
          </a:bodyPr>
          <a:lstStyle/>
          <a:p>
            <a:pPr algn="l"/>
            <a:r>
              <a:rPr sz="1400" b="1">
                <a:solidFill>
                  <a:srgbClr val="745B9B"/>
                </a:solidFill>
                <a:latin typeface="Arial"/>
              </a:rPr>
              <a:t>Diseño</a:t>
            </a:r>
          </a:p>
        </p:txBody>
      </p:sp>
      <p:sp>
        <p:nvSpPr>
          <p:cNvPr id="34" name="TextBox 33"/>
          <p:cNvSpPr txBox="1"/>
          <p:nvPr/>
        </p:nvSpPr>
        <p:spPr>
          <a:xfrm>
            <a:off x="7232904" y="2441448"/>
            <a:ext cx="1088136" cy="1280160"/>
          </a:xfrm>
          <a:prstGeom prst="rect">
            <a:avLst/>
          </a:prstGeom>
          <a:noFill/>
        </p:spPr>
        <p:txBody>
          <a:bodyPr wrap="square" anchor="t">
            <a:spAutoFit/>
          </a:bodyPr>
          <a:lstStyle/>
          <a:p>
            <a:pPr algn="l"/>
            <a:r>
              <a:rPr sz="1200" b="0">
                <a:solidFill>
                  <a:srgbClr val="30373E"/>
                </a:solidFill>
                <a:latin typeface="Arial"/>
              </a:rPr>
              <a:t>Versión + aprobación</a:t>
            </a:r>
          </a:p>
        </p:txBody>
      </p:sp>
      <p:sp>
        <p:nvSpPr>
          <p:cNvPr id="35" name="Oval 34"/>
          <p:cNvSpPr/>
          <p:nvPr/>
        </p:nvSpPr>
        <p:spPr>
          <a:xfrm>
            <a:off x="7562088" y="1371600"/>
            <a:ext cx="411480" cy="411480"/>
          </a:xfrm>
          <a:prstGeom prst="ellipse">
            <a:avLst/>
          </a:prstGeom>
          <a:solidFill>
            <a:srgbClr val="74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62088" y="1380744"/>
            <a:ext cx="411480" cy="393192"/>
          </a:xfrm>
          <a:prstGeom prst="rect">
            <a:avLst/>
          </a:prstGeom>
          <a:noFill/>
        </p:spPr>
        <p:txBody>
          <a:bodyPr wrap="square" anchor="ctr">
            <a:spAutoFit/>
          </a:bodyPr>
          <a:lstStyle/>
          <a:p>
            <a:pPr algn="ctr"/>
            <a:r>
              <a:rPr sz="1400" b="1">
                <a:solidFill>
                  <a:srgbClr val="FFFFFF"/>
                </a:solidFill>
                <a:latin typeface="Arial"/>
              </a:rPr>
              <a:t>5</a:t>
            </a:r>
          </a:p>
        </p:txBody>
      </p:sp>
      <p:cxnSp>
        <p:nvCxnSpPr>
          <p:cNvPr id="37" name="Connector 36"/>
          <p:cNvCxnSpPr/>
          <p:nvPr/>
        </p:nvCxnSpPr>
        <p:spPr>
          <a:xfrm>
            <a:off x="8485632" y="2852928"/>
            <a:ext cx="210312" cy="0"/>
          </a:xfrm>
          <a:prstGeom prst="line">
            <a:avLst/>
          </a:prstGeom>
          <a:ln w="22860">
            <a:solidFill>
              <a:srgbClr val="CDD3D8"/>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732519" y="1874519"/>
            <a:ext cx="1417320" cy="1965960"/>
          </a:xfrm>
          <a:prstGeom prst="roundRect">
            <a:avLst/>
          </a:prstGeom>
          <a:solidFill>
            <a:srgbClr val="E5F2E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97111" y="2002536"/>
            <a:ext cx="1088136" cy="347472"/>
          </a:xfrm>
          <a:prstGeom prst="rect">
            <a:avLst/>
          </a:prstGeom>
          <a:noFill/>
        </p:spPr>
        <p:txBody>
          <a:bodyPr wrap="square" anchor="t">
            <a:spAutoFit/>
          </a:bodyPr>
          <a:lstStyle/>
          <a:p>
            <a:pPr algn="l"/>
            <a:r>
              <a:rPr sz="1400" b="1">
                <a:solidFill>
                  <a:srgbClr val="4F9667"/>
                </a:solidFill>
                <a:latin typeface="Arial"/>
              </a:rPr>
              <a:t>Producción</a:t>
            </a:r>
          </a:p>
        </p:txBody>
      </p:sp>
      <p:sp>
        <p:nvSpPr>
          <p:cNvPr id="40" name="TextBox 39"/>
          <p:cNvSpPr txBox="1"/>
          <p:nvPr/>
        </p:nvSpPr>
        <p:spPr>
          <a:xfrm>
            <a:off x="8897111" y="2441448"/>
            <a:ext cx="1088136" cy="1280160"/>
          </a:xfrm>
          <a:prstGeom prst="rect">
            <a:avLst/>
          </a:prstGeom>
          <a:noFill/>
        </p:spPr>
        <p:txBody>
          <a:bodyPr wrap="square" anchor="t">
            <a:spAutoFit/>
          </a:bodyPr>
          <a:lstStyle/>
          <a:p>
            <a:pPr algn="l"/>
            <a:r>
              <a:rPr sz="1200" b="0">
                <a:solidFill>
                  <a:srgbClr val="30373E"/>
                </a:solidFill>
                <a:latin typeface="Arial"/>
              </a:rPr>
              <a:t>Materiales + avance</a:t>
            </a:r>
          </a:p>
        </p:txBody>
      </p:sp>
      <p:sp>
        <p:nvSpPr>
          <p:cNvPr id="41" name="Oval 40"/>
          <p:cNvSpPr/>
          <p:nvPr/>
        </p:nvSpPr>
        <p:spPr>
          <a:xfrm>
            <a:off x="9226296" y="1371600"/>
            <a:ext cx="411480" cy="411480"/>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26296" y="1380744"/>
            <a:ext cx="411480" cy="393192"/>
          </a:xfrm>
          <a:prstGeom prst="rect">
            <a:avLst/>
          </a:prstGeom>
          <a:noFill/>
        </p:spPr>
        <p:txBody>
          <a:bodyPr wrap="square" anchor="ctr">
            <a:spAutoFit/>
          </a:bodyPr>
          <a:lstStyle/>
          <a:p>
            <a:pPr algn="ctr"/>
            <a:r>
              <a:rPr sz="1400" b="1">
                <a:solidFill>
                  <a:srgbClr val="FFFFFF"/>
                </a:solidFill>
                <a:latin typeface="Arial"/>
              </a:rPr>
              <a:t>6</a:t>
            </a:r>
          </a:p>
        </p:txBody>
      </p:sp>
      <p:cxnSp>
        <p:nvCxnSpPr>
          <p:cNvPr id="43" name="Connector 42"/>
          <p:cNvCxnSpPr/>
          <p:nvPr/>
        </p:nvCxnSpPr>
        <p:spPr>
          <a:xfrm>
            <a:off x="10149840" y="2852928"/>
            <a:ext cx="210311" cy="0"/>
          </a:xfrm>
          <a:prstGeom prst="line">
            <a:avLst/>
          </a:prstGeom>
          <a:ln w="22860">
            <a:solidFill>
              <a:srgbClr val="CDD3D8"/>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10396728" y="1874519"/>
            <a:ext cx="1417320" cy="1965960"/>
          </a:xfrm>
          <a:prstGeom prst="roundRect">
            <a:avLst/>
          </a:prstGeom>
          <a:solidFill>
            <a:srgbClr val="E5EBF1"/>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61319" y="2002536"/>
            <a:ext cx="1088136" cy="347472"/>
          </a:xfrm>
          <a:prstGeom prst="rect">
            <a:avLst/>
          </a:prstGeom>
          <a:noFill/>
        </p:spPr>
        <p:txBody>
          <a:bodyPr wrap="square" anchor="t">
            <a:spAutoFit/>
          </a:bodyPr>
          <a:lstStyle/>
          <a:p>
            <a:pPr algn="l"/>
            <a:r>
              <a:rPr sz="1400" b="1">
                <a:solidFill>
                  <a:srgbClr val="183F66"/>
                </a:solidFill>
                <a:latin typeface="Arial"/>
              </a:rPr>
              <a:t>Entrega</a:t>
            </a:r>
          </a:p>
        </p:txBody>
      </p:sp>
      <p:sp>
        <p:nvSpPr>
          <p:cNvPr id="46" name="TextBox 45"/>
          <p:cNvSpPr txBox="1"/>
          <p:nvPr/>
        </p:nvSpPr>
        <p:spPr>
          <a:xfrm>
            <a:off x="10561319" y="2441448"/>
            <a:ext cx="1088136" cy="1280160"/>
          </a:xfrm>
          <a:prstGeom prst="rect">
            <a:avLst/>
          </a:prstGeom>
          <a:noFill/>
        </p:spPr>
        <p:txBody>
          <a:bodyPr wrap="square" anchor="t">
            <a:spAutoFit/>
          </a:bodyPr>
          <a:lstStyle/>
          <a:p>
            <a:pPr algn="l"/>
            <a:r>
              <a:rPr sz="1200" b="0">
                <a:solidFill>
                  <a:srgbClr val="30373E"/>
                </a:solidFill>
                <a:latin typeface="Arial"/>
              </a:rPr>
              <a:t>Cierre del pedido</a:t>
            </a:r>
          </a:p>
        </p:txBody>
      </p:sp>
      <p:sp>
        <p:nvSpPr>
          <p:cNvPr id="47" name="Oval 46"/>
          <p:cNvSpPr/>
          <p:nvPr/>
        </p:nvSpPr>
        <p:spPr>
          <a:xfrm>
            <a:off x="10890504" y="1371600"/>
            <a:ext cx="411480" cy="411480"/>
          </a:xfrm>
          <a:prstGeom prst="ellipse">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890504" y="1380744"/>
            <a:ext cx="411480" cy="393192"/>
          </a:xfrm>
          <a:prstGeom prst="rect">
            <a:avLst/>
          </a:prstGeom>
          <a:noFill/>
        </p:spPr>
        <p:txBody>
          <a:bodyPr wrap="square" anchor="ctr">
            <a:spAutoFit/>
          </a:bodyPr>
          <a:lstStyle/>
          <a:p>
            <a:pPr algn="ctr"/>
            <a:r>
              <a:rPr sz="1400" b="1">
                <a:solidFill>
                  <a:srgbClr val="FFFFFF"/>
                </a:solidFill>
                <a:latin typeface="Arial"/>
              </a:rPr>
              <a:t>7</a:t>
            </a:r>
          </a:p>
        </p:txBody>
      </p:sp>
      <p:sp>
        <p:nvSpPr>
          <p:cNvPr id="49" name="Rounded Rectangle 48"/>
          <p:cNvSpPr/>
          <p:nvPr/>
        </p:nvSpPr>
        <p:spPr>
          <a:xfrm>
            <a:off x="2103120" y="4709160"/>
            <a:ext cx="8001000" cy="457200"/>
          </a:xfrm>
          <a:prstGeom prst="roundRect">
            <a:avLst/>
          </a:prstGeom>
          <a:solidFill>
            <a:srgbClr val="FCF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03120" y="4718304"/>
            <a:ext cx="8001000" cy="438912"/>
          </a:xfrm>
          <a:prstGeom prst="rect">
            <a:avLst/>
          </a:prstGeom>
          <a:noFill/>
        </p:spPr>
        <p:txBody>
          <a:bodyPr wrap="square" anchor="ctr">
            <a:spAutoFit/>
          </a:bodyPr>
          <a:lstStyle/>
          <a:p>
            <a:pPr algn="ctr"/>
            <a:r>
              <a:rPr sz="1200" b="1">
                <a:solidFill>
                  <a:srgbClr val="30373E"/>
                </a:solidFill>
                <a:latin typeface="Arial"/>
              </a:rPr>
              <a:t>Pago = confirmación del pedido  |  no se plantea una pasarela bancaria real</a:t>
            </a:r>
          </a:p>
        </p:txBody>
      </p:sp>
      <p:sp>
        <p:nvSpPr>
          <p:cNvPr id="51" name="TextBox 50"/>
          <p:cNvSpPr txBox="1"/>
          <p:nvPr/>
        </p:nvSpPr>
        <p:spPr>
          <a:xfrm>
            <a:off x="1828800" y="5440680"/>
            <a:ext cx="8503920" cy="411480"/>
          </a:xfrm>
          <a:prstGeom prst="rect">
            <a:avLst/>
          </a:prstGeom>
          <a:noFill/>
        </p:spPr>
        <p:txBody>
          <a:bodyPr wrap="square" anchor="t">
            <a:spAutoFit/>
          </a:bodyPr>
          <a:lstStyle/>
          <a:p>
            <a:pPr algn="ctr"/>
            <a:r>
              <a:rPr sz="1600" b="1">
                <a:solidFill>
                  <a:srgbClr val="183F66"/>
                </a:solidFill>
                <a:latin typeface="Arial"/>
              </a:rPr>
              <a:t>La información del pedido acompaña el trabajo desde la solicitud hasta la entrega.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Arquitectura tecnológica</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09</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Cómo dividimos el sistema por responsabilidades</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9</a:t>
            </a:r>
          </a:p>
        </p:txBody>
      </p:sp>
      <p:sp>
        <p:nvSpPr>
          <p:cNvPr id="8" name="Rounded Rectangle 7"/>
          <p:cNvSpPr/>
          <p:nvPr/>
        </p:nvSpPr>
        <p:spPr>
          <a:xfrm>
            <a:off x="594360" y="1234440"/>
            <a:ext cx="1965960" cy="914400"/>
          </a:xfrm>
          <a:prstGeom prst="roundRect">
            <a:avLst/>
          </a:prstGeom>
          <a:solidFill>
            <a:srgbClr val="E2EFF9"/>
          </a:solidFill>
          <a:ln w="13970">
            <a:solidFill>
              <a:srgbClr val="AAC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1636776" cy="347472"/>
          </a:xfrm>
          <a:prstGeom prst="rect">
            <a:avLst/>
          </a:prstGeom>
          <a:noFill/>
        </p:spPr>
        <p:txBody>
          <a:bodyPr wrap="square" anchor="t">
            <a:spAutoFit/>
          </a:bodyPr>
          <a:lstStyle/>
          <a:p>
            <a:pPr algn="l"/>
            <a:r>
              <a:rPr sz="1600" b="1">
                <a:solidFill>
                  <a:srgbClr val="2D70AA"/>
                </a:solidFill>
                <a:latin typeface="Arial"/>
              </a:rPr>
              <a:t>Frontend</a:t>
            </a:r>
          </a:p>
        </p:txBody>
      </p:sp>
      <p:sp>
        <p:nvSpPr>
          <p:cNvPr id="10" name="TextBox 9"/>
          <p:cNvSpPr txBox="1"/>
          <p:nvPr/>
        </p:nvSpPr>
        <p:spPr>
          <a:xfrm>
            <a:off x="758952" y="1801368"/>
            <a:ext cx="1636776" cy="228600"/>
          </a:xfrm>
          <a:prstGeom prst="rect">
            <a:avLst/>
          </a:prstGeom>
          <a:noFill/>
        </p:spPr>
        <p:txBody>
          <a:bodyPr wrap="square" anchor="t">
            <a:spAutoFit/>
          </a:bodyPr>
          <a:lstStyle/>
          <a:p>
            <a:pPr algn="l"/>
            <a:r>
              <a:rPr sz="1350" b="0">
                <a:solidFill>
                  <a:srgbClr val="30373E"/>
                </a:solidFill>
                <a:latin typeface="Arial"/>
              </a:rPr>
              <a:t>Angular</a:t>
            </a:r>
          </a:p>
        </p:txBody>
      </p:sp>
      <p:sp>
        <p:nvSpPr>
          <p:cNvPr id="11" name="Rounded Rectangle 10"/>
          <p:cNvSpPr/>
          <p:nvPr/>
        </p:nvSpPr>
        <p:spPr>
          <a:xfrm>
            <a:off x="2834640" y="1234440"/>
            <a:ext cx="2057400" cy="914400"/>
          </a:xfrm>
          <a:prstGeom prst="roundRect">
            <a:avLst/>
          </a:prstGeom>
          <a:solidFill>
            <a:srgbClr val="EFEAF8"/>
          </a:solidFill>
          <a:ln w="13970">
            <a:solidFill>
              <a:srgbClr val="CDC2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9232" y="1362456"/>
            <a:ext cx="1728216" cy="347472"/>
          </a:xfrm>
          <a:prstGeom prst="rect">
            <a:avLst/>
          </a:prstGeom>
          <a:noFill/>
        </p:spPr>
        <p:txBody>
          <a:bodyPr wrap="square" anchor="t">
            <a:spAutoFit/>
          </a:bodyPr>
          <a:lstStyle/>
          <a:p>
            <a:pPr algn="l"/>
            <a:r>
              <a:rPr sz="1600" b="1">
                <a:solidFill>
                  <a:srgbClr val="745B9B"/>
                </a:solidFill>
                <a:latin typeface="Arial"/>
              </a:rPr>
              <a:t>Entrada</a:t>
            </a:r>
          </a:p>
        </p:txBody>
      </p:sp>
      <p:sp>
        <p:nvSpPr>
          <p:cNvPr id="13" name="TextBox 12"/>
          <p:cNvSpPr txBox="1"/>
          <p:nvPr/>
        </p:nvSpPr>
        <p:spPr>
          <a:xfrm>
            <a:off x="2999232" y="1801368"/>
            <a:ext cx="1728216" cy="228600"/>
          </a:xfrm>
          <a:prstGeom prst="rect">
            <a:avLst/>
          </a:prstGeom>
          <a:noFill/>
        </p:spPr>
        <p:txBody>
          <a:bodyPr wrap="square" anchor="t">
            <a:spAutoFit/>
          </a:bodyPr>
          <a:lstStyle/>
          <a:p>
            <a:pPr algn="l"/>
            <a:r>
              <a:rPr sz="1350" b="0">
                <a:solidFill>
                  <a:srgbClr val="30373E"/>
                </a:solidFill>
                <a:latin typeface="Arial"/>
              </a:rPr>
              <a:t>API Gateway :8090</a:t>
            </a:r>
          </a:p>
        </p:txBody>
      </p:sp>
      <p:sp>
        <p:nvSpPr>
          <p:cNvPr id="14" name="Rounded Rectangle 13"/>
          <p:cNvSpPr/>
          <p:nvPr/>
        </p:nvSpPr>
        <p:spPr>
          <a:xfrm>
            <a:off x="5166360" y="1234440"/>
            <a:ext cx="2743200" cy="914400"/>
          </a:xfrm>
          <a:prstGeom prst="roundRect">
            <a:avLst/>
          </a:prstGeom>
          <a:solidFill>
            <a:srgbClr val="E5F2E8"/>
          </a:solidFill>
          <a:ln w="13970">
            <a:solidFill>
              <a:srgbClr val="B5D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952" y="1362456"/>
            <a:ext cx="2414016" cy="347472"/>
          </a:xfrm>
          <a:prstGeom prst="rect">
            <a:avLst/>
          </a:prstGeom>
          <a:noFill/>
        </p:spPr>
        <p:txBody>
          <a:bodyPr wrap="square" anchor="t">
            <a:spAutoFit/>
          </a:bodyPr>
          <a:lstStyle/>
          <a:p>
            <a:pPr algn="l"/>
            <a:r>
              <a:rPr sz="1600" b="1">
                <a:solidFill>
                  <a:srgbClr val="4F9667"/>
                </a:solidFill>
                <a:latin typeface="Arial"/>
              </a:rPr>
              <a:t>Servicios</a:t>
            </a:r>
          </a:p>
        </p:txBody>
      </p:sp>
      <p:sp>
        <p:nvSpPr>
          <p:cNvPr id="16" name="TextBox 15"/>
          <p:cNvSpPr txBox="1"/>
          <p:nvPr/>
        </p:nvSpPr>
        <p:spPr>
          <a:xfrm>
            <a:off x="5330952" y="1801368"/>
            <a:ext cx="2414016" cy="228600"/>
          </a:xfrm>
          <a:prstGeom prst="rect">
            <a:avLst/>
          </a:prstGeom>
          <a:noFill/>
        </p:spPr>
        <p:txBody>
          <a:bodyPr wrap="square" anchor="t">
            <a:spAutoFit/>
          </a:bodyPr>
          <a:lstStyle/>
          <a:p>
            <a:pPr algn="l"/>
            <a:r>
              <a:rPr sz="1250" b="0">
                <a:solidFill>
                  <a:srgbClr val="30373E"/>
                </a:solidFill>
                <a:latin typeface="Arial"/>
              </a:rPr>
              <a:t>Auth · Catalog · Sales · Design</a:t>
            </a:r>
          </a:p>
        </p:txBody>
      </p:sp>
      <p:sp>
        <p:nvSpPr>
          <p:cNvPr id="17" name="Rounded Rectangle 16"/>
          <p:cNvSpPr/>
          <p:nvPr/>
        </p:nvSpPr>
        <p:spPr>
          <a:xfrm>
            <a:off x="8183879" y="1234440"/>
            <a:ext cx="3383280" cy="914400"/>
          </a:xfrm>
          <a:prstGeom prst="roundRect">
            <a:avLst/>
          </a:prstGeom>
          <a:solidFill>
            <a:srgbClr val="FCEFDC"/>
          </a:solidFill>
          <a:ln w="13970">
            <a:solidFill>
              <a:srgbClr val="EBC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8471" y="1362456"/>
            <a:ext cx="3054096" cy="347472"/>
          </a:xfrm>
          <a:prstGeom prst="rect">
            <a:avLst/>
          </a:prstGeom>
          <a:noFill/>
        </p:spPr>
        <p:txBody>
          <a:bodyPr wrap="square" anchor="t">
            <a:spAutoFit/>
          </a:bodyPr>
          <a:lstStyle/>
          <a:p>
            <a:pPr algn="l"/>
            <a:r>
              <a:rPr sz="1600" b="1">
                <a:solidFill>
                  <a:srgbClr val="E69138"/>
                </a:solidFill>
                <a:latin typeface="Arial"/>
              </a:rPr>
              <a:t>Datos</a:t>
            </a:r>
          </a:p>
        </p:txBody>
      </p:sp>
      <p:sp>
        <p:nvSpPr>
          <p:cNvPr id="19" name="TextBox 18"/>
          <p:cNvSpPr txBox="1"/>
          <p:nvPr/>
        </p:nvSpPr>
        <p:spPr>
          <a:xfrm>
            <a:off x="8348471" y="1801368"/>
            <a:ext cx="3054096" cy="228600"/>
          </a:xfrm>
          <a:prstGeom prst="rect">
            <a:avLst/>
          </a:prstGeom>
          <a:noFill/>
        </p:spPr>
        <p:txBody>
          <a:bodyPr wrap="square" anchor="t">
            <a:spAutoFit/>
          </a:bodyPr>
          <a:lstStyle/>
          <a:p>
            <a:pPr algn="l"/>
            <a:r>
              <a:rPr sz="1350" b="0">
                <a:solidFill>
                  <a:srgbClr val="30373E"/>
                </a:solidFill>
                <a:latin typeface="Arial"/>
              </a:rPr>
              <a:t>MySQL por servicio</a:t>
            </a:r>
          </a:p>
        </p:txBody>
      </p:sp>
      <p:cxnSp>
        <p:nvCxnSpPr>
          <p:cNvPr id="20" name="Connector 19"/>
          <p:cNvCxnSpPr/>
          <p:nvPr/>
        </p:nvCxnSpPr>
        <p:spPr>
          <a:xfrm>
            <a:off x="2560320" y="1691640"/>
            <a:ext cx="228600" cy="0"/>
          </a:xfrm>
          <a:prstGeom prst="line">
            <a:avLst/>
          </a:prstGeom>
          <a:ln w="2540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937760" y="1691640"/>
            <a:ext cx="182880" cy="0"/>
          </a:xfrm>
          <a:prstGeom prst="line">
            <a:avLst/>
          </a:prstGeom>
          <a:ln w="25400">
            <a:solidFill>
              <a:srgbClr val="745B9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955279" y="1691640"/>
            <a:ext cx="182881" cy="0"/>
          </a:xfrm>
          <a:prstGeom prst="line">
            <a:avLst/>
          </a:prstGeom>
          <a:ln w="25400">
            <a:solidFill>
              <a:srgbClr val="4F9667"/>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02920" y="2788920"/>
            <a:ext cx="1664208" cy="1417320"/>
          </a:xfrm>
          <a:prstGeom prst="roundRect">
            <a:avLst/>
          </a:prstGeom>
          <a:solidFill>
            <a:srgbClr val="FFFFFF"/>
          </a:solidFill>
          <a:ln w="13970">
            <a:solidFill>
              <a:srgbClr val="C64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 y="2916936"/>
            <a:ext cx="1335024" cy="347472"/>
          </a:xfrm>
          <a:prstGeom prst="rect">
            <a:avLst/>
          </a:prstGeom>
          <a:noFill/>
        </p:spPr>
        <p:txBody>
          <a:bodyPr wrap="square" anchor="t">
            <a:spAutoFit/>
          </a:bodyPr>
          <a:lstStyle/>
          <a:p>
            <a:pPr algn="l"/>
            <a:r>
              <a:rPr sz="1300" b="1">
                <a:solidFill>
                  <a:srgbClr val="C64B4B"/>
                </a:solidFill>
                <a:latin typeface="Arial"/>
              </a:rPr>
              <a:t>auth-service</a:t>
            </a:r>
          </a:p>
        </p:txBody>
      </p:sp>
      <p:sp>
        <p:nvSpPr>
          <p:cNvPr id="25" name="TextBox 24"/>
          <p:cNvSpPr txBox="1"/>
          <p:nvPr/>
        </p:nvSpPr>
        <p:spPr>
          <a:xfrm>
            <a:off x="667512" y="3355848"/>
            <a:ext cx="1335024" cy="731520"/>
          </a:xfrm>
          <a:prstGeom prst="rect">
            <a:avLst/>
          </a:prstGeom>
          <a:noFill/>
        </p:spPr>
        <p:txBody>
          <a:bodyPr wrap="square" anchor="t">
            <a:spAutoFit/>
          </a:bodyPr>
          <a:lstStyle/>
          <a:p>
            <a:pPr algn="l"/>
            <a:r>
              <a:rPr sz="1200" b="0">
                <a:solidFill>
                  <a:srgbClr val="30373E"/>
                </a:solidFill>
                <a:latin typeface="Arial"/>
              </a:rPr>
              <a:t>:8093</a:t>
            </a:r>
          </a:p>
        </p:txBody>
      </p:sp>
      <p:sp>
        <p:nvSpPr>
          <p:cNvPr id="26" name="Rounded Rectangle 25"/>
          <p:cNvSpPr/>
          <p:nvPr/>
        </p:nvSpPr>
        <p:spPr>
          <a:xfrm>
            <a:off x="2404872" y="2788920"/>
            <a:ext cx="1664208" cy="1417320"/>
          </a:xfrm>
          <a:prstGeom prst="roundRect">
            <a:avLst/>
          </a:prstGeom>
          <a:solidFill>
            <a:srgbClr val="FFFFFF"/>
          </a:solidFill>
          <a:ln w="1397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9464" y="2916936"/>
            <a:ext cx="1335024" cy="347472"/>
          </a:xfrm>
          <a:prstGeom prst="rect">
            <a:avLst/>
          </a:prstGeom>
          <a:noFill/>
        </p:spPr>
        <p:txBody>
          <a:bodyPr wrap="square" anchor="t">
            <a:spAutoFit/>
          </a:bodyPr>
          <a:lstStyle/>
          <a:p>
            <a:pPr algn="l"/>
            <a:r>
              <a:rPr sz="1300" b="1">
                <a:solidFill>
                  <a:srgbClr val="2D70AA"/>
                </a:solidFill>
                <a:latin typeface="Arial"/>
              </a:rPr>
              <a:t>catalog-service</a:t>
            </a:r>
          </a:p>
        </p:txBody>
      </p:sp>
      <p:sp>
        <p:nvSpPr>
          <p:cNvPr id="28" name="TextBox 27"/>
          <p:cNvSpPr txBox="1"/>
          <p:nvPr/>
        </p:nvSpPr>
        <p:spPr>
          <a:xfrm>
            <a:off x="2569464" y="3355848"/>
            <a:ext cx="1335024" cy="731520"/>
          </a:xfrm>
          <a:prstGeom prst="rect">
            <a:avLst/>
          </a:prstGeom>
          <a:noFill/>
        </p:spPr>
        <p:txBody>
          <a:bodyPr wrap="square" anchor="t">
            <a:spAutoFit/>
          </a:bodyPr>
          <a:lstStyle/>
          <a:p>
            <a:pPr algn="l"/>
            <a:r>
              <a:rPr sz="1200" b="0">
                <a:solidFill>
                  <a:srgbClr val="30373E"/>
                </a:solidFill>
                <a:latin typeface="Arial"/>
              </a:rPr>
              <a:t>:8094</a:t>
            </a:r>
          </a:p>
        </p:txBody>
      </p:sp>
      <p:sp>
        <p:nvSpPr>
          <p:cNvPr id="29" name="Rounded Rectangle 28"/>
          <p:cNvSpPr/>
          <p:nvPr/>
        </p:nvSpPr>
        <p:spPr>
          <a:xfrm>
            <a:off x="4306824" y="2788920"/>
            <a:ext cx="1664208" cy="1417320"/>
          </a:xfrm>
          <a:prstGeom prst="roundRect">
            <a:avLst/>
          </a:prstGeom>
          <a:solidFill>
            <a:srgbClr val="FFFFFF"/>
          </a:solidFill>
          <a:ln w="13970">
            <a:solidFill>
              <a:srgbClr val="E691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71416" y="2916936"/>
            <a:ext cx="1335024" cy="347472"/>
          </a:xfrm>
          <a:prstGeom prst="rect">
            <a:avLst/>
          </a:prstGeom>
          <a:noFill/>
        </p:spPr>
        <p:txBody>
          <a:bodyPr wrap="square" anchor="t">
            <a:spAutoFit/>
          </a:bodyPr>
          <a:lstStyle/>
          <a:p>
            <a:pPr algn="l"/>
            <a:r>
              <a:rPr sz="1300" b="1">
                <a:solidFill>
                  <a:srgbClr val="E69138"/>
                </a:solidFill>
                <a:latin typeface="Arial"/>
              </a:rPr>
              <a:t>sales-service</a:t>
            </a:r>
          </a:p>
        </p:txBody>
      </p:sp>
      <p:sp>
        <p:nvSpPr>
          <p:cNvPr id="31" name="TextBox 30"/>
          <p:cNvSpPr txBox="1"/>
          <p:nvPr/>
        </p:nvSpPr>
        <p:spPr>
          <a:xfrm>
            <a:off x="4471416" y="3355848"/>
            <a:ext cx="1335024" cy="731520"/>
          </a:xfrm>
          <a:prstGeom prst="rect">
            <a:avLst/>
          </a:prstGeom>
          <a:noFill/>
        </p:spPr>
        <p:txBody>
          <a:bodyPr wrap="square" anchor="t">
            <a:spAutoFit/>
          </a:bodyPr>
          <a:lstStyle/>
          <a:p>
            <a:pPr algn="l"/>
            <a:r>
              <a:rPr sz="1200" b="0">
                <a:solidFill>
                  <a:srgbClr val="30373E"/>
                </a:solidFill>
                <a:latin typeface="Arial"/>
              </a:rPr>
              <a:t>:8095</a:t>
            </a:r>
          </a:p>
        </p:txBody>
      </p:sp>
      <p:sp>
        <p:nvSpPr>
          <p:cNvPr id="32" name="Rounded Rectangle 31"/>
          <p:cNvSpPr/>
          <p:nvPr/>
        </p:nvSpPr>
        <p:spPr>
          <a:xfrm>
            <a:off x="6208776" y="2788920"/>
            <a:ext cx="1664208" cy="1417320"/>
          </a:xfrm>
          <a:prstGeom prst="roundRect">
            <a:avLst/>
          </a:prstGeom>
          <a:solidFill>
            <a:srgbClr val="FFFFFF"/>
          </a:solidFill>
          <a:ln w="13970">
            <a:solidFill>
              <a:srgbClr val="745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73368" y="2916936"/>
            <a:ext cx="1335024" cy="347472"/>
          </a:xfrm>
          <a:prstGeom prst="rect">
            <a:avLst/>
          </a:prstGeom>
          <a:noFill/>
        </p:spPr>
        <p:txBody>
          <a:bodyPr wrap="square" anchor="t">
            <a:spAutoFit/>
          </a:bodyPr>
          <a:lstStyle/>
          <a:p>
            <a:pPr algn="l"/>
            <a:r>
              <a:rPr sz="1300" b="1">
                <a:solidFill>
                  <a:srgbClr val="745B9B"/>
                </a:solidFill>
                <a:latin typeface="Arial"/>
              </a:rPr>
              <a:t>design-service</a:t>
            </a:r>
          </a:p>
        </p:txBody>
      </p:sp>
      <p:sp>
        <p:nvSpPr>
          <p:cNvPr id="34" name="TextBox 33"/>
          <p:cNvSpPr txBox="1"/>
          <p:nvPr/>
        </p:nvSpPr>
        <p:spPr>
          <a:xfrm>
            <a:off x="6373368" y="3355848"/>
            <a:ext cx="1335024" cy="731520"/>
          </a:xfrm>
          <a:prstGeom prst="rect">
            <a:avLst/>
          </a:prstGeom>
          <a:noFill/>
        </p:spPr>
        <p:txBody>
          <a:bodyPr wrap="square" anchor="t">
            <a:spAutoFit/>
          </a:bodyPr>
          <a:lstStyle/>
          <a:p>
            <a:pPr algn="l"/>
            <a:r>
              <a:rPr sz="1200" b="0">
                <a:solidFill>
                  <a:srgbClr val="30373E"/>
                </a:solidFill>
                <a:latin typeface="Arial"/>
              </a:rPr>
              <a:t>:8096</a:t>
            </a:r>
          </a:p>
        </p:txBody>
      </p:sp>
      <p:sp>
        <p:nvSpPr>
          <p:cNvPr id="35" name="Rounded Rectangle 34"/>
          <p:cNvSpPr/>
          <p:nvPr/>
        </p:nvSpPr>
        <p:spPr>
          <a:xfrm>
            <a:off x="8110728" y="2788920"/>
            <a:ext cx="1664208" cy="1417320"/>
          </a:xfrm>
          <a:prstGeom prst="roundRect">
            <a:avLst/>
          </a:prstGeom>
          <a:solidFill>
            <a:srgbClr val="FFFFFF"/>
          </a:solidFill>
          <a:ln w="13970">
            <a:solidFill>
              <a:srgbClr val="4F96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20" y="2916936"/>
            <a:ext cx="1335024" cy="347472"/>
          </a:xfrm>
          <a:prstGeom prst="rect">
            <a:avLst/>
          </a:prstGeom>
          <a:noFill/>
        </p:spPr>
        <p:txBody>
          <a:bodyPr wrap="square" anchor="t">
            <a:spAutoFit/>
          </a:bodyPr>
          <a:lstStyle/>
          <a:p>
            <a:pPr algn="l"/>
            <a:r>
              <a:rPr sz="1300" b="1">
                <a:solidFill>
                  <a:srgbClr val="4F9667"/>
                </a:solidFill>
                <a:latin typeface="Arial"/>
              </a:rPr>
              <a:t>production-service</a:t>
            </a:r>
          </a:p>
        </p:txBody>
      </p:sp>
      <p:sp>
        <p:nvSpPr>
          <p:cNvPr id="37" name="TextBox 36"/>
          <p:cNvSpPr txBox="1"/>
          <p:nvPr/>
        </p:nvSpPr>
        <p:spPr>
          <a:xfrm>
            <a:off x="8275320" y="3355848"/>
            <a:ext cx="1335024" cy="731520"/>
          </a:xfrm>
          <a:prstGeom prst="rect">
            <a:avLst/>
          </a:prstGeom>
          <a:noFill/>
        </p:spPr>
        <p:txBody>
          <a:bodyPr wrap="square" anchor="t">
            <a:spAutoFit/>
          </a:bodyPr>
          <a:lstStyle/>
          <a:p>
            <a:pPr algn="l"/>
            <a:r>
              <a:rPr sz="1200" b="0">
                <a:solidFill>
                  <a:srgbClr val="30373E"/>
                </a:solidFill>
                <a:latin typeface="Arial"/>
              </a:rPr>
              <a:t>:8097</a:t>
            </a:r>
          </a:p>
        </p:txBody>
      </p:sp>
      <p:sp>
        <p:nvSpPr>
          <p:cNvPr id="38" name="Rounded Rectangle 37"/>
          <p:cNvSpPr/>
          <p:nvPr/>
        </p:nvSpPr>
        <p:spPr>
          <a:xfrm>
            <a:off x="10012680" y="2788920"/>
            <a:ext cx="1664208" cy="1417320"/>
          </a:xfrm>
          <a:prstGeom prst="roundRect">
            <a:avLst/>
          </a:prstGeom>
          <a:solidFill>
            <a:srgbClr val="FFFFFF"/>
          </a:solidFill>
          <a:ln w="13970">
            <a:solidFill>
              <a:srgbClr val="47A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77272" y="2916936"/>
            <a:ext cx="1335024" cy="347472"/>
          </a:xfrm>
          <a:prstGeom prst="rect">
            <a:avLst/>
          </a:prstGeom>
          <a:noFill/>
        </p:spPr>
        <p:txBody>
          <a:bodyPr wrap="square" anchor="t">
            <a:spAutoFit/>
          </a:bodyPr>
          <a:lstStyle/>
          <a:p>
            <a:pPr algn="l"/>
            <a:r>
              <a:rPr sz="1300" b="1">
                <a:solidFill>
                  <a:srgbClr val="47A4B8"/>
                </a:solidFill>
                <a:latin typeface="Arial"/>
              </a:rPr>
              <a:t>inventory-service</a:t>
            </a:r>
          </a:p>
        </p:txBody>
      </p:sp>
      <p:sp>
        <p:nvSpPr>
          <p:cNvPr id="40" name="TextBox 39"/>
          <p:cNvSpPr txBox="1"/>
          <p:nvPr/>
        </p:nvSpPr>
        <p:spPr>
          <a:xfrm>
            <a:off x="10177272" y="3355848"/>
            <a:ext cx="1335024" cy="731520"/>
          </a:xfrm>
          <a:prstGeom prst="rect">
            <a:avLst/>
          </a:prstGeom>
          <a:noFill/>
        </p:spPr>
        <p:txBody>
          <a:bodyPr wrap="square" anchor="t">
            <a:spAutoFit/>
          </a:bodyPr>
          <a:lstStyle/>
          <a:p>
            <a:pPr algn="l"/>
            <a:r>
              <a:rPr sz="1200" b="0">
                <a:solidFill>
                  <a:srgbClr val="30373E"/>
                </a:solidFill>
                <a:latin typeface="Arial"/>
              </a:rPr>
              <a:t>:8098</a:t>
            </a:r>
          </a:p>
        </p:txBody>
      </p:sp>
      <p:sp>
        <p:nvSpPr>
          <p:cNvPr id="41" name="Rounded Rectangle 40"/>
          <p:cNvSpPr/>
          <p:nvPr/>
        </p:nvSpPr>
        <p:spPr>
          <a:xfrm>
            <a:off x="914400" y="4617720"/>
            <a:ext cx="2926080" cy="1005840"/>
          </a:xfrm>
          <a:prstGeom prst="roundRect">
            <a:avLst/>
          </a:prstGeom>
          <a:solidFill>
            <a:srgbClr val="E5F2E8"/>
          </a:solidFill>
          <a:ln w="13970">
            <a:solidFill>
              <a:srgbClr val="B5D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8992" y="4745736"/>
            <a:ext cx="2596896" cy="347472"/>
          </a:xfrm>
          <a:prstGeom prst="rect">
            <a:avLst/>
          </a:prstGeom>
          <a:noFill/>
        </p:spPr>
        <p:txBody>
          <a:bodyPr wrap="square" anchor="t">
            <a:spAutoFit/>
          </a:bodyPr>
          <a:lstStyle/>
          <a:p>
            <a:pPr algn="l"/>
            <a:r>
              <a:rPr sz="1500" b="1">
                <a:solidFill>
                  <a:srgbClr val="4F9667"/>
                </a:solidFill>
                <a:latin typeface="Arial"/>
              </a:rPr>
              <a:t>Eureka</a:t>
            </a:r>
          </a:p>
        </p:txBody>
      </p:sp>
      <p:sp>
        <p:nvSpPr>
          <p:cNvPr id="43" name="TextBox 42"/>
          <p:cNvSpPr txBox="1"/>
          <p:nvPr/>
        </p:nvSpPr>
        <p:spPr>
          <a:xfrm>
            <a:off x="1078992" y="5184648"/>
            <a:ext cx="2596896" cy="320040"/>
          </a:xfrm>
          <a:prstGeom prst="rect">
            <a:avLst/>
          </a:prstGeom>
          <a:noFill/>
        </p:spPr>
        <p:txBody>
          <a:bodyPr wrap="square" anchor="t">
            <a:spAutoFit/>
          </a:bodyPr>
          <a:lstStyle/>
          <a:p>
            <a:pPr algn="l"/>
            <a:r>
              <a:rPr sz="1200" b="0">
                <a:solidFill>
                  <a:srgbClr val="30373E"/>
                </a:solidFill>
                <a:latin typeface="Arial"/>
              </a:rPr>
              <a:t>Registro y descubrimiento de servicios</a:t>
            </a:r>
          </a:p>
        </p:txBody>
      </p:sp>
      <p:sp>
        <p:nvSpPr>
          <p:cNvPr id="44" name="Rounded Rectangle 43"/>
          <p:cNvSpPr/>
          <p:nvPr/>
        </p:nvSpPr>
        <p:spPr>
          <a:xfrm>
            <a:off x="4617720" y="4617720"/>
            <a:ext cx="2926080" cy="1005840"/>
          </a:xfrm>
          <a:prstGeom prst="roundRect">
            <a:avLst/>
          </a:prstGeom>
          <a:solidFill>
            <a:srgbClr val="FAE5E5"/>
          </a:solidFill>
          <a:ln w="13970">
            <a:solidFill>
              <a:srgbClr val="E8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82312" y="4745736"/>
            <a:ext cx="2596896" cy="347472"/>
          </a:xfrm>
          <a:prstGeom prst="rect">
            <a:avLst/>
          </a:prstGeom>
          <a:noFill/>
        </p:spPr>
        <p:txBody>
          <a:bodyPr wrap="square" anchor="t">
            <a:spAutoFit/>
          </a:bodyPr>
          <a:lstStyle/>
          <a:p>
            <a:pPr algn="l"/>
            <a:r>
              <a:rPr sz="1500" b="1">
                <a:solidFill>
                  <a:srgbClr val="C64B4B"/>
                </a:solidFill>
                <a:latin typeface="Arial"/>
              </a:rPr>
              <a:t>Spring Security + JWT</a:t>
            </a:r>
          </a:p>
        </p:txBody>
      </p:sp>
      <p:sp>
        <p:nvSpPr>
          <p:cNvPr id="46" name="TextBox 45"/>
          <p:cNvSpPr txBox="1"/>
          <p:nvPr/>
        </p:nvSpPr>
        <p:spPr>
          <a:xfrm>
            <a:off x="4782312" y="5184648"/>
            <a:ext cx="2596896" cy="320040"/>
          </a:xfrm>
          <a:prstGeom prst="rect">
            <a:avLst/>
          </a:prstGeom>
          <a:noFill/>
        </p:spPr>
        <p:txBody>
          <a:bodyPr wrap="square" anchor="t">
            <a:spAutoFit/>
          </a:bodyPr>
          <a:lstStyle/>
          <a:p>
            <a:pPr algn="l"/>
            <a:r>
              <a:rPr sz="1200" b="0">
                <a:solidFill>
                  <a:srgbClr val="30373E"/>
                </a:solidFill>
                <a:latin typeface="Arial"/>
              </a:rPr>
              <a:t>Autenticación y autorización</a:t>
            </a:r>
          </a:p>
        </p:txBody>
      </p:sp>
      <p:sp>
        <p:nvSpPr>
          <p:cNvPr id="47" name="Rounded Rectangle 46"/>
          <p:cNvSpPr/>
          <p:nvPr/>
        </p:nvSpPr>
        <p:spPr>
          <a:xfrm>
            <a:off x="8321040" y="4617720"/>
            <a:ext cx="2926080" cy="1005840"/>
          </a:xfrm>
          <a:prstGeom prst="roundRect">
            <a:avLst/>
          </a:prstGeom>
          <a:solidFill>
            <a:srgbClr val="FCF7DE"/>
          </a:solidFill>
          <a:ln w="13970">
            <a:solidFill>
              <a:srgbClr val="ECD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85632" y="4745736"/>
            <a:ext cx="2596896" cy="347472"/>
          </a:xfrm>
          <a:prstGeom prst="rect">
            <a:avLst/>
          </a:prstGeom>
          <a:noFill/>
        </p:spPr>
        <p:txBody>
          <a:bodyPr wrap="square" anchor="t">
            <a:spAutoFit/>
          </a:bodyPr>
          <a:lstStyle/>
          <a:p>
            <a:pPr algn="l"/>
            <a:r>
              <a:rPr sz="1500" b="1">
                <a:solidFill>
                  <a:srgbClr val="E69138"/>
                </a:solidFill>
                <a:latin typeface="Arial"/>
              </a:rPr>
              <a:t>RabbitMQ</a:t>
            </a:r>
          </a:p>
        </p:txBody>
      </p:sp>
      <p:sp>
        <p:nvSpPr>
          <p:cNvPr id="49" name="TextBox 48"/>
          <p:cNvSpPr txBox="1"/>
          <p:nvPr/>
        </p:nvSpPr>
        <p:spPr>
          <a:xfrm>
            <a:off x="8485632" y="5184648"/>
            <a:ext cx="2596896" cy="320040"/>
          </a:xfrm>
          <a:prstGeom prst="rect">
            <a:avLst/>
          </a:prstGeom>
          <a:noFill/>
        </p:spPr>
        <p:txBody>
          <a:bodyPr wrap="square" anchor="t">
            <a:spAutoFit/>
          </a:bodyPr>
          <a:lstStyle/>
          <a:p>
            <a:pPr algn="l"/>
            <a:r>
              <a:rPr sz="1200" b="0">
                <a:solidFill>
                  <a:srgbClr val="30373E"/>
                </a:solidFill>
                <a:latin typeface="Arial"/>
              </a:rPr>
              <a:t>Mensajería para notificaciones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¿Cómo viaja una petición REST?</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10</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Ejemplo sencillo: consultar el catálogo</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10</a:t>
            </a:r>
          </a:p>
        </p:txBody>
      </p:sp>
      <p:sp>
        <p:nvSpPr>
          <p:cNvPr id="8" name="Rounded Rectangle 7"/>
          <p:cNvSpPr/>
          <p:nvPr/>
        </p:nvSpPr>
        <p:spPr>
          <a:xfrm>
            <a:off x="502920" y="1874519"/>
            <a:ext cx="1965960" cy="1508760"/>
          </a:xfrm>
          <a:prstGeom prst="roundRect">
            <a:avLst/>
          </a:prstGeom>
          <a:solidFill>
            <a:srgbClr val="E2EFF9"/>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02536"/>
            <a:ext cx="1636776" cy="347472"/>
          </a:xfrm>
          <a:prstGeom prst="rect">
            <a:avLst/>
          </a:prstGeom>
          <a:noFill/>
        </p:spPr>
        <p:txBody>
          <a:bodyPr wrap="square" anchor="t">
            <a:spAutoFit/>
          </a:bodyPr>
          <a:lstStyle/>
          <a:p>
            <a:pPr algn="l"/>
            <a:r>
              <a:rPr sz="1500" b="1">
                <a:solidFill>
                  <a:srgbClr val="2D70AA"/>
                </a:solidFill>
                <a:latin typeface="Arial"/>
              </a:rPr>
              <a:t>Usuario</a:t>
            </a:r>
          </a:p>
        </p:txBody>
      </p:sp>
      <p:sp>
        <p:nvSpPr>
          <p:cNvPr id="10" name="TextBox 9"/>
          <p:cNvSpPr txBox="1"/>
          <p:nvPr/>
        </p:nvSpPr>
        <p:spPr>
          <a:xfrm>
            <a:off x="667512" y="2441448"/>
            <a:ext cx="1636776" cy="822959"/>
          </a:xfrm>
          <a:prstGeom prst="rect">
            <a:avLst/>
          </a:prstGeom>
          <a:noFill/>
        </p:spPr>
        <p:txBody>
          <a:bodyPr wrap="square" anchor="t">
            <a:spAutoFit/>
          </a:bodyPr>
          <a:lstStyle/>
          <a:p>
            <a:pPr algn="l"/>
            <a:r>
              <a:rPr sz="1250" b="0">
                <a:solidFill>
                  <a:srgbClr val="30373E"/>
                </a:solidFill>
                <a:latin typeface="Arial"/>
              </a:rPr>
              <a:t>Solicita catálogo</a:t>
            </a:r>
          </a:p>
        </p:txBody>
      </p:sp>
      <p:cxnSp>
        <p:nvCxnSpPr>
          <p:cNvPr id="11" name="Connector 10"/>
          <p:cNvCxnSpPr/>
          <p:nvPr/>
        </p:nvCxnSpPr>
        <p:spPr>
          <a:xfrm>
            <a:off x="2468880" y="2633472"/>
            <a:ext cx="301752" cy="0"/>
          </a:xfrm>
          <a:prstGeom prst="line">
            <a:avLst/>
          </a:prstGeom>
          <a:ln w="25400">
            <a:solidFill>
              <a:srgbClr val="CDD3D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39" y="1874519"/>
            <a:ext cx="1965960" cy="1508760"/>
          </a:xfrm>
          <a:prstGeom prst="roundRect">
            <a:avLst/>
          </a:prstGeom>
          <a:solidFill>
            <a:srgbClr val="E4F5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9232" y="2002536"/>
            <a:ext cx="1636776" cy="347472"/>
          </a:xfrm>
          <a:prstGeom prst="rect">
            <a:avLst/>
          </a:prstGeom>
          <a:noFill/>
        </p:spPr>
        <p:txBody>
          <a:bodyPr wrap="square" anchor="t">
            <a:spAutoFit/>
          </a:bodyPr>
          <a:lstStyle/>
          <a:p>
            <a:pPr algn="l"/>
            <a:r>
              <a:rPr sz="1500" b="1">
                <a:solidFill>
                  <a:srgbClr val="47A4B8"/>
                </a:solidFill>
                <a:latin typeface="Arial"/>
              </a:rPr>
              <a:t>Angular</a:t>
            </a:r>
          </a:p>
        </p:txBody>
      </p:sp>
      <p:sp>
        <p:nvSpPr>
          <p:cNvPr id="14" name="TextBox 13"/>
          <p:cNvSpPr txBox="1"/>
          <p:nvPr/>
        </p:nvSpPr>
        <p:spPr>
          <a:xfrm>
            <a:off x="2999232" y="2441448"/>
            <a:ext cx="1636776" cy="822959"/>
          </a:xfrm>
          <a:prstGeom prst="rect">
            <a:avLst/>
          </a:prstGeom>
          <a:noFill/>
        </p:spPr>
        <p:txBody>
          <a:bodyPr wrap="square" anchor="t">
            <a:spAutoFit/>
          </a:bodyPr>
          <a:lstStyle/>
          <a:p>
            <a:pPr algn="l"/>
            <a:r>
              <a:rPr sz="1250" b="0">
                <a:solidFill>
                  <a:srgbClr val="30373E"/>
                </a:solidFill>
                <a:latin typeface="Arial"/>
              </a:rPr>
              <a:t>GET /api/v1/catalogo</a:t>
            </a:r>
          </a:p>
        </p:txBody>
      </p:sp>
      <p:cxnSp>
        <p:nvCxnSpPr>
          <p:cNvPr id="15" name="Connector 14"/>
          <p:cNvCxnSpPr/>
          <p:nvPr/>
        </p:nvCxnSpPr>
        <p:spPr>
          <a:xfrm>
            <a:off x="4800600" y="2633472"/>
            <a:ext cx="301752" cy="0"/>
          </a:xfrm>
          <a:prstGeom prst="line">
            <a:avLst/>
          </a:prstGeom>
          <a:ln w="25400">
            <a:solidFill>
              <a:srgbClr val="CDD3D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66359" y="1874519"/>
            <a:ext cx="1965960" cy="1508760"/>
          </a:xfrm>
          <a:prstGeom prst="roundRect">
            <a:avLst/>
          </a:prstGeom>
          <a:solidFill>
            <a:srgbClr val="EFEA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30951" y="2002536"/>
            <a:ext cx="1636776" cy="347472"/>
          </a:xfrm>
          <a:prstGeom prst="rect">
            <a:avLst/>
          </a:prstGeom>
          <a:noFill/>
        </p:spPr>
        <p:txBody>
          <a:bodyPr wrap="square" anchor="t">
            <a:spAutoFit/>
          </a:bodyPr>
          <a:lstStyle/>
          <a:p>
            <a:pPr algn="l"/>
            <a:r>
              <a:rPr sz="1500" b="1">
                <a:solidFill>
                  <a:srgbClr val="745B9B"/>
                </a:solidFill>
                <a:latin typeface="Arial"/>
              </a:rPr>
              <a:t>Gateway</a:t>
            </a:r>
          </a:p>
        </p:txBody>
      </p:sp>
      <p:sp>
        <p:nvSpPr>
          <p:cNvPr id="18" name="TextBox 17"/>
          <p:cNvSpPr txBox="1"/>
          <p:nvPr/>
        </p:nvSpPr>
        <p:spPr>
          <a:xfrm>
            <a:off x="5330951" y="2441448"/>
            <a:ext cx="1636776" cy="822959"/>
          </a:xfrm>
          <a:prstGeom prst="rect">
            <a:avLst/>
          </a:prstGeom>
          <a:noFill/>
        </p:spPr>
        <p:txBody>
          <a:bodyPr wrap="square" anchor="t">
            <a:spAutoFit/>
          </a:bodyPr>
          <a:lstStyle/>
          <a:p>
            <a:pPr algn="l"/>
            <a:r>
              <a:rPr sz="1250" b="0">
                <a:solidFill>
                  <a:srgbClr val="30373E"/>
                </a:solidFill>
                <a:latin typeface="Arial"/>
              </a:rPr>
              <a:t>Recibe y enruta</a:t>
            </a:r>
          </a:p>
        </p:txBody>
      </p:sp>
      <p:cxnSp>
        <p:nvCxnSpPr>
          <p:cNvPr id="19" name="Connector 18"/>
          <p:cNvCxnSpPr/>
          <p:nvPr/>
        </p:nvCxnSpPr>
        <p:spPr>
          <a:xfrm>
            <a:off x="7132319" y="2633472"/>
            <a:ext cx="301752" cy="0"/>
          </a:xfrm>
          <a:prstGeom prst="line">
            <a:avLst/>
          </a:prstGeom>
          <a:ln w="25400">
            <a:solidFill>
              <a:srgbClr val="CDD3D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874519"/>
            <a:ext cx="1965960" cy="1508760"/>
          </a:xfrm>
          <a:prstGeom prst="roundRect">
            <a:avLst/>
          </a:prstGeom>
          <a:solidFill>
            <a:srgbClr val="E5F2E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671" y="2002536"/>
            <a:ext cx="1636776" cy="347472"/>
          </a:xfrm>
          <a:prstGeom prst="rect">
            <a:avLst/>
          </a:prstGeom>
          <a:noFill/>
        </p:spPr>
        <p:txBody>
          <a:bodyPr wrap="square" anchor="t">
            <a:spAutoFit/>
          </a:bodyPr>
          <a:lstStyle/>
          <a:p>
            <a:pPr algn="l"/>
            <a:r>
              <a:rPr sz="1500" b="1">
                <a:solidFill>
                  <a:srgbClr val="4F9667"/>
                </a:solidFill>
                <a:latin typeface="Arial"/>
              </a:rPr>
              <a:t>Catalog-service</a:t>
            </a:r>
          </a:p>
        </p:txBody>
      </p:sp>
      <p:sp>
        <p:nvSpPr>
          <p:cNvPr id="22" name="TextBox 21"/>
          <p:cNvSpPr txBox="1"/>
          <p:nvPr/>
        </p:nvSpPr>
        <p:spPr>
          <a:xfrm>
            <a:off x="7662671" y="2441448"/>
            <a:ext cx="1636776" cy="822959"/>
          </a:xfrm>
          <a:prstGeom prst="rect">
            <a:avLst/>
          </a:prstGeom>
          <a:noFill/>
        </p:spPr>
        <p:txBody>
          <a:bodyPr wrap="square" anchor="t">
            <a:spAutoFit/>
          </a:bodyPr>
          <a:lstStyle/>
          <a:p>
            <a:pPr algn="l"/>
            <a:r>
              <a:rPr sz="1250" b="0">
                <a:solidFill>
                  <a:srgbClr val="30373E"/>
                </a:solidFill>
                <a:latin typeface="Arial"/>
              </a:rPr>
              <a:t>Consulta servicios</a:t>
            </a:r>
          </a:p>
        </p:txBody>
      </p:sp>
      <p:cxnSp>
        <p:nvCxnSpPr>
          <p:cNvPr id="23" name="Connector 22"/>
          <p:cNvCxnSpPr/>
          <p:nvPr/>
        </p:nvCxnSpPr>
        <p:spPr>
          <a:xfrm>
            <a:off x="9464040" y="2633472"/>
            <a:ext cx="301752" cy="0"/>
          </a:xfrm>
          <a:prstGeom prst="line">
            <a:avLst/>
          </a:prstGeom>
          <a:ln w="25400">
            <a:solidFill>
              <a:srgbClr val="CDD3D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29800" y="1874519"/>
            <a:ext cx="1965960" cy="1508760"/>
          </a:xfrm>
          <a:prstGeom prst="roundRect">
            <a:avLst/>
          </a:prstGeom>
          <a:solidFill>
            <a:srgbClr val="FCEFDC"/>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4392" y="2002536"/>
            <a:ext cx="1636776" cy="347472"/>
          </a:xfrm>
          <a:prstGeom prst="rect">
            <a:avLst/>
          </a:prstGeom>
          <a:noFill/>
        </p:spPr>
        <p:txBody>
          <a:bodyPr wrap="square" anchor="t">
            <a:spAutoFit/>
          </a:bodyPr>
          <a:lstStyle/>
          <a:p>
            <a:pPr algn="l"/>
            <a:r>
              <a:rPr sz="1500" b="1">
                <a:solidFill>
                  <a:srgbClr val="E69138"/>
                </a:solidFill>
                <a:latin typeface="Arial"/>
              </a:rPr>
              <a:t>MySQL</a:t>
            </a:r>
          </a:p>
        </p:txBody>
      </p:sp>
      <p:sp>
        <p:nvSpPr>
          <p:cNvPr id="26" name="TextBox 25"/>
          <p:cNvSpPr txBox="1"/>
          <p:nvPr/>
        </p:nvSpPr>
        <p:spPr>
          <a:xfrm>
            <a:off x="9994392" y="2441448"/>
            <a:ext cx="1636776" cy="822959"/>
          </a:xfrm>
          <a:prstGeom prst="rect">
            <a:avLst/>
          </a:prstGeom>
          <a:noFill/>
        </p:spPr>
        <p:txBody>
          <a:bodyPr wrap="square" anchor="t">
            <a:spAutoFit/>
          </a:bodyPr>
          <a:lstStyle/>
          <a:p>
            <a:pPr algn="l"/>
            <a:r>
              <a:rPr sz="1250" b="0">
                <a:solidFill>
                  <a:srgbClr val="30373E"/>
                </a:solidFill>
                <a:latin typeface="Arial"/>
              </a:rPr>
              <a:t>Devuelve datos</a:t>
            </a:r>
          </a:p>
        </p:txBody>
      </p:sp>
      <p:sp>
        <p:nvSpPr>
          <p:cNvPr id="27" name="TextBox 26"/>
          <p:cNvSpPr txBox="1"/>
          <p:nvPr/>
        </p:nvSpPr>
        <p:spPr>
          <a:xfrm>
            <a:off x="2743200" y="3977639"/>
            <a:ext cx="6766560" cy="365760"/>
          </a:xfrm>
          <a:prstGeom prst="rect">
            <a:avLst/>
          </a:prstGeom>
          <a:noFill/>
        </p:spPr>
        <p:txBody>
          <a:bodyPr wrap="square" anchor="t">
            <a:spAutoFit/>
          </a:bodyPr>
          <a:lstStyle/>
          <a:p>
            <a:pPr algn="ctr"/>
            <a:r>
              <a:rPr sz="1700" b="1">
                <a:solidFill>
                  <a:srgbClr val="183F66"/>
                </a:solidFill>
                <a:latin typeface="Arial"/>
              </a:rPr>
              <a:t>← La respuesta vuelve por el mismo recorrido hasta Angular</a:t>
            </a:r>
          </a:p>
        </p:txBody>
      </p:sp>
      <p:sp>
        <p:nvSpPr>
          <p:cNvPr id="28" name="Oval 27"/>
          <p:cNvSpPr/>
          <p:nvPr/>
        </p:nvSpPr>
        <p:spPr>
          <a:xfrm>
            <a:off x="960120" y="4800600"/>
            <a:ext cx="685800" cy="685800"/>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809744"/>
            <a:ext cx="685800" cy="667512"/>
          </a:xfrm>
          <a:prstGeom prst="rect">
            <a:avLst/>
          </a:prstGeom>
          <a:noFill/>
        </p:spPr>
        <p:txBody>
          <a:bodyPr wrap="square" anchor="ctr">
            <a:spAutoFit/>
          </a:bodyPr>
          <a:lstStyle/>
          <a:p>
            <a:pPr algn="ctr"/>
            <a:r>
              <a:rPr sz="1300" b="1">
                <a:solidFill>
                  <a:srgbClr val="FFFFFF"/>
                </a:solidFill>
                <a:latin typeface="Arial"/>
              </a:rPr>
              <a:t>GET</a:t>
            </a:r>
          </a:p>
        </p:txBody>
      </p:sp>
      <p:sp>
        <p:nvSpPr>
          <p:cNvPr id="30" name="TextBox 29"/>
          <p:cNvSpPr txBox="1"/>
          <p:nvPr/>
        </p:nvSpPr>
        <p:spPr>
          <a:xfrm>
            <a:off x="1783080" y="4919472"/>
            <a:ext cx="1463040" cy="274320"/>
          </a:xfrm>
          <a:prstGeom prst="rect">
            <a:avLst/>
          </a:prstGeom>
          <a:noFill/>
        </p:spPr>
        <p:txBody>
          <a:bodyPr wrap="square" anchor="t">
            <a:spAutoFit/>
          </a:bodyPr>
          <a:lstStyle/>
          <a:p>
            <a:pPr algn="l"/>
            <a:r>
              <a:rPr sz="1350" b="1">
                <a:solidFill>
                  <a:srgbClr val="30373E"/>
                </a:solidFill>
                <a:latin typeface="Arial"/>
              </a:rPr>
              <a:t>Consultar</a:t>
            </a:r>
          </a:p>
        </p:txBody>
      </p:sp>
      <p:sp>
        <p:nvSpPr>
          <p:cNvPr id="31" name="Oval 30"/>
          <p:cNvSpPr/>
          <p:nvPr/>
        </p:nvSpPr>
        <p:spPr>
          <a:xfrm>
            <a:off x="3566160" y="4800600"/>
            <a:ext cx="685800" cy="685800"/>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6160" y="4809744"/>
            <a:ext cx="685800" cy="667512"/>
          </a:xfrm>
          <a:prstGeom prst="rect">
            <a:avLst/>
          </a:prstGeom>
          <a:noFill/>
        </p:spPr>
        <p:txBody>
          <a:bodyPr wrap="square" anchor="ctr">
            <a:spAutoFit/>
          </a:bodyPr>
          <a:lstStyle/>
          <a:p>
            <a:pPr algn="ctr"/>
            <a:r>
              <a:rPr sz="1300" b="1">
                <a:solidFill>
                  <a:srgbClr val="FFFFFF"/>
                </a:solidFill>
                <a:latin typeface="Arial"/>
              </a:rPr>
              <a:t>POST</a:t>
            </a:r>
          </a:p>
        </p:txBody>
      </p:sp>
      <p:sp>
        <p:nvSpPr>
          <p:cNvPr id="33" name="TextBox 32"/>
          <p:cNvSpPr txBox="1"/>
          <p:nvPr/>
        </p:nvSpPr>
        <p:spPr>
          <a:xfrm>
            <a:off x="4389120" y="4919472"/>
            <a:ext cx="1463040" cy="274320"/>
          </a:xfrm>
          <a:prstGeom prst="rect">
            <a:avLst/>
          </a:prstGeom>
          <a:noFill/>
        </p:spPr>
        <p:txBody>
          <a:bodyPr wrap="square" anchor="t">
            <a:spAutoFit/>
          </a:bodyPr>
          <a:lstStyle/>
          <a:p>
            <a:pPr algn="l"/>
            <a:r>
              <a:rPr sz="1350" b="1">
                <a:solidFill>
                  <a:srgbClr val="30373E"/>
                </a:solidFill>
                <a:latin typeface="Arial"/>
              </a:rPr>
              <a:t>Registrar</a:t>
            </a:r>
          </a:p>
        </p:txBody>
      </p:sp>
      <p:sp>
        <p:nvSpPr>
          <p:cNvPr id="34" name="Oval 33"/>
          <p:cNvSpPr/>
          <p:nvPr/>
        </p:nvSpPr>
        <p:spPr>
          <a:xfrm>
            <a:off x="6172200" y="4800600"/>
            <a:ext cx="685800" cy="685800"/>
          </a:xfrm>
          <a:prstGeom prst="ellipse">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2200" y="4809744"/>
            <a:ext cx="685800" cy="667512"/>
          </a:xfrm>
          <a:prstGeom prst="rect">
            <a:avLst/>
          </a:prstGeom>
          <a:noFill/>
        </p:spPr>
        <p:txBody>
          <a:bodyPr wrap="square" anchor="ctr">
            <a:spAutoFit/>
          </a:bodyPr>
          <a:lstStyle/>
          <a:p>
            <a:pPr algn="ctr"/>
            <a:r>
              <a:rPr sz="1300" b="1">
                <a:solidFill>
                  <a:srgbClr val="FFFFFF"/>
                </a:solidFill>
                <a:latin typeface="Arial"/>
              </a:rPr>
              <a:t>PUT</a:t>
            </a:r>
          </a:p>
        </p:txBody>
      </p:sp>
      <p:sp>
        <p:nvSpPr>
          <p:cNvPr id="36" name="TextBox 35"/>
          <p:cNvSpPr txBox="1"/>
          <p:nvPr/>
        </p:nvSpPr>
        <p:spPr>
          <a:xfrm>
            <a:off x="6995160" y="4919472"/>
            <a:ext cx="1463040" cy="274320"/>
          </a:xfrm>
          <a:prstGeom prst="rect">
            <a:avLst/>
          </a:prstGeom>
          <a:noFill/>
        </p:spPr>
        <p:txBody>
          <a:bodyPr wrap="square" anchor="t">
            <a:spAutoFit/>
          </a:bodyPr>
          <a:lstStyle/>
          <a:p>
            <a:pPr algn="l"/>
            <a:r>
              <a:rPr sz="1350" b="1">
                <a:solidFill>
                  <a:srgbClr val="30373E"/>
                </a:solidFill>
                <a:latin typeface="Arial"/>
              </a:rPr>
              <a:t>Actualizar</a:t>
            </a:r>
          </a:p>
        </p:txBody>
      </p:sp>
      <p:sp>
        <p:nvSpPr>
          <p:cNvPr id="37" name="Oval 36"/>
          <p:cNvSpPr/>
          <p:nvPr/>
        </p:nvSpPr>
        <p:spPr>
          <a:xfrm>
            <a:off x="8778240" y="4800600"/>
            <a:ext cx="685800" cy="685800"/>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0" y="4809744"/>
            <a:ext cx="685800" cy="667512"/>
          </a:xfrm>
          <a:prstGeom prst="rect">
            <a:avLst/>
          </a:prstGeom>
          <a:noFill/>
        </p:spPr>
        <p:txBody>
          <a:bodyPr wrap="square" anchor="ctr">
            <a:spAutoFit/>
          </a:bodyPr>
          <a:lstStyle/>
          <a:p>
            <a:pPr algn="ctr"/>
            <a:r>
              <a:rPr sz="1300" b="1">
                <a:solidFill>
                  <a:srgbClr val="FFFFFF"/>
                </a:solidFill>
                <a:latin typeface="Arial"/>
              </a:rPr>
              <a:t>DELETE</a:t>
            </a:r>
          </a:p>
        </p:txBody>
      </p:sp>
      <p:sp>
        <p:nvSpPr>
          <p:cNvPr id="39" name="TextBox 38"/>
          <p:cNvSpPr txBox="1"/>
          <p:nvPr/>
        </p:nvSpPr>
        <p:spPr>
          <a:xfrm>
            <a:off x="9601200" y="4919472"/>
            <a:ext cx="1463040" cy="274320"/>
          </a:xfrm>
          <a:prstGeom prst="rect">
            <a:avLst/>
          </a:prstGeom>
          <a:noFill/>
        </p:spPr>
        <p:txBody>
          <a:bodyPr wrap="square" anchor="t">
            <a:spAutoFit/>
          </a:bodyPr>
          <a:lstStyle/>
          <a:p>
            <a:pPr algn="l"/>
            <a:r>
              <a:rPr sz="1350" b="1">
                <a:solidFill>
                  <a:srgbClr val="30373E"/>
                </a:solidFill>
                <a:latin typeface="Arial"/>
              </a:rPr>
              <a:t>Eliminar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Seguridad: login y control de acceso</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11</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Qué ocurre cuando un usuario inicia sesión</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11</a:t>
            </a:r>
          </a:p>
        </p:txBody>
      </p:sp>
      <p:sp>
        <p:nvSpPr>
          <p:cNvPr id="8" name="Rounded Rectangle 7"/>
          <p:cNvSpPr/>
          <p:nvPr/>
        </p:nvSpPr>
        <p:spPr>
          <a:xfrm>
            <a:off x="502920" y="1600200"/>
            <a:ext cx="1965960" cy="1417320"/>
          </a:xfrm>
          <a:prstGeom prst="roundRect">
            <a:avLst/>
          </a:prstGeom>
          <a:solidFill>
            <a:srgbClr val="F7F9FB"/>
          </a:solidFill>
          <a:ln w="1397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28216"/>
            <a:ext cx="1636776" cy="347472"/>
          </a:xfrm>
          <a:prstGeom prst="rect">
            <a:avLst/>
          </a:prstGeom>
          <a:noFill/>
        </p:spPr>
        <p:txBody>
          <a:bodyPr wrap="square" anchor="t">
            <a:spAutoFit/>
          </a:bodyPr>
          <a:lstStyle/>
          <a:p>
            <a:pPr algn="l"/>
            <a:r>
              <a:rPr sz="1500" b="1">
                <a:solidFill>
                  <a:srgbClr val="2D70AA"/>
                </a:solidFill>
                <a:latin typeface="Arial"/>
              </a:rPr>
              <a:t>Usuario</a:t>
            </a:r>
          </a:p>
        </p:txBody>
      </p:sp>
      <p:sp>
        <p:nvSpPr>
          <p:cNvPr id="10" name="TextBox 9"/>
          <p:cNvSpPr txBox="1"/>
          <p:nvPr/>
        </p:nvSpPr>
        <p:spPr>
          <a:xfrm>
            <a:off x="667512" y="2167128"/>
            <a:ext cx="1636776" cy="731520"/>
          </a:xfrm>
          <a:prstGeom prst="rect">
            <a:avLst/>
          </a:prstGeom>
          <a:noFill/>
        </p:spPr>
        <p:txBody>
          <a:bodyPr wrap="square" anchor="t">
            <a:spAutoFit/>
          </a:bodyPr>
          <a:lstStyle/>
          <a:p>
            <a:pPr algn="l"/>
            <a:r>
              <a:rPr sz="1250" b="0">
                <a:solidFill>
                  <a:srgbClr val="30373E"/>
                </a:solidFill>
                <a:latin typeface="Arial"/>
              </a:rPr>
              <a:t>usuario + password</a:t>
            </a:r>
          </a:p>
        </p:txBody>
      </p:sp>
      <p:cxnSp>
        <p:nvCxnSpPr>
          <p:cNvPr id="11" name="Connector 10"/>
          <p:cNvCxnSpPr/>
          <p:nvPr/>
        </p:nvCxnSpPr>
        <p:spPr>
          <a:xfrm>
            <a:off x="2468880" y="2304288"/>
            <a:ext cx="301752" cy="0"/>
          </a:xfrm>
          <a:prstGeom prst="line">
            <a:avLst/>
          </a:prstGeom>
          <a:ln w="25400">
            <a:solidFill>
              <a:srgbClr val="CDD3D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39" y="1600200"/>
            <a:ext cx="1965960" cy="1417320"/>
          </a:xfrm>
          <a:prstGeom prst="roundRect">
            <a:avLst/>
          </a:prstGeom>
          <a:solidFill>
            <a:srgbClr val="F7F9FB"/>
          </a:solidFill>
          <a:ln w="13970">
            <a:solidFill>
              <a:srgbClr val="745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9232" y="1728216"/>
            <a:ext cx="1636776" cy="347472"/>
          </a:xfrm>
          <a:prstGeom prst="rect">
            <a:avLst/>
          </a:prstGeom>
          <a:noFill/>
        </p:spPr>
        <p:txBody>
          <a:bodyPr wrap="square" anchor="t">
            <a:spAutoFit/>
          </a:bodyPr>
          <a:lstStyle/>
          <a:p>
            <a:pPr algn="l"/>
            <a:r>
              <a:rPr sz="1500" b="1">
                <a:solidFill>
                  <a:srgbClr val="745B9B"/>
                </a:solidFill>
                <a:latin typeface="Arial"/>
              </a:rPr>
              <a:t>Auth-service</a:t>
            </a:r>
          </a:p>
        </p:txBody>
      </p:sp>
      <p:sp>
        <p:nvSpPr>
          <p:cNvPr id="14" name="TextBox 13"/>
          <p:cNvSpPr txBox="1"/>
          <p:nvPr/>
        </p:nvSpPr>
        <p:spPr>
          <a:xfrm>
            <a:off x="2999232" y="2167128"/>
            <a:ext cx="1636776" cy="731520"/>
          </a:xfrm>
          <a:prstGeom prst="rect">
            <a:avLst/>
          </a:prstGeom>
          <a:noFill/>
        </p:spPr>
        <p:txBody>
          <a:bodyPr wrap="square" anchor="t">
            <a:spAutoFit/>
          </a:bodyPr>
          <a:lstStyle/>
          <a:p>
            <a:pPr algn="l"/>
            <a:r>
              <a:rPr sz="1250" b="0">
                <a:solidFill>
                  <a:srgbClr val="30373E"/>
                </a:solidFill>
                <a:latin typeface="Arial"/>
              </a:rPr>
              <a:t>valida credenciales</a:t>
            </a:r>
          </a:p>
        </p:txBody>
      </p:sp>
      <p:cxnSp>
        <p:nvCxnSpPr>
          <p:cNvPr id="15" name="Connector 14"/>
          <p:cNvCxnSpPr/>
          <p:nvPr/>
        </p:nvCxnSpPr>
        <p:spPr>
          <a:xfrm>
            <a:off x="4800600" y="2304288"/>
            <a:ext cx="301752" cy="0"/>
          </a:xfrm>
          <a:prstGeom prst="line">
            <a:avLst/>
          </a:prstGeom>
          <a:ln w="25400">
            <a:solidFill>
              <a:srgbClr val="CDD3D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66359" y="1600200"/>
            <a:ext cx="1965960" cy="1417320"/>
          </a:xfrm>
          <a:prstGeom prst="roundRect">
            <a:avLst/>
          </a:prstGeom>
          <a:solidFill>
            <a:srgbClr val="F7F9FB"/>
          </a:solidFill>
          <a:ln w="13970">
            <a:solidFill>
              <a:srgbClr val="C64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30951" y="1728216"/>
            <a:ext cx="1636776" cy="347472"/>
          </a:xfrm>
          <a:prstGeom prst="rect">
            <a:avLst/>
          </a:prstGeom>
          <a:noFill/>
        </p:spPr>
        <p:txBody>
          <a:bodyPr wrap="square" anchor="t">
            <a:spAutoFit/>
          </a:bodyPr>
          <a:lstStyle/>
          <a:p>
            <a:pPr algn="l"/>
            <a:r>
              <a:rPr sz="1500" b="1">
                <a:solidFill>
                  <a:srgbClr val="C64B4B"/>
                </a:solidFill>
                <a:latin typeface="Arial"/>
              </a:rPr>
              <a:t>BCrypt</a:t>
            </a:r>
          </a:p>
        </p:txBody>
      </p:sp>
      <p:sp>
        <p:nvSpPr>
          <p:cNvPr id="18" name="TextBox 17"/>
          <p:cNvSpPr txBox="1"/>
          <p:nvPr/>
        </p:nvSpPr>
        <p:spPr>
          <a:xfrm>
            <a:off x="5330951" y="2167128"/>
            <a:ext cx="1636776" cy="731520"/>
          </a:xfrm>
          <a:prstGeom prst="rect">
            <a:avLst/>
          </a:prstGeom>
          <a:noFill/>
        </p:spPr>
        <p:txBody>
          <a:bodyPr wrap="square" anchor="t">
            <a:spAutoFit/>
          </a:bodyPr>
          <a:lstStyle/>
          <a:p>
            <a:pPr algn="l"/>
            <a:r>
              <a:rPr sz="1250" b="0">
                <a:solidFill>
                  <a:srgbClr val="30373E"/>
                </a:solidFill>
                <a:latin typeface="Arial"/>
              </a:rPr>
              <a:t>protege password</a:t>
            </a:r>
          </a:p>
        </p:txBody>
      </p:sp>
      <p:cxnSp>
        <p:nvCxnSpPr>
          <p:cNvPr id="19" name="Connector 18"/>
          <p:cNvCxnSpPr/>
          <p:nvPr/>
        </p:nvCxnSpPr>
        <p:spPr>
          <a:xfrm>
            <a:off x="7132319" y="2304288"/>
            <a:ext cx="301752" cy="0"/>
          </a:xfrm>
          <a:prstGeom prst="line">
            <a:avLst/>
          </a:prstGeom>
          <a:ln w="25400">
            <a:solidFill>
              <a:srgbClr val="CDD3D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600200"/>
            <a:ext cx="1965960" cy="1417320"/>
          </a:xfrm>
          <a:prstGeom prst="roundRect">
            <a:avLst/>
          </a:prstGeom>
          <a:solidFill>
            <a:srgbClr val="F7F9FB"/>
          </a:solidFill>
          <a:ln w="13970">
            <a:solidFill>
              <a:srgbClr val="E691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671" y="1728216"/>
            <a:ext cx="1636776" cy="347472"/>
          </a:xfrm>
          <a:prstGeom prst="rect">
            <a:avLst/>
          </a:prstGeom>
          <a:noFill/>
        </p:spPr>
        <p:txBody>
          <a:bodyPr wrap="square" anchor="t">
            <a:spAutoFit/>
          </a:bodyPr>
          <a:lstStyle/>
          <a:p>
            <a:pPr algn="l"/>
            <a:r>
              <a:rPr sz="1500" b="1">
                <a:solidFill>
                  <a:srgbClr val="E69138"/>
                </a:solidFill>
                <a:latin typeface="Arial"/>
              </a:rPr>
              <a:t>JWT</a:t>
            </a:r>
          </a:p>
        </p:txBody>
      </p:sp>
      <p:sp>
        <p:nvSpPr>
          <p:cNvPr id="22" name="TextBox 21"/>
          <p:cNvSpPr txBox="1"/>
          <p:nvPr/>
        </p:nvSpPr>
        <p:spPr>
          <a:xfrm>
            <a:off x="7662671" y="2167128"/>
            <a:ext cx="1636776" cy="731520"/>
          </a:xfrm>
          <a:prstGeom prst="rect">
            <a:avLst/>
          </a:prstGeom>
          <a:noFill/>
        </p:spPr>
        <p:txBody>
          <a:bodyPr wrap="square" anchor="t">
            <a:spAutoFit/>
          </a:bodyPr>
          <a:lstStyle/>
          <a:p>
            <a:pPr algn="l"/>
            <a:r>
              <a:rPr sz="1250" b="0">
                <a:solidFill>
                  <a:srgbClr val="30373E"/>
                </a:solidFill>
                <a:latin typeface="Arial"/>
              </a:rPr>
              <a:t>token de acceso</a:t>
            </a:r>
          </a:p>
        </p:txBody>
      </p:sp>
      <p:cxnSp>
        <p:nvCxnSpPr>
          <p:cNvPr id="23" name="Connector 22"/>
          <p:cNvCxnSpPr/>
          <p:nvPr/>
        </p:nvCxnSpPr>
        <p:spPr>
          <a:xfrm>
            <a:off x="9464040" y="2304288"/>
            <a:ext cx="301752" cy="0"/>
          </a:xfrm>
          <a:prstGeom prst="line">
            <a:avLst/>
          </a:prstGeom>
          <a:ln w="25400">
            <a:solidFill>
              <a:srgbClr val="CDD3D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29800" y="1600200"/>
            <a:ext cx="1965960" cy="1417320"/>
          </a:xfrm>
          <a:prstGeom prst="roundRect">
            <a:avLst/>
          </a:prstGeom>
          <a:solidFill>
            <a:srgbClr val="F7F9FB"/>
          </a:solidFill>
          <a:ln w="13970">
            <a:solidFill>
              <a:srgbClr val="4F96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4392" y="1728216"/>
            <a:ext cx="1636776" cy="347472"/>
          </a:xfrm>
          <a:prstGeom prst="rect">
            <a:avLst/>
          </a:prstGeom>
          <a:noFill/>
        </p:spPr>
        <p:txBody>
          <a:bodyPr wrap="square" anchor="t">
            <a:spAutoFit/>
          </a:bodyPr>
          <a:lstStyle/>
          <a:p>
            <a:pPr algn="l"/>
            <a:r>
              <a:rPr sz="1500" b="1">
                <a:solidFill>
                  <a:srgbClr val="4F9667"/>
                </a:solidFill>
                <a:latin typeface="Arial"/>
              </a:rPr>
              <a:t>Angular</a:t>
            </a:r>
          </a:p>
        </p:txBody>
      </p:sp>
      <p:sp>
        <p:nvSpPr>
          <p:cNvPr id="26" name="TextBox 25"/>
          <p:cNvSpPr txBox="1"/>
          <p:nvPr/>
        </p:nvSpPr>
        <p:spPr>
          <a:xfrm>
            <a:off x="9994392" y="2167128"/>
            <a:ext cx="1636776" cy="731520"/>
          </a:xfrm>
          <a:prstGeom prst="rect">
            <a:avLst/>
          </a:prstGeom>
          <a:noFill/>
        </p:spPr>
        <p:txBody>
          <a:bodyPr wrap="square" anchor="t">
            <a:spAutoFit/>
          </a:bodyPr>
          <a:lstStyle/>
          <a:p>
            <a:pPr algn="l"/>
            <a:r>
              <a:rPr sz="1250" b="0">
                <a:solidFill>
                  <a:srgbClr val="30373E"/>
                </a:solidFill>
                <a:latin typeface="Arial"/>
              </a:rPr>
              <a:t>accede según rol</a:t>
            </a:r>
          </a:p>
        </p:txBody>
      </p:sp>
      <p:sp>
        <p:nvSpPr>
          <p:cNvPr id="27" name="TextBox 26"/>
          <p:cNvSpPr txBox="1"/>
          <p:nvPr/>
        </p:nvSpPr>
        <p:spPr>
          <a:xfrm>
            <a:off x="960120" y="3794760"/>
            <a:ext cx="2103120" cy="320040"/>
          </a:xfrm>
          <a:prstGeom prst="rect">
            <a:avLst/>
          </a:prstGeom>
          <a:noFill/>
        </p:spPr>
        <p:txBody>
          <a:bodyPr wrap="square" anchor="t">
            <a:spAutoFit/>
          </a:bodyPr>
          <a:lstStyle/>
          <a:p>
            <a:pPr algn="l"/>
            <a:r>
              <a:rPr sz="1700" b="1">
                <a:solidFill>
                  <a:srgbClr val="183F66"/>
                </a:solidFill>
                <a:latin typeface="Arial"/>
              </a:rPr>
              <a:t>Roles principales</a:t>
            </a:r>
          </a:p>
        </p:txBody>
      </p:sp>
      <p:sp>
        <p:nvSpPr>
          <p:cNvPr id="28" name="Rounded Rectangle 27"/>
          <p:cNvSpPr/>
          <p:nvPr/>
        </p:nvSpPr>
        <p:spPr>
          <a:xfrm>
            <a:off x="960120" y="4343400"/>
            <a:ext cx="1874519" cy="502920"/>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352544"/>
            <a:ext cx="1874519" cy="484632"/>
          </a:xfrm>
          <a:prstGeom prst="rect">
            <a:avLst/>
          </a:prstGeom>
          <a:noFill/>
        </p:spPr>
        <p:txBody>
          <a:bodyPr wrap="square" anchor="ctr">
            <a:spAutoFit/>
          </a:bodyPr>
          <a:lstStyle/>
          <a:p>
            <a:pPr algn="ctr"/>
            <a:r>
              <a:rPr sz="1400" b="1">
                <a:solidFill>
                  <a:srgbClr val="2D70AA"/>
                </a:solidFill>
                <a:latin typeface="Arial"/>
              </a:rPr>
              <a:t>CLIENTE</a:t>
            </a:r>
          </a:p>
        </p:txBody>
      </p:sp>
      <p:sp>
        <p:nvSpPr>
          <p:cNvPr id="30" name="TextBox 29"/>
          <p:cNvSpPr txBox="1"/>
          <p:nvPr/>
        </p:nvSpPr>
        <p:spPr>
          <a:xfrm>
            <a:off x="3063240" y="4379976"/>
            <a:ext cx="3566160" cy="411480"/>
          </a:xfrm>
          <a:prstGeom prst="rect">
            <a:avLst/>
          </a:prstGeom>
          <a:noFill/>
        </p:spPr>
        <p:txBody>
          <a:bodyPr wrap="square" anchor="t">
            <a:spAutoFit/>
          </a:bodyPr>
          <a:lstStyle/>
          <a:p>
            <a:pPr algn="l"/>
            <a:r>
              <a:rPr sz="1350" b="0">
                <a:solidFill>
                  <a:srgbClr val="30373E"/>
                </a:solidFill>
                <a:latin typeface="Arial"/>
              </a:rPr>
              <a:t>Consulta catálogo, registra pedidos y realiza seguimiento.</a:t>
            </a:r>
          </a:p>
        </p:txBody>
      </p:sp>
      <p:sp>
        <p:nvSpPr>
          <p:cNvPr id="31" name="Rounded Rectangle 30"/>
          <p:cNvSpPr/>
          <p:nvPr/>
        </p:nvSpPr>
        <p:spPr>
          <a:xfrm>
            <a:off x="960120" y="5074920"/>
            <a:ext cx="1874519" cy="502920"/>
          </a:xfrm>
          <a:prstGeom prst="roundRect">
            <a:avLst/>
          </a:prstGeom>
          <a:solidFill>
            <a:srgbClr val="FA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5084064"/>
            <a:ext cx="1874519" cy="484632"/>
          </a:xfrm>
          <a:prstGeom prst="rect">
            <a:avLst/>
          </a:prstGeom>
          <a:noFill/>
        </p:spPr>
        <p:txBody>
          <a:bodyPr wrap="square" anchor="ctr">
            <a:spAutoFit/>
          </a:bodyPr>
          <a:lstStyle/>
          <a:p>
            <a:pPr algn="ctr"/>
            <a:r>
              <a:rPr sz="1400" b="1">
                <a:solidFill>
                  <a:srgbClr val="C64B4B"/>
                </a:solidFill>
                <a:latin typeface="Arial"/>
              </a:rPr>
              <a:t>ADMIN</a:t>
            </a:r>
          </a:p>
        </p:txBody>
      </p:sp>
      <p:sp>
        <p:nvSpPr>
          <p:cNvPr id="33" name="TextBox 32"/>
          <p:cNvSpPr txBox="1"/>
          <p:nvPr/>
        </p:nvSpPr>
        <p:spPr>
          <a:xfrm>
            <a:off x="3063240" y="5111496"/>
            <a:ext cx="3566160" cy="411480"/>
          </a:xfrm>
          <a:prstGeom prst="rect">
            <a:avLst/>
          </a:prstGeom>
          <a:noFill/>
        </p:spPr>
        <p:txBody>
          <a:bodyPr wrap="square" anchor="t">
            <a:spAutoFit/>
          </a:bodyPr>
          <a:lstStyle/>
          <a:p>
            <a:pPr algn="l"/>
            <a:r>
              <a:rPr sz="1350" b="0">
                <a:solidFill>
                  <a:srgbClr val="30373E"/>
                </a:solidFill>
                <a:latin typeface="Arial"/>
              </a:rPr>
              <a:t>Gestiona información y operaciones permitidas por el sistema.</a:t>
            </a:r>
          </a:p>
        </p:txBody>
      </p:sp>
      <p:sp>
        <p:nvSpPr>
          <p:cNvPr id="34" name="Rounded Rectangle 33"/>
          <p:cNvSpPr/>
          <p:nvPr/>
        </p:nvSpPr>
        <p:spPr>
          <a:xfrm>
            <a:off x="6995160" y="3794760"/>
            <a:ext cx="4251960" cy="1828800"/>
          </a:xfrm>
          <a:prstGeom prst="roundRect">
            <a:avLst/>
          </a:prstGeom>
          <a:solidFill>
            <a:srgbClr val="FCF7DE"/>
          </a:solidFill>
          <a:ln w="13970">
            <a:solidFill>
              <a:srgbClr val="ECD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59752" y="3922776"/>
            <a:ext cx="3922776" cy="347472"/>
          </a:xfrm>
          <a:prstGeom prst="rect">
            <a:avLst/>
          </a:prstGeom>
          <a:noFill/>
        </p:spPr>
        <p:txBody>
          <a:bodyPr wrap="square" anchor="t">
            <a:spAutoFit/>
          </a:bodyPr>
          <a:lstStyle/>
          <a:p>
            <a:pPr algn="l"/>
            <a:r>
              <a:rPr sz="1600" b="1">
                <a:solidFill>
                  <a:srgbClr val="E69138"/>
                </a:solidFill>
                <a:latin typeface="Arial"/>
              </a:rPr>
              <a:t>Idea clave</a:t>
            </a:r>
          </a:p>
        </p:txBody>
      </p:sp>
      <p:sp>
        <p:nvSpPr>
          <p:cNvPr id="36" name="TextBox 35"/>
          <p:cNvSpPr txBox="1"/>
          <p:nvPr/>
        </p:nvSpPr>
        <p:spPr>
          <a:xfrm>
            <a:off x="7159752" y="4361688"/>
            <a:ext cx="3922776" cy="1143000"/>
          </a:xfrm>
          <a:prstGeom prst="rect">
            <a:avLst/>
          </a:prstGeom>
          <a:noFill/>
        </p:spPr>
        <p:txBody>
          <a:bodyPr wrap="square" anchor="t">
            <a:spAutoFit/>
          </a:bodyPr>
          <a:lstStyle/>
          <a:p>
            <a:pPr algn="l"/>
            <a:r>
              <a:rPr sz="1400" b="0">
                <a:solidFill>
                  <a:srgbClr val="30373E"/>
                </a:solidFill>
                <a:latin typeface="Arial"/>
              </a:rPr>
              <a:t>BCrypt realiza un hash de la contraseña; JWT representa el token con el que se mantiene la sesión/autorización.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Módulos principales del sistema</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12</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Cada módulo responde a una parte del proceso</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12</a:t>
            </a:r>
          </a:p>
        </p:txBody>
      </p:sp>
      <p:sp>
        <p:nvSpPr>
          <p:cNvPr id="8" name="Rounded Rectangle 7"/>
          <p:cNvSpPr/>
          <p:nvPr/>
        </p:nvSpPr>
        <p:spPr>
          <a:xfrm>
            <a:off x="502920" y="1325880"/>
            <a:ext cx="2514600" cy="1600200"/>
          </a:xfrm>
          <a:prstGeom prst="roundRect">
            <a:avLst/>
          </a:prstGeom>
          <a:solidFill>
            <a:srgbClr val="E2EFF9"/>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53895"/>
            <a:ext cx="2185416" cy="347472"/>
          </a:xfrm>
          <a:prstGeom prst="rect">
            <a:avLst/>
          </a:prstGeom>
          <a:noFill/>
        </p:spPr>
        <p:txBody>
          <a:bodyPr wrap="square" anchor="t">
            <a:spAutoFit/>
          </a:bodyPr>
          <a:lstStyle/>
          <a:p>
            <a:pPr algn="l"/>
            <a:r>
              <a:rPr sz="1600" b="1">
                <a:solidFill>
                  <a:srgbClr val="2D70AA"/>
                </a:solidFill>
                <a:latin typeface="Arial"/>
              </a:rPr>
              <a:t>Usuarios</a:t>
            </a:r>
          </a:p>
        </p:txBody>
      </p:sp>
      <p:sp>
        <p:nvSpPr>
          <p:cNvPr id="10" name="TextBox 9"/>
          <p:cNvSpPr txBox="1"/>
          <p:nvPr/>
        </p:nvSpPr>
        <p:spPr>
          <a:xfrm>
            <a:off x="667512" y="1892807"/>
            <a:ext cx="2185416" cy="914400"/>
          </a:xfrm>
          <a:prstGeom prst="rect">
            <a:avLst/>
          </a:prstGeom>
          <a:noFill/>
        </p:spPr>
        <p:txBody>
          <a:bodyPr wrap="square" anchor="t">
            <a:spAutoFit/>
          </a:bodyPr>
          <a:lstStyle/>
          <a:p>
            <a:pPr algn="l"/>
            <a:r>
              <a:rPr sz="1300" b="0">
                <a:solidFill>
                  <a:srgbClr val="30373E"/>
                </a:solidFill>
                <a:latin typeface="Arial"/>
              </a:rPr>
              <a:t>Registro, login y roles</a:t>
            </a:r>
          </a:p>
        </p:txBody>
      </p:sp>
      <p:sp>
        <p:nvSpPr>
          <p:cNvPr id="11" name="Oval 10"/>
          <p:cNvSpPr/>
          <p:nvPr/>
        </p:nvSpPr>
        <p:spPr>
          <a:xfrm>
            <a:off x="2468880" y="1490472"/>
            <a:ext cx="347472" cy="347472"/>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1499616"/>
            <a:ext cx="347472" cy="329184"/>
          </a:xfrm>
          <a:prstGeom prst="rect">
            <a:avLst/>
          </a:prstGeom>
          <a:noFill/>
        </p:spPr>
        <p:txBody>
          <a:bodyPr wrap="square" anchor="ctr">
            <a:spAutoFit/>
          </a:bodyPr>
          <a:lstStyle/>
          <a:p>
            <a:pPr algn="ctr"/>
            <a:r>
              <a:rPr sz="1200" b="1">
                <a:solidFill>
                  <a:srgbClr val="FFFFFF"/>
                </a:solidFill>
                <a:latin typeface="Arial"/>
              </a:rPr>
              <a:t>1</a:t>
            </a:r>
          </a:p>
        </p:txBody>
      </p:sp>
      <p:sp>
        <p:nvSpPr>
          <p:cNvPr id="13" name="Rounded Rectangle 12"/>
          <p:cNvSpPr/>
          <p:nvPr/>
        </p:nvSpPr>
        <p:spPr>
          <a:xfrm>
            <a:off x="3383280" y="1325880"/>
            <a:ext cx="2514600" cy="1600200"/>
          </a:xfrm>
          <a:prstGeom prst="roundRect">
            <a:avLst/>
          </a:prstGeom>
          <a:solidFill>
            <a:srgbClr val="E5F2E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47872" y="1453895"/>
            <a:ext cx="2185416" cy="347472"/>
          </a:xfrm>
          <a:prstGeom prst="rect">
            <a:avLst/>
          </a:prstGeom>
          <a:noFill/>
        </p:spPr>
        <p:txBody>
          <a:bodyPr wrap="square" anchor="t">
            <a:spAutoFit/>
          </a:bodyPr>
          <a:lstStyle/>
          <a:p>
            <a:pPr algn="l"/>
            <a:r>
              <a:rPr sz="1600" b="1">
                <a:solidFill>
                  <a:srgbClr val="4F9667"/>
                </a:solidFill>
                <a:latin typeface="Arial"/>
              </a:rPr>
              <a:t>Catálogo</a:t>
            </a:r>
          </a:p>
        </p:txBody>
      </p:sp>
      <p:sp>
        <p:nvSpPr>
          <p:cNvPr id="15" name="TextBox 14"/>
          <p:cNvSpPr txBox="1"/>
          <p:nvPr/>
        </p:nvSpPr>
        <p:spPr>
          <a:xfrm>
            <a:off x="3547872" y="1892807"/>
            <a:ext cx="2185416" cy="914400"/>
          </a:xfrm>
          <a:prstGeom prst="rect">
            <a:avLst/>
          </a:prstGeom>
          <a:noFill/>
        </p:spPr>
        <p:txBody>
          <a:bodyPr wrap="square" anchor="t">
            <a:spAutoFit/>
          </a:bodyPr>
          <a:lstStyle/>
          <a:p>
            <a:pPr algn="l"/>
            <a:r>
              <a:rPr sz="1300" b="0">
                <a:solidFill>
                  <a:srgbClr val="30373E"/>
                </a:solidFill>
                <a:latin typeface="Arial"/>
              </a:rPr>
              <a:t>Categorías, servicios y precios</a:t>
            </a:r>
          </a:p>
        </p:txBody>
      </p:sp>
      <p:sp>
        <p:nvSpPr>
          <p:cNvPr id="16" name="Oval 15"/>
          <p:cNvSpPr/>
          <p:nvPr/>
        </p:nvSpPr>
        <p:spPr>
          <a:xfrm>
            <a:off x="5349240" y="1490472"/>
            <a:ext cx="347472" cy="347472"/>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49240" y="1499616"/>
            <a:ext cx="347472" cy="329184"/>
          </a:xfrm>
          <a:prstGeom prst="rect">
            <a:avLst/>
          </a:prstGeom>
          <a:noFill/>
        </p:spPr>
        <p:txBody>
          <a:bodyPr wrap="square" anchor="ctr">
            <a:spAutoFit/>
          </a:bodyPr>
          <a:lstStyle/>
          <a:p>
            <a:pPr algn="ctr"/>
            <a:r>
              <a:rPr sz="1200" b="1">
                <a:solidFill>
                  <a:srgbClr val="FFFFFF"/>
                </a:solidFill>
                <a:latin typeface="Arial"/>
              </a:rPr>
              <a:t>2</a:t>
            </a:r>
          </a:p>
        </p:txBody>
      </p:sp>
      <p:sp>
        <p:nvSpPr>
          <p:cNvPr id="18" name="Rounded Rectangle 17"/>
          <p:cNvSpPr/>
          <p:nvPr/>
        </p:nvSpPr>
        <p:spPr>
          <a:xfrm>
            <a:off x="6263640" y="1325880"/>
            <a:ext cx="2514600" cy="1600200"/>
          </a:xfrm>
          <a:prstGeom prst="roundRect">
            <a:avLst/>
          </a:prstGeom>
          <a:solidFill>
            <a:srgbClr val="FCEFDC"/>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1" y="1453895"/>
            <a:ext cx="2185416" cy="347472"/>
          </a:xfrm>
          <a:prstGeom prst="rect">
            <a:avLst/>
          </a:prstGeom>
          <a:noFill/>
        </p:spPr>
        <p:txBody>
          <a:bodyPr wrap="square" anchor="t">
            <a:spAutoFit/>
          </a:bodyPr>
          <a:lstStyle/>
          <a:p>
            <a:pPr algn="l"/>
            <a:r>
              <a:rPr sz="1600" b="1">
                <a:solidFill>
                  <a:srgbClr val="E69138"/>
                </a:solidFill>
                <a:latin typeface="Arial"/>
              </a:rPr>
              <a:t>Pedidos</a:t>
            </a:r>
          </a:p>
        </p:txBody>
      </p:sp>
      <p:sp>
        <p:nvSpPr>
          <p:cNvPr id="20" name="TextBox 19"/>
          <p:cNvSpPr txBox="1"/>
          <p:nvPr/>
        </p:nvSpPr>
        <p:spPr>
          <a:xfrm>
            <a:off x="6428231" y="1892807"/>
            <a:ext cx="2185416" cy="914400"/>
          </a:xfrm>
          <a:prstGeom prst="rect">
            <a:avLst/>
          </a:prstGeom>
          <a:noFill/>
        </p:spPr>
        <p:txBody>
          <a:bodyPr wrap="square" anchor="t">
            <a:spAutoFit/>
          </a:bodyPr>
          <a:lstStyle/>
          <a:p>
            <a:pPr algn="l"/>
            <a:r>
              <a:rPr sz="1300" b="0">
                <a:solidFill>
                  <a:srgbClr val="30373E"/>
                </a:solidFill>
                <a:latin typeface="Arial"/>
              </a:rPr>
              <a:t>Solicitudes, pedidos y seguimiento</a:t>
            </a:r>
          </a:p>
        </p:txBody>
      </p:sp>
      <p:sp>
        <p:nvSpPr>
          <p:cNvPr id="21" name="Oval 20"/>
          <p:cNvSpPr/>
          <p:nvPr/>
        </p:nvSpPr>
        <p:spPr>
          <a:xfrm>
            <a:off x="8229600" y="1490472"/>
            <a:ext cx="347472" cy="347472"/>
          </a:xfrm>
          <a:prstGeom prst="ellipse">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1499616"/>
            <a:ext cx="347472" cy="329184"/>
          </a:xfrm>
          <a:prstGeom prst="rect">
            <a:avLst/>
          </a:prstGeom>
          <a:noFill/>
        </p:spPr>
        <p:txBody>
          <a:bodyPr wrap="square" anchor="ctr">
            <a:spAutoFit/>
          </a:bodyPr>
          <a:lstStyle/>
          <a:p>
            <a:pPr algn="ctr"/>
            <a:r>
              <a:rPr sz="1200" b="1">
                <a:solidFill>
                  <a:srgbClr val="FFFFFF"/>
                </a:solidFill>
                <a:latin typeface="Arial"/>
              </a:rPr>
              <a:t>3</a:t>
            </a:r>
          </a:p>
        </p:txBody>
      </p:sp>
      <p:sp>
        <p:nvSpPr>
          <p:cNvPr id="23" name="Rounded Rectangle 22"/>
          <p:cNvSpPr/>
          <p:nvPr/>
        </p:nvSpPr>
        <p:spPr>
          <a:xfrm>
            <a:off x="9144000" y="1325880"/>
            <a:ext cx="2514600" cy="1600200"/>
          </a:xfrm>
          <a:prstGeom prst="roundRect">
            <a:avLst/>
          </a:prstGeom>
          <a:solidFill>
            <a:srgbClr val="EFEA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08592" y="1453895"/>
            <a:ext cx="2185416" cy="347472"/>
          </a:xfrm>
          <a:prstGeom prst="rect">
            <a:avLst/>
          </a:prstGeom>
          <a:noFill/>
        </p:spPr>
        <p:txBody>
          <a:bodyPr wrap="square" anchor="t">
            <a:spAutoFit/>
          </a:bodyPr>
          <a:lstStyle/>
          <a:p>
            <a:pPr algn="l"/>
            <a:r>
              <a:rPr sz="1600" b="1">
                <a:solidFill>
                  <a:srgbClr val="745B9B"/>
                </a:solidFill>
                <a:latin typeface="Arial"/>
              </a:rPr>
              <a:t>Diseño</a:t>
            </a:r>
          </a:p>
        </p:txBody>
      </p:sp>
      <p:sp>
        <p:nvSpPr>
          <p:cNvPr id="25" name="TextBox 24"/>
          <p:cNvSpPr txBox="1"/>
          <p:nvPr/>
        </p:nvSpPr>
        <p:spPr>
          <a:xfrm>
            <a:off x="9308592" y="1892807"/>
            <a:ext cx="2185416" cy="914400"/>
          </a:xfrm>
          <a:prstGeom prst="rect">
            <a:avLst/>
          </a:prstGeom>
          <a:noFill/>
        </p:spPr>
        <p:txBody>
          <a:bodyPr wrap="square" anchor="t">
            <a:spAutoFit/>
          </a:bodyPr>
          <a:lstStyle/>
          <a:p>
            <a:pPr algn="l"/>
            <a:r>
              <a:rPr sz="1300" b="0">
                <a:solidFill>
                  <a:srgbClr val="30373E"/>
                </a:solidFill>
                <a:latin typeface="Arial"/>
              </a:rPr>
              <a:t>Versiones, aprobación y observaciones</a:t>
            </a:r>
          </a:p>
        </p:txBody>
      </p:sp>
      <p:sp>
        <p:nvSpPr>
          <p:cNvPr id="26" name="Oval 25"/>
          <p:cNvSpPr/>
          <p:nvPr/>
        </p:nvSpPr>
        <p:spPr>
          <a:xfrm>
            <a:off x="11109960" y="1490472"/>
            <a:ext cx="347472" cy="347472"/>
          </a:xfrm>
          <a:prstGeom prst="ellipse">
            <a:avLst/>
          </a:prstGeom>
          <a:solidFill>
            <a:srgbClr val="74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109960" y="1499616"/>
            <a:ext cx="347472" cy="329184"/>
          </a:xfrm>
          <a:prstGeom prst="rect">
            <a:avLst/>
          </a:prstGeom>
          <a:noFill/>
        </p:spPr>
        <p:txBody>
          <a:bodyPr wrap="square" anchor="ctr">
            <a:spAutoFit/>
          </a:bodyPr>
          <a:lstStyle/>
          <a:p>
            <a:pPr algn="ctr"/>
            <a:r>
              <a:rPr sz="1200" b="1">
                <a:solidFill>
                  <a:srgbClr val="FFFFFF"/>
                </a:solidFill>
                <a:latin typeface="Arial"/>
              </a:rPr>
              <a:t>4</a:t>
            </a:r>
          </a:p>
        </p:txBody>
      </p:sp>
      <p:sp>
        <p:nvSpPr>
          <p:cNvPr id="28" name="Rounded Rectangle 27"/>
          <p:cNvSpPr/>
          <p:nvPr/>
        </p:nvSpPr>
        <p:spPr>
          <a:xfrm>
            <a:off x="502920" y="3383280"/>
            <a:ext cx="2514600" cy="1600200"/>
          </a:xfrm>
          <a:prstGeom prst="roundRect">
            <a:avLst/>
          </a:prstGeom>
          <a:solidFill>
            <a:srgbClr val="E4F5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511296"/>
            <a:ext cx="2185416" cy="347472"/>
          </a:xfrm>
          <a:prstGeom prst="rect">
            <a:avLst/>
          </a:prstGeom>
          <a:noFill/>
        </p:spPr>
        <p:txBody>
          <a:bodyPr wrap="square" anchor="t">
            <a:spAutoFit/>
          </a:bodyPr>
          <a:lstStyle/>
          <a:p>
            <a:pPr algn="l"/>
            <a:r>
              <a:rPr sz="1600" b="1">
                <a:solidFill>
                  <a:srgbClr val="47A4B8"/>
                </a:solidFill>
                <a:latin typeface="Arial"/>
              </a:rPr>
              <a:t>Producción</a:t>
            </a:r>
          </a:p>
        </p:txBody>
      </p:sp>
      <p:sp>
        <p:nvSpPr>
          <p:cNvPr id="30" name="TextBox 29"/>
          <p:cNvSpPr txBox="1"/>
          <p:nvPr/>
        </p:nvSpPr>
        <p:spPr>
          <a:xfrm>
            <a:off x="667512" y="3950208"/>
            <a:ext cx="2185416" cy="914400"/>
          </a:xfrm>
          <a:prstGeom prst="rect">
            <a:avLst/>
          </a:prstGeom>
          <a:noFill/>
        </p:spPr>
        <p:txBody>
          <a:bodyPr wrap="square" anchor="t">
            <a:spAutoFit/>
          </a:bodyPr>
          <a:lstStyle/>
          <a:p>
            <a:pPr algn="l"/>
            <a:r>
              <a:rPr sz="1300" b="0">
                <a:solidFill>
                  <a:srgbClr val="30373E"/>
                </a:solidFill>
                <a:latin typeface="Arial"/>
              </a:rPr>
              <a:t>Ordenes, estados y avances</a:t>
            </a:r>
          </a:p>
        </p:txBody>
      </p:sp>
      <p:sp>
        <p:nvSpPr>
          <p:cNvPr id="31" name="Oval 30"/>
          <p:cNvSpPr/>
          <p:nvPr/>
        </p:nvSpPr>
        <p:spPr>
          <a:xfrm>
            <a:off x="2468880" y="3547872"/>
            <a:ext cx="347472" cy="347472"/>
          </a:xfrm>
          <a:prstGeom prst="ellipse">
            <a:avLst/>
          </a:prstGeom>
          <a:solidFill>
            <a:srgbClr val="47A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68880" y="3557016"/>
            <a:ext cx="347472" cy="329184"/>
          </a:xfrm>
          <a:prstGeom prst="rect">
            <a:avLst/>
          </a:prstGeom>
          <a:noFill/>
        </p:spPr>
        <p:txBody>
          <a:bodyPr wrap="square" anchor="ctr">
            <a:spAutoFit/>
          </a:bodyPr>
          <a:lstStyle/>
          <a:p>
            <a:pPr algn="ctr"/>
            <a:r>
              <a:rPr sz="1200" b="1">
                <a:solidFill>
                  <a:srgbClr val="FFFFFF"/>
                </a:solidFill>
                <a:latin typeface="Arial"/>
              </a:rPr>
              <a:t>5</a:t>
            </a:r>
          </a:p>
        </p:txBody>
      </p:sp>
      <p:sp>
        <p:nvSpPr>
          <p:cNvPr id="33" name="Rounded Rectangle 32"/>
          <p:cNvSpPr/>
          <p:nvPr/>
        </p:nvSpPr>
        <p:spPr>
          <a:xfrm>
            <a:off x="3383280" y="3383280"/>
            <a:ext cx="2514600" cy="1600200"/>
          </a:xfrm>
          <a:prstGeom prst="roundRect">
            <a:avLst/>
          </a:prstGeom>
          <a:solidFill>
            <a:srgbClr val="FAE5E5"/>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47872" y="3511296"/>
            <a:ext cx="2185416" cy="347472"/>
          </a:xfrm>
          <a:prstGeom prst="rect">
            <a:avLst/>
          </a:prstGeom>
          <a:noFill/>
        </p:spPr>
        <p:txBody>
          <a:bodyPr wrap="square" anchor="t">
            <a:spAutoFit/>
          </a:bodyPr>
          <a:lstStyle/>
          <a:p>
            <a:pPr algn="l"/>
            <a:r>
              <a:rPr sz="1600" b="1">
                <a:solidFill>
                  <a:srgbClr val="C64B4B"/>
                </a:solidFill>
                <a:latin typeface="Arial"/>
              </a:rPr>
              <a:t>Inventario</a:t>
            </a:r>
          </a:p>
        </p:txBody>
      </p:sp>
      <p:sp>
        <p:nvSpPr>
          <p:cNvPr id="35" name="TextBox 34"/>
          <p:cNvSpPr txBox="1"/>
          <p:nvPr/>
        </p:nvSpPr>
        <p:spPr>
          <a:xfrm>
            <a:off x="3547872" y="3950208"/>
            <a:ext cx="2185416" cy="914400"/>
          </a:xfrm>
          <a:prstGeom prst="rect">
            <a:avLst/>
          </a:prstGeom>
          <a:noFill/>
        </p:spPr>
        <p:txBody>
          <a:bodyPr wrap="square" anchor="t">
            <a:spAutoFit/>
          </a:bodyPr>
          <a:lstStyle/>
          <a:p>
            <a:pPr algn="l"/>
            <a:r>
              <a:rPr sz="1300" b="0">
                <a:solidFill>
                  <a:srgbClr val="30373E"/>
                </a:solidFill>
                <a:latin typeface="Arial"/>
              </a:rPr>
              <a:t>Insumos, stock y mínimos</a:t>
            </a:r>
          </a:p>
        </p:txBody>
      </p:sp>
      <p:sp>
        <p:nvSpPr>
          <p:cNvPr id="36" name="Oval 35"/>
          <p:cNvSpPr/>
          <p:nvPr/>
        </p:nvSpPr>
        <p:spPr>
          <a:xfrm>
            <a:off x="5349240" y="3547872"/>
            <a:ext cx="347472" cy="347472"/>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49240" y="3557016"/>
            <a:ext cx="347472" cy="329184"/>
          </a:xfrm>
          <a:prstGeom prst="rect">
            <a:avLst/>
          </a:prstGeom>
          <a:noFill/>
        </p:spPr>
        <p:txBody>
          <a:bodyPr wrap="square" anchor="ctr">
            <a:spAutoFit/>
          </a:bodyPr>
          <a:lstStyle/>
          <a:p>
            <a:pPr algn="ctr"/>
            <a:r>
              <a:rPr sz="1200" b="1">
                <a:solidFill>
                  <a:srgbClr val="FFFFFF"/>
                </a:solidFill>
                <a:latin typeface="Arial"/>
              </a:rPr>
              <a:t>6</a:t>
            </a:r>
          </a:p>
        </p:txBody>
      </p:sp>
      <p:sp>
        <p:nvSpPr>
          <p:cNvPr id="38" name="Rounded Rectangle 37"/>
          <p:cNvSpPr/>
          <p:nvPr/>
        </p:nvSpPr>
        <p:spPr>
          <a:xfrm>
            <a:off x="6263640" y="3383280"/>
            <a:ext cx="2514600" cy="1600200"/>
          </a:xfrm>
          <a:prstGeom prst="roundRect">
            <a:avLst/>
          </a:prstGeom>
          <a:solidFill>
            <a:srgbClr val="FCF7DE"/>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8231" y="3511296"/>
            <a:ext cx="2185416" cy="347472"/>
          </a:xfrm>
          <a:prstGeom prst="rect">
            <a:avLst/>
          </a:prstGeom>
          <a:noFill/>
        </p:spPr>
        <p:txBody>
          <a:bodyPr wrap="square" anchor="t">
            <a:spAutoFit/>
          </a:bodyPr>
          <a:lstStyle/>
          <a:p>
            <a:pPr algn="l"/>
            <a:r>
              <a:rPr sz="1600" b="1">
                <a:solidFill>
                  <a:srgbClr val="ECC148"/>
                </a:solidFill>
                <a:latin typeface="Arial"/>
              </a:rPr>
              <a:t>Notificaciones</a:t>
            </a:r>
          </a:p>
        </p:txBody>
      </p:sp>
      <p:sp>
        <p:nvSpPr>
          <p:cNvPr id="40" name="TextBox 39"/>
          <p:cNvSpPr txBox="1"/>
          <p:nvPr/>
        </p:nvSpPr>
        <p:spPr>
          <a:xfrm>
            <a:off x="6428231" y="3950208"/>
            <a:ext cx="2185416" cy="914400"/>
          </a:xfrm>
          <a:prstGeom prst="rect">
            <a:avLst/>
          </a:prstGeom>
          <a:noFill/>
        </p:spPr>
        <p:txBody>
          <a:bodyPr wrap="square" anchor="t">
            <a:spAutoFit/>
          </a:bodyPr>
          <a:lstStyle/>
          <a:p>
            <a:pPr algn="l"/>
            <a:r>
              <a:rPr sz="1300" b="0">
                <a:solidFill>
                  <a:srgbClr val="30373E"/>
                </a:solidFill>
                <a:latin typeface="Arial"/>
              </a:rPr>
              <a:t>Avisos relacionados con pedidos</a:t>
            </a:r>
          </a:p>
        </p:txBody>
      </p:sp>
      <p:sp>
        <p:nvSpPr>
          <p:cNvPr id="41" name="Oval 40"/>
          <p:cNvSpPr/>
          <p:nvPr/>
        </p:nvSpPr>
        <p:spPr>
          <a:xfrm>
            <a:off x="8229600" y="3547872"/>
            <a:ext cx="347472" cy="347472"/>
          </a:xfrm>
          <a:prstGeom prst="ellipse">
            <a:avLst/>
          </a:prstGeom>
          <a:solidFill>
            <a:srgbClr val="ECC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0" y="3557016"/>
            <a:ext cx="347472" cy="329184"/>
          </a:xfrm>
          <a:prstGeom prst="rect">
            <a:avLst/>
          </a:prstGeom>
          <a:noFill/>
        </p:spPr>
        <p:txBody>
          <a:bodyPr wrap="square" anchor="ctr">
            <a:spAutoFit/>
          </a:bodyPr>
          <a:lstStyle/>
          <a:p>
            <a:pPr algn="ctr"/>
            <a:r>
              <a:rPr sz="1200" b="1">
                <a:solidFill>
                  <a:srgbClr val="FFFFFF"/>
                </a:solidFill>
                <a:latin typeface="Arial"/>
              </a:rPr>
              <a:t>7</a:t>
            </a:r>
          </a:p>
        </p:txBody>
      </p:sp>
      <p:sp>
        <p:nvSpPr>
          <p:cNvPr id="43" name="Rounded Rectangle 42"/>
          <p:cNvSpPr/>
          <p:nvPr/>
        </p:nvSpPr>
        <p:spPr>
          <a:xfrm>
            <a:off x="9144000" y="3383280"/>
            <a:ext cx="2514600" cy="1600200"/>
          </a:xfrm>
          <a:prstGeom prst="roundRect">
            <a:avLst/>
          </a:prstGeom>
          <a:solidFill>
            <a:srgbClr val="E5EBF1"/>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08592" y="3511296"/>
            <a:ext cx="2185416" cy="347472"/>
          </a:xfrm>
          <a:prstGeom prst="rect">
            <a:avLst/>
          </a:prstGeom>
          <a:noFill/>
        </p:spPr>
        <p:txBody>
          <a:bodyPr wrap="square" anchor="t">
            <a:spAutoFit/>
          </a:bodyPr>
          <a:lstStyle/>
          <a:p>
            <a:pPr algn="l"/>
            <a:r>
              <a:rPr sz="1600" b="1">
                <a:solidFill>
                  <a:srgbClr val="183F66"/>
                </a:solidFill>
                <a:latin typeface="Arial"/>
              </a:rPr>
              <a:t>Reportes</a:t>
            </a:r>
          </a:p>
        </p:txBody>
      </p:sp>
      <p:sp>
        <p:nvSpPr>
          <p:cNvPr id="45" name="TextBox 44"/>
          <p:cNvSpPr txBox="1"/>
          <p:nvPr/>
        </p:nvSpPr>
        <p:spPr>
          <a:xfrm>
            <a:off x="9308592" y="3950208"/>
            <a:ext cx="2185416" cy="914400"/>
          </a:xfrm>
          <a:prstGeom prst="rect">
            <a:avLst/>
          </a:prstGeom>
          <a:noFill/>
        </p:spPr>
        <p:txBody>
          <a:bodyPr wrap="square" anchor="t">
            <a:spAutoFit/>
          </a:bodyPr>
          <a:lstStyle/>
          <a:p>
            <a:pPr algn="l"/>
            <a:r>
              <a:rPr sz="1300" b="0">
                <a:solidFill>
                  <a:srgbClr val="30373E"/>
                </a:solidFill>
                <a:latin typeface="Arial"/>
              </a:rPr>
              <a:t>Consulta de información operativa</a:t>
            </a:r>
          </a:p>
        </p:txBody>
      </p:sp>
      <p:sp>
        <p:nvSpPr>
          <p:cNvPr id="46" name="Oval 45"/>
          <p:cNvSpPr/>
          <p:nvPr/>
        </p:nvSpPr>
        <p:spPr>
          <a:xfrm>
            <a:off x="11109960" y="3547872"/>
            <a:ext cx="347472" cy="347472"/>
          </a:xfrm>
          <a:prstGeom prst="ellipse">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109960" y="3557016"/>
            <a:ext cx="347472" cy="329184"/>
          </a:xfrm>
          <a:prstGeom prst="rect">
            <a:avLst/>
          </a:prstGeom>
          <a:noFill/>
        </p:spPr>
        <p:txBody>
          <a:bodyPr wrap="square" anchor="ctr">
            <a:spAutoFit/>
          </a:bodyPr>
          <a:lstStyle/>
          <a:p>
            <a:pPr algn="ctr"/>
            <a:r>
              <a:rPr sz="1200" b="1">
                <a:solidFill>
                  <a:srgbClr val="FFFFFF"/>
                </a:solidFill>
                <a:latin typeface="Arial"/>
              </a:rPr>
              <a:t>8</a:t>
            </a:r>
          </a:p>
        </p:txBody>
      </p:sp>
      <p:sp>
        <p:nvSpPr>
          <p:cNvPr id="48" name="Rounded Rectangle 47"/>
          <p:cNvSpPr/>
          <p:nvPr/>
        </p:nvSpPr>
        <p:spPr>
          <a:xfrm>
            <a:off x="2971800" y="5715000"/>
            <a:ext cx="6217920" cy="411480"/>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71800" y="5724144"/>
            <a:ext cx="6217920" cy="393192"/>
          </a:xfrm>
          <a:prstGeom prst="rect">
            <a:avLst/>
          </a:prstGeom>
          <a:noFill/>
        </p:spPr>
        <p:txBody>
          <a:bodyPr wrap="square" anchor="ctr">
            <a:spAutoFit/>
          </a:bodyPr>
          <a:lstStyle/>
          <a:p>
            <a:pPr algn="ctr"/>
            <a:r>
              <a:rPr sz="1200" b="1">
                <a:solidFill>
                  <a:srgbClr val="183F66"/>
                </a:solidFill>
                <a:latin typeface="Arial"/>
              </a:rPr>
              <a:t>Los módulos se comunican mediante servicios web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Alcance del proyecto</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13</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Qué incluye SIGIP y qué dejamos fuera del alcance</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13</a:t>
            </a:r>
          </a:p>
        </p:txBody>
      </p:sp>
      <p:sp>
        <p:nvSpPr>
          <p:cNvPr id="8" name="Rounded Rectangle 7"/>
          <p:cNvSpPr/>
          <p:nvPr/>
        </p:nvSpPr>
        <p:spPr>
          <a:xfrm>
            <a:off x="594360" y="1234440"/>
            <a:ext cx="5394960" cy="4800600"/>
          </a:xfrm>
          <a:prstGeom prst="roundRect">
            <a:avLst/>
          </a:prstGeom>
          <a:solidFill>
            <a:srgbClr val="E5F2E8"/>
          </a:solidFill>
          <a:ln w="13970">
            <a:solidFill>
              <a:srgbClr val="B5D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5065776" cy="347472"/>
          </a:xfrm>
          <a:prstGeom prst="rect">
            <a:avLst/>
          </a:prstGeom>
          <a:noFill/>
        </p:spPr>
        <p:txBody>
          <a:bodyPr wrap="square" anchor="t">
            <a:spAutoFit/>
          </a:bodyPr>
          <a:lstStyle/>
          <a:p>
            <a:pPr algn="l"/>
            <a:r>
              <a:rPr sz="1700" b="1">
                <a:solidFill>
                  <a:srgbClr val="4F9667"/>
                </a:solidFill>
                <a:latin typeface="Arial"/>
              </a:rPr>
              <a:t>INCLUYE</a:t>
            </a:r>
          </a:p>
        </p:txBody>
      </p:sp>
      <p:sp>
        <p:nvSpPr>
          <p:cNvPr id="10" name="Oval 9"/>
          <p:cNvSpPr/>
          <p:nvPr/>
        </p:nvSpPr>
        <p:spPr>
          <a:xfrm>
            <a:off x="868680" y="1901952"/>
            <a:ext cx="310896" cy="310896"/>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11095"/>
            <a:ext cx="310896" cy="292608"/>
          </a:xfrm>
          <a:prstGeom prst="rect">
            <a:avLst/>
          </a:prstGeom>
          <a:noFill/>
        </p:spPr>
        <p:txBody>
          <a:bodyPr wrap="square" anchor="ctr">
            <a:spAutoFit/>
          </a:bodyPr>
          <a:lstStyle/>
          <a:p>
            <a:pPr algn="ctr"/>
            <a:r>
              <a:rPr sz="1200" b="1">
                <a:solidFill>
                  <a:srgbClr val="FFFFFF"/>
                </a:solidFill>
                <a:latin typeface="Arial"/>
              </a:rPr>
              <a:t>✓</a:t>
            </a:r>
          </a:p>
        </p:txBody>
      </p:sp>
      <p:sp>
        <p:nvSpPr>
          <p:cNvPr id="12" name="TextBox 11"/>
          <p:cNvSpPr txBox="1"/>
          <p:nvPr/>
        </p:nvSpPr>
        <p:spPr>
          <a:xfrm>
            <a:off x="1298448" y="1920240"/>
            <a:ext cx="4206240" cy="292608"/>
          </a:xfrm>
          <a:prstGeom prst="rect">
            <a:avLst/>
          </a:prstGeom>
          <a:noFill/>
        </p:spPr>
        <p:txBody>
          <a:bodyPr wrap="square" anchor="t">
            <a:spAutoFit/>
          </a:bodyPr>
          <a:lstStyle/>
          <a:p>
            <a:pPr algn="l"/>
            <a:r>
              <a:rPr sz="1350" b="0">
                <a:solidFill>
                  <a:srgbClr val="30373E"/>
                </a:solidFill>
                <a:latin typeface="Arial"/>
              </a:rPr>
              <a:t>Gestión de usuarios y roles</a:t>
            </a:r>
          </a:p>
        </p:txBody>
      </p:sp>
      <p:sp>
        <p:nvSpPr>
          <p:cNvPr id="13" name="Oval 12"/>
          <p:cNvSpPr/>
          <p:nvPr/>
        </p:nvSpPr>
        <p:spPr>
          <a:xfrm>
            <a:off x="868680" y="2423160"/>
            <a:ext cx="310896" cy="310896"/>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432303"/>
            <a:ext cx="310896" cy="292608"/>
          </a:xfrm>
          <a:prstGeom prst="rect">
            <a:avLst/>
          </a:prstGeom>
          <a:noFill/>
        </p:spPr>
        <p:txBody>
          <a:bodyPr wrap="square" anchor="ctr">
            <a:spAutoFit/>
          </a:bodyPr>
          <a:lstStyle/>
          <a:p>
            <a:pPr algn="ctr"/>
            <a:r>
              <a:rPr sz="1200" b="1">
                <a:solidFill>
                  <a:srgbClr val="FFFFFF"/>
                </a:solidFill>
                <a:latin typeface="Arial"/>
              </a:rPr>
              <a:t>✓</a:t>
            </a:r>
          </a:p>
        </p:txBody>
      </p:sp>
      <p:sp>
        <p:nvSpPr>
          <p:cNvPr id="15" name="TextBox 14"/>
          <p:cNvSpPr txBox="1"/>
          <p:nvPr/>
        </p:nvSpPr>
        <p:spPr>
          <a:xfrm>
            <a:off x="1298448" y="2441448"/>
            <a:ext cx="4206240" cy="292608"/>
          </a:xfrm>
          <a:prstGeom prst="rect">
            <a:avLst/>
          </a:prstGeom>
          <a:noFill/>
        </p:spPr>
        <p:txBody>
          <a:bodyPr wrap="square" anchor="t">
            <a:spAutoFit/>
          </a:bodyPr>
          <a:lstStyle/>
          <a:p>
            <a:pPr algn="l"/>
            <a:r>
              <a:rPr sz="1350" b="0">
                <a:solidFill>
                  <a:srgbClr val="30373E"/>
                </a:solidFill>
                <a:latin typeface="Arial"/>
              </a:rPr>
              <a:t>Catálogo de servicios de impresión</a:t>
            </a:r>
          </a:p>
        </p:txBody>
      </p:sp>
      <p:sp>
        <p:nvSpPr>
          <p:cNvPr id="16" name="Oval 15"/>
          <p:cNvSpPr/>
          <p:nvPr/>
        </p:nvSpPr>
        <p:spPr>
          <a:xfrm>
            <a:off x="868680" y="2944368"/>
            <a:ext cx="310896" cy="310896"/>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953511"/>
            <a:ext cx="310896" cy="292608"/>
          </a:xfrm>
          <a:prstGeom prst="rect">
            <a:avLst/>
          </a:prstGeom>
          <a:noFill/>
        </p:spPr>
        <p:txBody>
          <a:bodyPr wrap="square" anchor="ctr">
            <a:spAutoFit/>
          </a:bodyPr>
          <a:lstStyle/>
          <a:p>
            <a:pPr algn="ctr"/>
            <a:r>
              <a:rPr sz="1200" b="1">
                <a:solidFill>
                  <a:srgbClr val="FFFFFF"/>
                </a:solidFill>
                <a:latin typeface="Arial"/>
              </a:rPr>
              <a:t>✓</a:t>
            </a:r>
          </a:p>
        </p:txBody>
      </p:sp>
      <p:sp>
        <p:nvSpPr>
          <p:cNvPr id="18" name="TextBox 17"/>
          <p:cNvSpPr txBox="1"/>
          <p:nvPr/>
        </p:nvSpPr>
        <p:spPr>
          <a:xfrm>
            <a:off x="1298448" y="2962656"/>
            <a:ext cx="4206240" cy="292608"/>
          </a:xfrm>
          <a:prstGeom prst="rect">
            <a:avLst/>
          </a:prstGeom>
          <a:noFill/>
        </p:spPr>
        <p:txBody>
          <a:bodyPr wrap="square" anchor="t">
            <a:spAutoFit/>
          </a:bodyPr>
          <a:lstStyle/>
          <a:p>
            <a:pPr algn="l"/>
            <a:r>
              <a:rPr sz="1350" b="0">
                <a:solidFill>
                  <a:srgbClr val="30373E"/>
                </a:solidFill>
                <a:latin typeface="Arial"/>
              </a:rPr>
              <a:t>Registro y seguimiento de pedidos</a:t>
            </a:r>
          </a:p>
        </p:txBody>
      </p:sp>
      <p:sp>
        <p:nvSpPr>
          <p:cNvPr id="19" name="Oval 18"/>
          <p:cNvSpPr/>
          <p:nvPr/>
        </p:nvSpPr>
        <p:spPr>
          <a:xfrm>
            <a:off x="868680" y="3465576"/>
            <a:ext cx="310896" cy="310896"/>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474720"/>
            <a:ext cx="310896" cy="292608"/>
          </a:xfrm>
          <a:prstGeom prst="rect">
            <a:avLst/>
          </a:prstGeom>
          <a:noFill/>
        </p:spPr>
        <p:txBody>
          <a:bodyPr wrap="square" anchor="ctr">
            <a:spAutoFit/>
          </a:bodyPr>
          <a:lstStyle/>
          <a:p>
            <a:pPr algn="ctr"/>
            <a:r>
              <a:rPr sz="1200" b="1">
                <a:solidFill>
                  <a:srgbClr val="FFFFFF"/>
                </a:solidFill>
                <a:latin typeface="Arial"/>
              </a:rPr>
              <a:t>✓</a:t>
            </a:r>
          </a:p>
        </p:txBody>
      </p:sp>
      <p:sp>
        <p:nvSpPr>
          <p:cNvPr id="21" name="TextBox 20"/>
          <p:cNvSpPr txBox="1"/>
          <p:nvPr/>
        </p:nvSpPr>
        <p:spPr>
          <a:xfrm>
            <a:off x="1298448" y="3483864"/>
            <a:ext cx="4206240" cy="292608"/>
          </a:xfrm>
          <a:prstGeom prst="rect">
            <a:avLst/>
          </a:prstGeom>
          <a:noFill/>
        </p:spPr>
        <p:txBody>
          <a:bodyPr wrap="square" anchor="t">
            <a:spAutoFit/>
          </a:bodyPr>
          <a:lstStyle/>
          <a:p>
            <a:pPr algn="l"/>
            <a:r>
              <a:rPr sz="1350" b="0">
                <a:solidFill>
                  <a:srgbClr val="30373E"/>
                </a:solidFill>
                <a:latin typeface="Arial"/>
              </a:rPr>
              <a:t>Confirmación / registro del pago</a:t>
            </a:r>
          </a:p>
        </p:txBody>
      </p:sp>
      <p:sp>
        <p:nvSpPr>
          <p:cNvPr id="22" name="Oval 21"/>
          <p:cNvSpPr/>
          <p:nvPr/>
        </p:nvSpPr>
        <p:spPr>
          <a:xfrm>
            <a:off x="868680" y="3986783"/>
            <a:ext cx="310896" cy="310896"/>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995927"/>
            <a:ext cx="310896" cy="292608"/>
          </a:xfrm>
          <a:prstGeom prst="rect">
            <a:avLst/>
          </a:prstGeom>
          <a:noFill/>
        </p:spPr>
        <p:txBody>
          <a:bodyPr wrap="square" anchor="ctr">
            <a:spAutoFit/>
          </a:bodyPr>
          <a:lstStyle/>
          <a:p>
            <a:pPr algn="ctr"/>
            <a:r>
              <a:rPr sz="1200" b="1">
                <a:solidFill>
                  <a:srgbClr val="FFFFFF"/>
                </a:solidFill>
                <a:latin typeface="Arial"/>
              </a:rPr>
              <a:t>✓</a:t>
            </a:r>
          </a:p>
        </p:txBody>
      </p:sp>
      <p:sp>
        <p:nvSpPr>
          <p:cNvPr id="24" name="TextBox 23"/>
          <p:cNvSpPr txBox="1"/>
          <p:nvPr/>
        </p:nvSpPr>
        <p:spPr>
          <a:xfrm>
            <a:off x="1298448" y="4005071"/>
            <a:ext cx="4206240" cy="292608"/>
          </a:xfrm>
          <a:prstGeom prst="rect">
            <a:avLst/>
          </a:prstGeom>
          <a:noFill/>
        </p:spPr>
        <p:txBody>
          <a:bodyPr wrap="square" anchor="t">
            <a:spAutoFit/>
          </a:bodyPr>
          <a:lstStyle/>
          <a:p>
            <a:pPr algn="l"/>
            <a:r>
              <a:rPr sz="1350" b="0">
                <a:solidFill>
                  <a:srgbClr val="30373E"/>
                </a:solidFill>
                <a:latin typeface="Arial"/>
              </a:rPr>
              <a:t>Gestión de diseño y aprobación</a:t>
            </a:r>
          </a:p>
        </p:txBody>
      </p:sp>
      <p:sp>
        <p:nvSpPr>
          <p:cNvPr id="25" name="Oval 24"/>
          <p:cNvSpPr/>
          <p:nvPr/>
        </p:nvSpPr>
        <p:spPr>
          <a:xfrm>
            <a:off x="868680" y="4507992"/>
            <a:ext cx="310896" cy="310896"/>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517136"/>
            <a:ext cx="310896" cy="292608"/>
          </a:xfrm>
          <a:prstGeom prst="rect">
            <a:avLst/>
          </a:prstGeom>
          <a:noFill/>
        </p:spPr>
        <p:txBody>
          <a:bodyPr wrap="square" anchor="ctr">
            <a:spAutoFit/>
          </a:bodyPr>
          <a:lstStyle/>
          <a:p>
            <a:pPr algn="ctr"/>
            <a:r>
              <a:rPr sz="1200" b="1">
                <a:solidFill>
                  <a:srgbClr val="FFFFFF"/>
                </a:solidFill>
                <a:latin typeface="Arial"/>
              </a:rPr>
              <a:t>✓</a:t>
            </a:r>
          </a:p>
        </p:txBody>
      </p:sp>
      <p:sp>
        <p:nvSpPr>
          <p:cNvPr id="27" name="TextBox 26"/>
          <p:cNvSpPr txBox="1"/>
          <p:nvPr/>
        </p:nvSpPr>
        <p:spPr>
          <a:xfrm>
            <a:off x="1298448" y="4526279"/>
            <a:ext cx="4206240" cy="292608"/>
          </a:xfrm>
          <a:prstGeom prst="rect">
            <a:avLst/>
          </a:prstGeom>
          <a:noFill/>
        </p:spPr>
        <p:txBody>
          <a:bodyPr wrap="square" anchor="t">
            <a:spAutoFit/>
          </a:bodyPr>
          <a:lstStyle/>
          <a:p>
            <a:pPr algn="l"/>
            <a:r>
              <a:rPr sz="1350" b="0">
                <a:solidFill>
                  <a:srgbClr val="30373E"/>
                </a:solidFill>
                <a:latin typeface="Arial"/>
              </a:rPr>
              <a:t>Producción e inventario</a:t>
            </a:r>
          </a:p>
        </p:txBody>
      </p:sp>
      <p:sp>
        <p:nvSpPr>
          <p:cNvPr id="28" name="Oval 27"/>
          <p:cNvSpPr/>
          <p:nvPr/>
        </p:nvSpPr>
        <p:spPr>
          <a:xfrm>
            <a:off x="868680" y="5029200"/>
            <a:ext cx="310896" cy="310896"/>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038344"/>
            <a:ext cx="310896" cy="292608"/>
          </a:xfrm>
          <a:prstGeom prst="rect">
            <a:avLst/>
          </a:prstGeom>
          <a:noFill/>
        </p:spPr>
        <p:txBody>
          <a:bodyPr wrap="square" anchor="ctr">
            <a:spAutoFit/>
          </a:bodyPr>
          <a:lstStyle/>
          <a:p>
            <a:pPr algn="ctr"/>
            <a:r>
              <a:rPr sz="1200" b="1">
                <a:solidFill>
                  <a:srgbClr val="FFFFFF"/>
                </a:solidFill>
                <a:latin typeface="Arial"/>
              </a:rPr>
              <a:t>✓</a:t>
            </a:r>
          </a:p>
        </p:txBody>
      </p:sp>
      <p:sp>
        <p:nvSpPr>
          <p:cNvPr id="30" name="TextBox 29"/>
          <p:cNvSpPr txBox="1"/>
          <p:nvPr/>
        </p:nvSpPr>
        <p:spPr>
          <a:xfrm>
            <a:off x="1298448" y="5047488"/>
            <a:ext cx="4206240" cy="292608"/>
          </a:xfrm>
          <a:prstGeom prst="rect">
            <a:avLst/>
          </a:prstGeom>
          <a:noFill/>
        </p:spPr>
        <p:txBody>
          <a:bodyPr wrap="square" anchor="t">
            <a:spAutoFit/>
          </a:bodyPr>
          <a:lstStyle/>
          <a:p>
            <a:pPr algn="l"/>
            <a:r>
              <a:rPr sz="1350" b="0">
                <a:solidFill>
                  <a:srgbClr val="30373E"/>
                </a:solidFill>
                <a:latin typeface="Arial"/>
              </a:rPr>
              <a:t>Notificaciones y reportes básicos</a:t>
            </a:r>
          </a:p>
        </p:txBody>
      </p:sp>
      <p:sp>
        <p:nvSpPr>
          <p:cNvPr id="31" name="Rounded Rectangle 30"/>
          <p:cNvSpPr/>
          <p:nvPr/>
        </p:nvSpPr>
        <p:spPr>
          <a:xfrm>
            <a:off x="6217920" y="1234440"/>
            <a:ext cx="5394960" cy="4800600"/>
          </a:xfrm>
          <a:prstGeom prst="roundRect">
            <a:avLst/>
          </a:prstGeom>
          <a:solidFill>
            <a:srgbClr val="FAE5E5"/>
          </a:solidFill>
          <a:ln w="13970">
            <a:solidFill>
              <a:srgbClr val="E8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82512" y="1362456"/>
            <a:ext cx="5065776" cy="347472"/>
          </a:xfrm>
          <a:prstGeom prst="rect">
            <a:avLst/>
          </a:prstGeom>
          <a:noFill/>
        </p:spPr>
        <p:txBody>
          <a:bodyPr wrap="square" anchor="t">
            <a:spAutoFit/>
          </a:bodyPr>
          <a:lstStyle/>
          <a:p>
            <a:pPr algn="l"/>
            <a:r>
              <a:rPr sz="1700" b="1">
                <a:solidFill>
                  <a:srgbClr val="C64B4B"/>
                </a:solidFill>
                <a:latin typeface="Arial"/>
              </a:rPr>
              <a:t>NO INCLUYE</a:t>
            </a:r>
          </a:p>
        </p:txBody>
      </p:sp>
      <p:sp>
        <p:nvSpPr>
          <p:cNvPr id="33" name="Oval 32"/>
          <p:cNvSpPr/>
          <p:nvPr/>
        </p:nvSpPr>
        <p:spPr>
          <a:xfrm>
            <a:off x="6492240" y="1965960"/>
            <a:ext cx="310896" cy="310896"/>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1975103"/>
            <a:ext cx="310896" cy="292608"/>
          </a:xfrm>
          <a:prstGeom prst="rect">
            <a:avLst/>
          </a:prstGeom>
          <a:noFill/>
        </p:spPr>
        <p:txBody>
          <a:bodyPr wrap="square" anchor="ctr">
            <a:spAutoFit/>
          </a:bodyPr>
          <a:lstStyle/>
          <a:p>
            <a:pPr algn="ctr"/>
            <a:r>
              <a:rPr sz="1300" b="1">
                <a:solidFill>
                  <a:srgbClr val="FFFFFF"/>
                </a:solidFill>
                <a:latin typeface="Arial"/>
              </a:rPr>
              <a:t>×</a:t>
            </a:r>
          </a:p>
        </p:txBody>
      </p:sp>
      <p:sp>
        <p:nvSpPr>
          <p:cNvPr id="35" name="TextBox 34"/>
          <p:cNvSpPr txBox="1"/>
          <p:nvPr/>
        </p:nvSpPr>
        <p:spPr>
          <a:xfrm>
            <a:off x="6922008" y="1984248"/>
            <a:ext cx="4206240" cy="310896"/>
          </a:xfrm>
          <a:prstGeom prst="rect">
            <a:avLst/>
          </a:prstGeom>
          <a:noFill/>
        </p:spPr>
        <p:txBody>
          <a:bodyPr wrap="square" anchor="t">
            <a:spAutoFit/>
          </a:bodyPr>
          <a:lstStyle/>
          <a:p>
            <a:pPr algn="l"/>
            <a:r>
              <a:rPr sz="1400" b="0">
                <a:solidFill>
                  <a:srgbClr val="30373E"/>
                </a:solidFill>
                <a:latin typeface="Arial"/>
              </a:rPr>
              <a:t>Pasarela bancaria real</a:t>
            </a:r>
          </a:p>
        </p:txBody>
      </p:sp>
      <p:sp>
        <p:nvSpPr>
          <p:cNvPr id="36" name="Oval 35"/>
          <p:cNvSpPr/>
          <p:nvPr/>
        </p:nvSpPr>
        <p:spPr>
          <a:xfrm>
            <a:off x="6492240" y="2624328"/>
            <a:ext cx="310896" cy="310896"/>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2633472"/>
            <a:ext cx="310896" cy="292608"/>
          </a:xfrm>
          <a:prstGeom prst="rect">
            <a:avLst/>
          </a:prstGeom>
          <a:noFill/>
        </p:spPr>
        <p:txBody>
          <a:bodyPr wrap="square" anchor="ctr">
            <a:spAutoFit/>
          </a:bodyPr>
          <a:lstStyle/>
          <a:p>
            <a:pPr algn="ctr"/>
            <a:r>
              <a:rPr sz="1300" b="1">
                <a:solidFill>
                  <a:srgbClr val="FFFFFF"/>
                </a:solidFill>
                <a:latin typeface="Arial"/>
              </a:rPr>
              <a:t>×</a:t>
            </a:r>
          </a:p>
        </p:txBody>
      </p:sp>
      <p:sp>
        <p:nvSpPr>
          <p:cNvPr id="38" name="TextBox 37"/>
          <p:cNvSpPr txBox="1"/>
          <p:nvPr/>
        </p:nvSpPr>
        <p:spPr>
          <a:xfrm>
            <a:off x="6922008" y="2642616"/>
            <a:ext cx="4206240" cy="310896"/>
          </a:xfrm>
          <a:prstGeom prst="rect">
            <a:avLst/>
          </a:prstGeom>
          <a:noFill/>
        </p:spPr>
        <p:txBody>
          <a:bodyPr wrap="square" anchor="t">
            <a:spAutoFit/>
          </a:bodyPr>
          <a:lstStyle/>
          <a:p>
            <a:pPr algn="l"/>
            <a:r>
              <a:rPr sz="1400" b="0">
                <a:solidFill>
                  <a:srgbClr val="30373E"/>
                </a:solidFill>
                <a:latin typeface="Arial"/>
              </a:rPr>
              <a:t>Facturación electrónica</a:t>
            </a:r>
          </a:p>
        </p:txBody>
      </p:sp>
      <p:sp>
        <p:nvSpPr>
          <p:cNvPr id="39" name="Oval 38"/>
          <p:cNvSpPr/>
          <p:nvPr/>
        </p:nvSpPr>
        <p:spPr>
          <a:xfrm>
            <a:off x="6492240" y="3282696"/>
            <a:ext cx="310896" cy="310896"/>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3291839"/>
            <a:ext cx="310896" cy="292608"/>
          </a:xfrm>
          <a:prstGeom prst="rect">
            <a:avLst/>
          </a:prstGeom>
          <a:noFill/>
        </p:spPr>
        <p:txBody>
          <a:bodyPr wrap="square" anchor="ctr">
            <a:spAutoFit/>
          </a:bodyPr>
          <a:lstStyle/>
          <a:p>
            <a:pPr algn="ctr"/>
            <a:r>
              <a:rPr sz="1300" b="1">
                <a:solidFill>
                  <a:srgbClr val="FFFFFF"/>
                </a:solidFill>
                <a:latin typeface="Arial"/>
              </a:rPr>
              <a:t>×</a:t>
            </a:r>
          </a:p>
        </p:txBody>
      </p:sp>
      <p:sp>
        <p:nvSpPr>
          <p:cNvPr id="41" name="TextBox 40"/>
          <p:cNvSpPr txBox="1"/>
          <p:nvPr/>
        </p:nvSpPr>
        <p:spPr>
          <a:xfrm>
            <a:off x="6922008" y="3300984"/>
            <a:ext cx="4206240" cy="310896"/>
          </a:xfrm>
          <a:prstGeom prst="rect">
            <a:avLst/>
          </a:prstGeom>
          <a:noFill/>
        </p:spPr>
        <p:txBody>
          <a:bodyPr wrap="square" anchor="t">
            <a:spAutoFit/>
          </a:bodyPr>
          <a:lstStyle/>
          <a:p>
            <a:pPr algn="l"/>
            <a:r>
              <a:rPr sz="1400" b="0">
                <a:solidFill>
                  <a:srgbClr val="30373E"/>
                </a:solidFill>
                <a:latin typeface="Arial"/>
              </a:rPr>
              <a:t>Contabilidad integral</a:t>
            </a:r>
          </a:p>
        </p:txBody>
      </p:sp>
      <p:sp>
        <p:nvSpPr>
          <p:cNvPr id="42" name="Oval 41"/>
          <p:cNvSpPr/>
          <p:nvPr/>
        </p:nvSpPr>
        <p:spPr>
          <a:xfrm>
            <a:off x="6492240" y="3941064"/>
            <a:ext cx="310896" cy="310896"/>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3950208"/>
            <a:ext cx="310896" cy="292608"/>
          </a:xfrm>
          <a:prstGeom prst="rect">
            <a:avLst/>
          </a:prstGeom>
          <a:noFill/>
        </p:spPr>
        <p:txBody>
          <a:bodyPr wrap="square" anchor="ctr">
            <a:spAutoFit/>
          </a:bodyPr>
          <a:lstStyle/>
          <a:p>
            <a:pPr algn="ctr"/>
            <a:r>
              <a:rPr sz="1300" b="1">
                <a:solidFill>
                  <a:srgbClr val="FFFFFF"/>
                </a:solidFill>
                <a:latin typeface="Arial"/>
              </a:rPr>
              <a:t>×</a:t>
            </a:r>
          </a:p>
        </p:txBody>
      </p:sp>
      <p:sp>
        <p:nvSpPr>
          <p:cNvPr id="44" name="TextBox 43"/>
          <p:cNvSpPr txBox="1"/>
          <p:nvPr/>
        </p:nvSpPr>
        <p:spPr>
          <a:xfrm>
            <a:off x="6922008" y="3959352"/>
            <a:ext cx="4206240" cy="310896"/>
          </a:xfrm>
          <a:prstGeom prst="rect">
            <a:avLst/>
          </a:prstGeom>
          <a:noFill/>
        </p:spPr>
        <p:txBody>
          <a:bodyPr wrap="square" anchor="t">
            <a:spAutoFit/>
          </a:bodyPr>
          <a:lstStyle/>
          <a:p>
            <a:pPr algn="l"/>
            <a:r>
              <a:rPr sz="1400" b="0">
                <a:solidFill>
                  <a:srgbClr val="30373E"/>
                </a:solidFill>
                <a:latin typeface="Arial"/>
              </a:rPr>
              <a:t>Integración directa con maquinaria</a:t>
            </a:r>
          </a:p>
        </p:txBody>
      </p:sp>
      <p:sp>
        <p:nvSpPr>
          <p:cNvPr id="45" name="Oval 44"/>
          <p:cNvSpPr/>
          <p:nvPr/>
        </p:nvSpPr>
        <p:spPr>
          <a:xfrm>
            <a:off x="6492240" y="4599431"/>
            <a:ext cx="310896" cy="310896"/>
          </a:xfrm>
          <a:prstGeom prst="ellipse">
            <a:avLst/>
          </a:prstGeom>
          <a:solidFill>
            <a:srgbClr val="C6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4608575"/>
            <a:ext cx="310896" cy="292608"/>
          </a:xfrm>
          <a:prstGeom prst="rect">
            <a:avLst/>
          </a:prstGeom>
          <a:noFill/>
        </p:spPr>
        <p:txBody>
          <a:bodyPr wrap="square" anchor="ctr">
            <a:spAutoFit/>
          </a:bodyPr>
          <a:lstStyle/>
          <a:p>
            <a:pPr algn="ctr"/>
            <a:r>
              <a:rPr sz="1300" b="1">
                <a:solidFill>
                  <a:srgbClr val="FFFFFF"/>
                </a:solidFill>
                <a:latin typeface="Arial"/>
              </a:rPr>
              <a:t>×</a:t>
            </a:r>
          </a:p>
        </p:txBody>
      </p:sp>
      <p:sp>
        <p:nvSpPr>
          <p:cNvPr id="47" name="TextBox 46"/>
          <p:cNvSpPr txBox="1"/>
          <p:nvPr/>
        </p:nvSpPr>
        <p:spPr>
          <a:xfrm>
            <a:off x="6922008" y="4617719"/>
            <a:ext cx="4206240" cy="310896"/>
          </a:xfrm>
          <a:prstGeom prst="rect">
            <a:avLst/>
          </a:prstGeom>
          <a:noFill/>
        </p:spPr>
        <p:txBody>
          <a:bodyPr wrap="square" anchor="t">
            <a:spAutoFit/>
          </a:bodyPr>
          <a:lstStyle/>
          <a:p>
            <a:pPr algn="l"/>
            <a:r>
              <a:rPr sz="1400" b="0">
                <a:solidFill>
                  <a:srgbClr val="30373E"/>
                </a:solidFill>
                <a:latin typeface="Arial"/>
              </a:rPr>
              <a:t>Gestión de múltiples empresas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Tecnologías utilizadas</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14</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Herramientas que forman la parte técnica del proyecto</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14</a:t>
            </a:r>
          </a:p>
        </p:txBody>
      </p:sp>
      <p:sp>
        <p:nvSpPr>
          <p:cNvPr id="8" name="Rounded Rectangle 7"/>
          <p:cNvSpPr/>
          <p:nvPr/>
        </p:nvSpPr>
        <p:spPr>
          <a:xfrm>
            <a:off x="548640" y="1325880"/>
            <a:ext cx="2514600" cy="1417320"/>
          </a:xfrm>
          <a:prstGeom prst="roundRect">
            <a:avLst/>
          </a:prstGeom>
          <a:solidFill>
            <a:srgbClr val="E2EFF9"/>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453895"/>
            <a:ext cx="2185416" cy="347472"/>
          </a:xfrm>
          <a:prstGeom prst="rect">
            <a:avLst/>
          </a:prstGeom>
          <a:noFill/>
        </p:spPr>
        <p:txBody>
          <a:bodyPr wrap="square" anchor="t">
            <a:spAutoFit/>
          </a:bodyPr>
          <a:lstStyle/>
          <a:p>
            <a:pPr algn="l"/>
            <a:r>
              <a:rPr sz="1700" b="1">
                <a:solidFill>
                  <a:srgbClr val="2D70AA"/>
                </a:solidFill>
                <a:latin typeface="Arial"/>
              </a:rPr>
              <a:t>Docker</a:t>
            </a:r>
          </a:p>
        </p:txBody>
      </p:sp>
      <p:sp>
        <p:nvSpPr>
          <p:cNvPr id="10" name="TextBox 9"/>
          <p:cNvSpPr txBox="1"/>
          <p:nvPr/>
        </p:nvSpPr>
        <p:spPr>
          <a:xfrm>
            <a:off x="713232" y="1892807"/>
            <a:ext cx="2185416" cy="731520"/>
          </a:xfrm>
          <a:prstGeom prst="rect">
            <a:avLst/>
          </a:prstGeom>
          <a:noFill/>
        </p:spPr>
        <p:txBody>
          <a:bodyPr wrap="square" anchor="t">
            <a:spAutoFit/>
          </a:bodyPr>
          <a:lstStyle/>
          <a:p>
            <a:pPr algn="l"/>
            <a:r>
              <a:rPr sz="1300" b="0">
                <a:solidFill>
                  <a:srgbClr val="30373E"/>
                </a:solidFill>
                <a:latin typeface="Arial"/>
              </a:rPr>
              <a:t>Contenedores</a:t>
            </a:r>
          </a:p>
        </p:txBody>
      </p:sp>
      <p:sp>
        <p:nvSpPr>
          <p:cNvPr id="11" name="Rounded Rectangle 10"/>
          <p:cNvSpPr/>
          <p:nvPr/>
        </p:nvSpPr>
        <p:spPr>
          <a:xfrm>
            <a:off x="3429000" y="1325880"/>
            <a:ext cx="2514600" cy="1417320"/>
          </a:xfrm>
          <a:prstGeom prst="roundRect">
            <a:avLst/>
          </a:prstGeom>
          <a:solidFill>
            <a:srgbClr val="FCEFDC"/>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1453895"/>
            <a:ext cx="2185416" cy="347472"/>
          </a:xfrm>
          <a:prstGeom prst="rect">
            <a:avLst/>
          </a:prstGeom>
          <a:noFill/>
        </p:spPr>
        <p:txBody>
          <a:bodyPr wrap="square" anchor="t">
            <a:spAutoFit/>
          </a:bodyPr>
          <a:lstStyle/>
          <a:p>
            <a:pPr algn="l"/>
            <a:r>
              <a:rPr sz="1700" b="1">
                <a:solidFill>
                  <a:srgbClr val="E69138"/>
                </a:solidFill>
                <a:latin typeface="Arial"/>
              </a:rPr>
              <a:t>Java</a:t>
            </a:r>
          </a:p>
        </p:txBody>
      </p:sp>
      <p:sp>
        <p:nvSpPr>
          <p:cNvPr id="13" name="TextBox 12"/>
          <p:cNvSpPr txBox="1"/>
          <p:nvPr/>
        </p:nvSpPr>
        <p:spPr>
          <a:xfrm>
            <a:off x="3593592" y="1892807"/>
            <a:ext cx="2185416" cy="731520"/>
          </a:xfrm>
          <a:prstGeom prst="rect">
            <a:avLst/>
          </a:prstGeom>
          <a:noFill/>
        </p:spPr>
        <p:txBody>
          <a:bodyPr wrap="square" anchor="t">
            <a:spAutoFit/>
          </a:bodyPr>
          <a:lstStyle/>
          <a:p>
            <a:pPr algn="l"/>
            <a:r>
              <a:rPr sz="1300" b="0">
                <a:solidFill>
                  <a:srgbClr val="30373E"/>
                </a:solidFill>
                <a:latin typeface="Arial"/>
              </a:rPr>
              <a:t>Lenguaje</a:t>
            </a:r>
          </a:p>
        </p:txBody>
      </p:sp>
      <p:sp>
        <p:nvSpPr>
          <p:cNvPr id="14" name="Rounded Rectangle 13"/>
          <p:cNvSpPr/>
          <p:nvPr/>
        </p:nvSpPr>
        <p:spPr>
          <a:xfrm>
            <a:off x="6309359" y="1325880"/>
            <a:ext cx="2514600" cy="1417320"/>
          </a:xfrm>
          <a:prstGeom prst="roundRect">
            <a:avLst/>
          </a:prstGeom>
          <a:solidFill>
            <a:srgbClr val="E5F2E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1" y="1453895"/>
            <a:ext cx="2185416" cy="347472"/>
          </a:xfrm>
          <a:prstGeom prst="rect">
            <a:avLst/>
          </a:prstGeom>
          <a:noFill/>
        </p:spPr>
        <p:txBody>
          <a:bodyPr wrap="square" anchor="t">
            <a:spAutoFit/>
          </a:bodyPr>
          <a:lstStyle/>
          <a:p>
            <a:pPr algn="l"/>
            <a:r>
              <a:rPr sz="1700" b="1">
                <a:solidFill>
                  <a:srgbClr val="4F9667"/>
                </a:solidFill>
                <a:latin typeface="Arial"/>
              </a:rPr>
              <a:t>Spring Boot</a:t>
            </a:r>
          </a:p>
        </p:txBody>
      </p:sp>
      <p:sp>
        <p:nvSpPr>
          <p:cNvPr id="16" name="TextBox 15"/>
          <p:cNvSpPr txBox="1"/>
          <p:nvPr/>
        </p:nvSpPr>
        <p:spPr>
          <a:xfrm>
            <a:off x="6473951" y="1892807"/>
            <a:ext cx="2185416" cy="731520"/>
          </a:xfrm>
          <a:prstGeom prst="rect">
            <a:avLst/>
          </a:prstGeom>
          <a:noFill/>
        </p:spPr>
        <p:txBody>
          <a:bodyPr wrap="square" anchor="t">
            <a:spAutoFit/>
          </a:bodyPr>
          <a:lstStyle/>
          <a:p>
            <a:pPr algn="l"/>
            <a:r>
              <a:rPr sz="1300" b="0">
                <a:solidFill>
                  <a:srgbClr val="30373E"/>
                </a:solidFill>
                <a:latin typeface="Arial"/>
              </a:rPr>
              <a:t>Backend</a:t>
            </a:r>
          </a:p>
        </p:txBody>
      </p:sp>
      <p:sp>
        <p:nvSpPr>
          <p:cNvPr id="17" name="Rounded Rectangle 16"/>
          <p:cNvSpPr/>
          <p:nvPr/>
        </p:nvSpPr>
        <p:spPr>
          <a:xfrm>
            <a:off x="9189719" y="1325880"/>
            <a:ext cx="2514600" cy="1417320"/>
          </a:xfrm>
          <a:prstGeom prst="roundRect">
            <a:avLst/>
          </a:prstGeom>
          <a:solidFill>
            <a:srgbClr val="EFEA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54311" y="1453895"/>
            <a:ext cx="2185416" cy="347472"/>
          </a:xfrm>
          <a:prstGeom prst="rect">
            <a:avLst/>
          </a:prstGeom>
          <a:noFill/>
        </p:spPr>
        <p:txBody>
          <a:bodyPr wrap="square" anchor="t">
            <a:spAutoFit/>
          </a:bodyPr>
          <a:lstStyle/>
          <a:p>
            <a:pPr algn="l"/>
            <a:r>
              <a:rPr sz="1700" b="1">
                <a:solidFill>
                  <a:srgbClr val="745B9B"/>
                </a:solidFill>
                <a:latin typeface="Arial"/>
              </a:rPr>
              <a:t>Spring Data JPA</a:t>
            </a:r>
          </a:p>
        </p:txBody>
      </p:sp>
      <p:sp>
        <p:nvSpPr>
          <p:cNvPr id="19" name="TextBox 18"/>
          <p:cNvSpPr txBox="1"/>
          <p:nvPr/>
        </p:nvSpPr>
        <p:spPr>
          <a:xfrm>
            <a:off x="9354311" y="1892807"/>
            <a:ext cx="2185416" cy="731520"/>
          </a:xfrm>
          <a:prstGeom prst="rect">
            <a:avLst/>
          </a:prstGeom>
          <a:noFill/>
        </p:spPr>
        <p:txBody>
          <a:bodyPr wrap="square" anchor="t">
            <a:spAutoFit/>
          </a:bodyPr>
          <a:lstStyle/>
          <a:p>
            <a:pPr algn="l"/>
            <a:r>
              <a:rPr sz="1300" b="0">
                <a:solidFill>
                  <a:srgbClr val="30373E"/>
                </a:solidFill>
                <a:latin typeface="Arial"/>
              </a:rPr>
              <a:t>Persistencia</a:t>
            </a:r>
          </a:p>
        </p:txBody>
      </p:sp>
      <p:sp>
        <p:nvSpPr>
          <p:cNvPr id="20" name="Rounded Rectangle 19"/>
          <p:cNvSpPr/>
          <p:nvPr/>
        </p:nvSpPr>
        <p:spPr>
          <a:xfrm>
            <a:off x="548640" y="3200400"/>
            <a:ext cx="2514600" cy="1417320"/>
          </a:xfrm>
          <a:prstGeom prst="roundRect">
            <a:avLst/>
          </a:prstGeom>
          <a:solidFill>
            <a:srgbClr val="FAE5E5"/>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328416"/>
            <a:ext cx="2185416" cy="347472"/>
          </a:xfrm>
          <a:prstGeom prst="rect">
            <a:avLst/>
          </a:prstGeom>
          <a:noFill/>
        </p:spPr>
        <p:txBody>
          <a:bodyPr wrap="square" anchor="t">
            <a:spAutoFit/>
          </a:bodyPr>
          <a:lstStyle/>
          <a:p>
            <a:pPr algn="l"/>
            <a:r>
              <a:rPr sz="1700" b="1">
                <a:solidFill>
                  <a:srgbClr val="C64B4B"/>
                </a:solidFill>
                <a:latin typeface="Arial"/>
              </a:rPr>
              <a:t>Spring Security</a:t>
            </a:r>
          </a:p>
        </p:txBody>
      </p:sp>
      <p:sp>
        <p:nvSpPr>
          <p:cNvPr id="22" name="TextBox 21"/>
          <p:cNvSpPr txBox="1"/>
          <p:nvPr/>
        </p:nvSpPr>
        <p:spPr>
          <a:xfrm>
            <a:off x="713232" y="3767328"/>
            <a:ext cx="2185416" cy="731520"/>
          </a:xfrm>
          <a:prstGeom prst="rect">
            <a:avLst/>
          </a:prstGeom>
          <a:noFill/>
        </p:spPr>
        <p:txBody>
          <a:bodyPr wrap="square" anchor="t">
            <a:spAutoFit/>
          </a:bodyPr>
          <a:lstStyle/>
          <a:p>
            <a:pPr algn="l"/>
            <a:r>
              <a:rPr sz="1300" b="0">
                <a:solidFill>
                  <a:srgbClr val="30373E"/>
                </a:solidFill>
                <a:latin typeface="Arial"/>
              </a:rPr>
              <a:t>Seguridad</a:t>
            </a:r>
          </a:p>
        </p:txBody>
      </p:sp>
      <p:sp>
        <p:nvSpPr>
          <p:cNvPr id="23" name="Rounded Rectangle 22"/>
          <p:cNvSpPr/>
          <p:nvPr/>
        </p:nvSpPr>
        <p:spPr>
          <a:xfrm>
            <a:off x="3429000" y="3200400"/>
            <a:ext cx="2514600" cy="1417320"/>
          </a:xfrm>
          <a:prstGeom prst="roundRect">
            <a:avLst/>
          </a:prstGeom>
          <a:solidFill>
            <a:srgbClr val="E4F5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93592" y="3328416"/>
            <a:ext cx="2185416" cy="347472"/>
          </a:xfrm>
          <a:prstGeom prst="rect">
            <a:avLst/>
          </a:prstGeom>
          <a:noFill/>
        </p:spPr>
        <p:txBody>
          <a:bodyPr wrap="square" anchor="t">
            <a:spAutoFit/>
          </a:bodyPr>
          <a:lstStyle/>
          <a:p>
            <a:pPr algn="l"/>
            <a:r>
              <a:rPr sz="1700" b="1">
                <a:solidFill>
                  <a:srgbClr val="47A4B8"/>
                </a:solidFill>
                <a:latin typeface="Arial"/>
              </a:rPr>
              <a:t>MySQL</a:t>
            </a:r>
          </a:p>
        </p:txBody>
      </p:sp>
      <p:sp>
        <p:nvSpPr>
          <p:cNvPr id="25" name="TextBox 24"/>
          <p:cNvSpPr txBox="1"/>
          <p:nvPr/>
        </p:nvSpPr>
        <p:spPr>
          <a:xfrm>
            <a:off x="3593592" y="3767328"/>
            <a:ext cx="2185416" cy="731520"/>
          </a:xfrm>
          <a:prstGeom prst="rect">
            <a:avLst/>
          </a:prstGeom>
          <a:noFill/>
        </p:spPr>
        <p:txBody>
          <a:bodyPr wrap="square" anchor="t">
            <a:spAutoFit/>
          </a:bodyPr>
          <a:lstStyle/>
          <a:p>
            <a:pPr algn="l"/>
            <a:r>
              <a:rPr sz="1300" b="0">
                <a:solidFill>
                  <a:srgbClr val="30373E"/>
                </a:solidFill>
                <a:latin typeface="Arial"/>
              </a:rPr>
              <a:t>Base de datos</a:t>
            </a:r>
          </a:p>
        </p:txBody>
      </p:sp>
      <p:sp>
        <p:nvSpPr>
          <p:cNvPr id="26" name="Rounded Rectangle 25"/>
          <p:cNvSpPr/>
          <p:nvPr/>
        </p:nvSpPr>
        <p:spPr>
          <a:xfrm>
            <a:off x="6309359" y="3200400"/>
            <a:ext cx="2514600" cy="1417320"/>
          </a:xfrm>
          <a:prstGeom prst="roundRect">
            <a:avLst/>
          </a:prstGeom>
          <a:solidFill>
            <a:srgbClr val="E5EBF1"/>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1" y="3328416"/>
            <a:ext cx="2185416" cy="347472"/>
          </a:xfrm>
          <a:prstGeom prst="rect">
            <a:avLst/>
          </a:prstGeom>
          <a:noFill/>
        </p:spPr>
        <p:txBody>
          <a:bodyPr wrap="square" anchor="t">
            <a:spAutoFit/>
          </a:bodyPr>
          <a:lstStyle/>
          <a:p>
            <a:pPr algn="l"/>
            <a:r>
              <a:rPr sz="1700" b="1">
                <a:solidFill>
                  <a:srgbClr val="183F66"/>
                </a:solidFill>
                <a:latin typeface="Arial"/>
              </a:rPr>
              <a:t>Eureka</a:t>
            </a:r>
          </a:p>
        </p:txBody>
      </p:sp>
      <p:sp>
        <p:nvSpPr>
          <p:cNvPr id="28" name="TextBox 27"/>
          <p:cNvSpPr txBox="1"/>
          <p:nvPr/>
        </p:nvSpPr>
        <p:spPr>
          <a:xfrm>
            <a:off x="6473951" y="3767328"/>
            <a:ext cx="2185416" cy="731520"/>
          </a:xfrm>
          <a:prstGeom prst="rect">
            <a:avLst/>
          </a:prstGeom>
          <a:noFill/>
        </p:spPr>
        <p:txBody>
          <a:bodyPr wrap="square" anchor="t">
            <a:spAutoFit/>
          </a:bodyPr>
          <a:lstStyle/>
          <a:p>
            <a:pPr algn="l"/>
            <a:r>
              <a:rPr sz="1300" b="0">
                <a:solidFill>
                  <a:srgbClr val="30373E"/>
                </a:solidFill>
                <a:latin typeface="Arial"/>
              </a:rPr>
              <a:t>Descubrimiento</a:t>
            </a:r>
          </a:p>
        </p:txBody>
      </p:sp>
      <p:sp>
        <p:nvSpPr>
          <p:cNvPr id="29" name="Rounded Rectangle 28"/>
          <p:cNvSpPr/>
          <p:nvPr/>
        </p:nvSpPr>
        <p:spPr>
          <a:xfrm>
            <a:off x="9189719" y="3200400"/>
            <a:ext cx="2514600" cy="1417320"/>
          </a:xfrm>
          <a:prstGeom prst="roundRect">
            <a:avLst/>
          </a:prstGeom>
          <a:solidFill>
            <a:srgbClr val="FCF7DE"/>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54311" y="3328416"/>
            <a:ext cx="2185416" cy="347472"/>
          </a:xfrm>
          <a:prstGeom prst="rect">
            <a:avLst/>
          </a:prstGeom>
          <a:noFill/>
        </p:spPr>
        <p:txBody>
          <a:bodyPr wrap="square" anchor="t">
            <a:spAutoFit/>
          </a:bodyPr>
          <a:lstStyle/>
          <a:p>
            <a:pPr algn="l"/>
            <a:r>
              <a:rPr sz="1700" b="1">
                <a:solidFill>
                  <a:srgbClr val="ECC148"/>
                </a:solidFill>
                <a:latin typeface="Arial"/>
              </a:rPr>
              <a:t>RabbitMQ</a:t>
            </a:r>
          </a:p>
        </p:txBody>
      </p:sp>
      <p:sp>
        <p:nvSpPr>
          <p:cNvPr id="31" name="TextBox 30"/>
          <p:cNvSpPr txBox="1"/>
          <p:nvPr/>
        </p:nvSpPr>
        <p:spPr>
          <a:xfrm>
            <a:off x="9354311" y="3767328"/>
            <a:ext cx="2185416" cy="731520"/>
          </a:xfrm>
          <a:prstGeom prst="rect">
            <a:avLst/>
          </a:prstGeom>
          <a:noFill/>
        </p:spPr>
        <p:txBody>
          <a:bodyPr wrap="square" anchor="t">
            <a:spAutoFit/>
          </a:bodyPr>
          <a:lstStyle/>
          <a:p>
            <a:pPr algn="l"/>
            <a:r>
              <a:rPr sz="1300" b="0">
                <a:solidFill>
                  <a:srgbClr val="30373E"/>
                </a:solidFill>
                <a:latin typeface="Arial"/>
              </a:rPr>
              <a:t>Mensajería</a:t>
            </a:r>
          </a:p>
        </p:txBody>
      </p:sp>
      <p:sp>
        <p:nvSpPr>
          <p:cNvPr id="32" name="TextBox 31"/>
          <p:cNvSpPr txBox="1"/>
          <p:nvPr/>
        </p:nvSpPr>
        <p:spPr>
          <a:xfrm>
            <a:off x="3657600" y="5257800"/>
            <a:ext cx="1554480" cy="274320"/>
          </a:xfrm>
          <a:prstGeom prst="rect">
            <a:avLst/>
          </a:prstGeom>
          <a:noFill/>
        </p:spPr>
        <p:txBody>
          <a:bodyPr wrap="square" anchor="t">
            <a:spAutoFit/>
          </a:bodyPr>
          <a:lstStyle/>
          <a:p>
            <a:pPr algn="l"/>
            <a:r>
              <a:rPr sz="1400" b="1">
                <a:solidFill>
                  <a:srgbClr val="677078"/>
                </a:solidFill>
                <a:latin typeface="Arial"/>
              </a:rPr>
              <a:t>Stack resumido</a:t>
            </a:r>
          </a:p>
        </p:txBody>
      </p:sp>
      <p:sp>
        <p:nvSpPr>
          <p:cNvPr id="33" name="Rounded Rectangle 32"/>
          <p:cNvSpPr/>
          <p:nvPr/>
        </p:nvSpPr>
        <p:spPr>
          <a:xfrm>
            <a:off x="2011680" y="5669280"/>
            <a:ext cx="1417320" cy="347472"/>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0" y="5678424"/>
            <a:ext cx="1417320" cy="329184"/>
          </a:xfrm>
          <a:prstGeom prst="rect">
            <a:avLst/>
          </a:prstGeom>
          <a:noFill/>
        </p:spPr>
        <p:txBody>
          <a:bodyPr wrap="square" anchor="ctr">
            <a:spAutoFit/>
          </a:bodyPr>
          <a:lstStyle/>
          <a:p>
            <a:pPr algn="ctr"/>
            <a:r>
              <a:rPr sz="1100" b="1">
                <a:solidFill>
                  <a:srgbClr val="2D70AA"/>
                </a:solidFill>
                <a:latin typeface="Arial"/>
              </a:rPr>
              <a:t>Docker</a:t>
            </a:r>
          </a:p>
        </p:txBody>
      </p:sp>
      <p:sp>
        <p:nvSpPr>
          <p:cNvPr id="35" name="Rounded Rectangle 34"/>
          <p:cNvSpPr/>
          <p:nvPr/>
        </p:nvSpPr>
        <p:spPr>
          <a:xfrm>
            <a:off x="3703320" y="5669280"/>
            <a:ext cx="1417320" cy="347472"/>
          </a:xfrm>
          <a:prstGeom prst="roundRect">
            <a:avLst/>
          </a:prstGeom>
          <a:solidFill>
            <a:srgbClr val="EF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03320" y="5678424"/>
            <a:ext cx="1417320" cy="329184"/>
          </a:xfrm>
          <a:prstGeom prst="rect">
            <a:avLst/>
          </a:prstGeom>
          <a:noFill/>
        </p:spPr>
        <p:txBody>
          <a:bodyPr wrap="square" anchor="ctr">
            <a:spAutoFit/>
          </a:bodyPr>
          <a:lstStyle/>
          <a:p>
            <a:pPr algn="ctr"/>
            <a:r>
              <a:rPr sz="1100" b="1">
                <a:solidFill>
                  <a:srgbClr val="745B9B"/>
                </a:solidFill>
                <a:latin typeface="Arial"/>
              </a:rPr>
              <a:t>REST</a:t>
            </a:r>
          </a:p>
        </p:txBody>
      </p:sp>
      <p:sp>
        <p:nvSpPr>
          <p:cNvPr id="37" name="Rounded Rectangle 36"/>
          <p:cNvSpPr/>
          <p:nvPr/>
        </p:nvSpPr>
        <p:spPr>
          <a:xfrm>
            <a:off x="5394960" y="5669280"/>
            <a:ext cx="1600200" cy="347472"/>
          </a:xfrm>
          <a:prstGeom prst="roundRect">
            <a:avLst/>
          </a:prstGeom>
          <a:solidFill>
            <a:srgbClr val="E5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94960" y="5678424"/>
            <a:ext cx="1600200" cy="329184"/>
          </a:xfrm>
          <a:prstGeom prst="rect">
            <a:avLst/>
          </a:prstGeom>
          <a:noFill/>
        </p:spPr>
        <p:txBody>
          <a:bodyPr wrap="square" anchor="ctr">
            <a:spAutoFit/>
          </a:bodyPr>
          <a:lstStyle/>
          <a:p>
            <a:pPr algn="ctr"/>
            <a:r>
              <a:rPr sz="1100" b="1">
                <a:solidFill>
                  <a:srgbClr val="4F9667"/>
                </a:solidFill>
                <a:latin typeface="Arial"/>
              </a:rPr>
              <a:t>Spring Boot</a:t>
            </a:r>
          </a:p>
        </p:txBody>
      </p:sp>
      <p:sp>
        <p:nvSpPr>
          <p:cNvPr id="39" name="Rounded Rectangle 38"/>
          <p:cNvSpPr/>
          <p:nvPr/>
        </p:nvSpPr>
        <p:spPr>
          <a:xfrm>
            <a:off x="7269480" y="5669280"/>
            <a:ext cx="1417320" cy="347472"/>
          </a:xfrm>
          <a:prstGeom prst="roundRect">
            <a:avLst/>
          </a:prstGeom>
          <a:solidFill>
            <a:srgbClr val="FC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69480" y="5678424"/>
            <a:ext cx="1417320" cy="329184"/>
          </a:xfrm>
          <a:prstGeom prst="rect">
            <a:avLst/>
          </a:prstGeom>
          <a:noFill/>
        </p:spPr>
        <p:txBody>
          <a:bodyPr wrap="square" anchor="ctr">
            <a:spAutoFit/>
          </a:bodyPr>
          <a:lstStyle/>
          <a:p>
            <a:pPr algn="ctr"/>
            <a:r>
              <a:rPr sz="1100" b="1">
                <a:solidFill>
                  <a:srgbClr val="E69138"/>
                </a:solidFill>
                <a:latin typeface="Arial"/>
              </a:rPr>
              <a:t>PostgreSQL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¿Qué debemos demostrar?</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22</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La exposición debe conectar informe, aplicativo y evidencias</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22</a:t>
            </a:r>
          </a:p>
        </p:txBody>
      </p:sp>
      <p:sp>
        <p:nvSpPr>
          <p:cNvPr id="8" name="Rounded Rectangle 7"/>
          <p:cNvSpPr/>
          <p:nvPr/>
        </p:nvSpPr>
        <p:spPr>
          <a:xfrm>
            <a:off x="594360" y="1508760"/>
            <a:ext cx="2514600" cy="2377440"/>
          </a:xfrm>
          <a:prstGeom prst="roundRect">
            <a:avLst/>
          </a:prstGeom>
          <a:solidFill>
            <a:srgbClr val="E2EFF9"/>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636776"/>
            <a:ext cx="2185416" cy="347472"/>
          </a:xfrm>
          <a:prstGeom prst="rect">
            <a:avLst/>
          </a:prstGeom>
          <a:noFill/>
        </p:spPr>
        <p:txBody>
          <a:bodyPr wrap="square" anchor="t">
            <a:spAutoFit/>
          </a:bodyPr>
          <a:lstStyle/>
          <a:p>
            <a:pPr algn="l"/>
            <a:r>
              <a:rPr sz="1800" b="1">
                <a:solidFill>
                  <a:srgbClr val="2D70AA"/>
                </a:solidFill>
                <a:latin typeface="Arial"/>
              </a:rPr>
              <a:t>INFORME</a:t>
            </a:r>
          </a:p>
        </p:txBody>
      </p:sp>
      <p:sp>
        <p:nvSpPr>
          <p:cNvPr id="10" name="TextBox 9"/>
          <p:cNvSpPr txBox="1"/>
          <p:nvPr/>
        </p:nvSpPr>
        <p:spPr>
          <a:xfrm>
            <a:off x="758952" y="2075688"/>
            <a:ext cx="2185416" cy="1691640"/>
          </a:xfrm>
          <a:prstGeom prst="rect">
            <a:avLst/>
          </a:prstGeom>
          <a:noFill/>
        </p:spPr>
        <p:txBody>
          <a:bodyPr wrap="square" anchor="t">
            <a:spAutoFit/>
          </a:bodyPr>
          <a:lstStyle/>
          <a:p>
            <a:pPr algn="l"/>
            <a:r>
              <a:rPr sz="1400" b="0">
                <a:solidFill>
                  <a:srgbClr val="30373E"/>
                </a:solidFill>
                <a:latin typeface="Arial"/>
              </a:rPr>
              <a:t>Diagnóstico, objetivos,
justificación, alcance,
conclusiones y anexos.</a:t>
            </a:r>
          </a:p>
        </p:txBody>
      </p:sp>
      <p:sp>
        <p:nvSpPr>
          <p:cNvPr id="11" name="Oval 10"/>
          <p:cNvSpPr/>
          <p:nvPr/>
        </p:nvSpPr>
        <p:spPr>
          <a:xfrm>
            <a:off x="1581912" y="4160520"/>
            <a:ext cx="475488" cy="475488"/>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81912" y="4169663"/>
            <a:ext cx="475488" cy="457200"/>
          </a:xfrm>
          <a:prstGeom prst="rect">
            <a:avLst/>
          </a:prstGeom>
          <a:noFill/>
        </p:spPr>
        <p:txBody>
          <a:bodyPr wrap="square" anchor="ctr">
            <a:spAutoFit/>
          </a:bodyPr>
          <a:lstStyle/>
          <a:p>
            <a:pPr algn="ctr"/>
            <a:r>
              <a:rPr sz="1500" b="1">
                <a:solidFill>
                  <a:srgbClr val="FFFFFF"/>
                </a:solidFill>
                <a:latin typeface="Arial"/>
              </a:rPr>
              <a:t>1</a:t>
            </a:r>
          </a:p>
        </p:txBody>
      </p:sp>
      <p:sp>
        <p:nvSpPr>
          <p:cNvPr id="13" name="Rounded Rectangle 12"/>
          <p:cNvSpPr/>
          <p:nvPr/>
        </p:nvSpPr>
        <p:spPr>
          <a:xfrm>
            <a:off x="3429000" y="1508760"/>
            <a:ext cx="2514600" cy="2377440"/>
          </a:xfrm>
          <a:prstGeom prst="roundRect">
            <a:avLst/>
          </a:prstGeom>
          <a:solidFill>
            <a:srgbClr val="EFEAF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2" y="1636776"/>
            <a:ext cx="2185416" cy="347472"/>
          </a:xfrm>
          <a:prstGeom prst="rect">
            <a:avLst/>
          </a:prstGeom>
          <a:noFill/>
        </p:spPr>
        <p:txBody>
          <a:bodyPr wrap="square" anchor="t">
            <a:spAutoFit/>
          </a:bodyPr>
          <a:lstStyle/>
          <a:p>
            <a:pPr algn="l"/>
            <a:r>
              <a:rPr sz="1800" b="1">
                <a:solidFill>
                  <a:srgbClr val="745B9B"/>
                </a:solidFill>
                <a:latin typeface="Arial"/>
              </a:rPr>
              <a:t>PPT</a:t>
            </a:r>
          </a:p>
        </p:txBody>
      </p:sp>
      <p:sp>
        <p:nvSpPr>
          <p:cNvPr id="15" name="TextBox 14"/>
          <p:cNvSpPr txBox="1"/>
          <p:nvPr/>
        </p:nvSpPr>
        <p:spPr>
          <a:xfrm>
            <a:off x="3593592" y="2075688"/>
            <a:ext cx="2185416" cy="1691640"/>
          </a:xfrm>
          <a:prstGeom prst="rect">
            <a:avLst/>
          </a:prstGeom>
          <a:noFill/>
        </p:spPr>
        <p:txBody>
          <a:bodyPr wrap="square" anchor="t">
            <a:spAutoFit/>
          </a:bodyPr>
          <a:lstStyle/>
          <a:p>
            <a:pPr algn="l"/>
            <a:r>
              <a:rPr sz="1400" b="0">
                <a:solidFill>
                  <a:srgbClr val="30373E"/>
                </a:solidFill>
                <a:latin typeface="Arial"/>
              </a:rPr>
              <a:t>Presentación clara
para explicar el proyecto.</a:t>
            </a:r>
          </a:p>
        </p:txBody>
      </p:sp>
      <p:sp>
        <p:nvSpPr>
          <p:cNvPr id="16" name="Oval 15"/>
          <p:cNvSpPr/>
          <p:nvPr/>
        </p:nvSpPr>
        <p:spPr>
          <a:xfrm>
            <a:off x="4416552" y="4160520"/>
            <a:ext cx="475488" cy="475488"/>
          </a:xfrm>
          <a:prstGeom prst="ellipse">
            <a:avLst/>
          </a:prstGeom>
          <a:solidFill>
            <a:srgbClr val="74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16552" y="4169663"/>
            <a:ext cx="475488" cy="457200"/>
          </a:xfrm>
          <a:prstGeom prst="rect">
            <a:avLst/>
          </a:prstGeom>
          <a:noFill/>
        </p:spPr>
        <p:txBody>
          <a:bodyPr wrap="square" anchor="ctr">
            <a:spAutoFit/>
          </a:bodyPr>
          <a:lstStyle/>
          <a:p>
            <a:pPr algn="ctr"/>
            <a:r>
              <a:rPr sz="1500" b="1">
                <a:solidFill>
                  <a:srgbClr val="FFFFFF"/>
                </a:solidFill>
                <a:latin typeface="Arial"/>
              </a:rPr>
              <a:t>2</a:t>
            </a:r>
          </a:p>
        </p:txBody>
      </p:sp>
      <p:sp>
        <p:nvSpPr>
          <p:cNvPr id="18" name="Rounded Rectangle 17"/>
          <p:cNvSpPr/>
          <p:nvPr/>
        </p:nvSpPr>
        <p:spPr>
          <a:xfrm>
            <a:off x="6263640" y="1508760"/>
            <a:ext cx="2514600" cy="2377440"/>
          </a:xfrm>
          <a:prstGeom prst="roundRect">
            <a:avLst/>
          </a:prstGeom>
          <a:solidFill>
            <a:srgbClr val="E5F2E8"/>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2" y="1636776"/>
            <a:ext cx="2185416" cy="347472"/>
          </a:xfrm>
          <a:prstGeom prst="rect">
            <a:avLst/>
          </a:prstGeom>
          <a:noFill/>
        </p:spPr>
        <p:txBody>
          <a:bodyPr wrap="square" anchor="t">
            <a:spAutoFit/>
          </a:bodyPr>
          <a:lstStyle/>
          <a:p>
            <a:pPr algn="l"/>
            <a:r>
              <a:rPr sz="1800" b="1">
                <a:solidFill>
                  <a:srgbClr val="4F9667"/>
                </a:solidFill>
                <a:latin typeface="Arial"/>
              </a:rPr>
              <a:t>APLICATIVO</a:t>
            </a:r>
          </a:p>
        </p:txBody>
      </p:sp>
      <p:sp>
        <p:nvSpPr>
          <p:cNvPr id="20" name="TextBox 19"/>
          <p:cNvSpPr txBox="1"/>
          <p:nvPr/>
        </p:nvSpPr>
        <p:spPr>
          <a:xfrm>
            <a:off x="6428232" y="2075688"/>
            <a:ext cx="2185416" cy="1691640"/>
          </a:xfrm>
          <a:prstGeom prst="rect">
            <a:avLst/>
          </a:prstGeom>
          <a:noFill/>
        </p:spPr>
        <p:txBody>
          <a:bodyPr wrap="square" anchor="t">
            <a:spAutoFit/>
          </a:bodyPr>
          <a:lstStyle/>
          <a:p>
            <a:pPr algn="l"/>
            <a:r>
              <a:rPr sz="1400" b="0">
                <a:solidFill>
                  <a:srgbClr val="30373E"/>
                </a:solidFill>
                <a:latin typeface="Arial"/>
              </a:rPr>
              <a:t>Gateway + microservicios +
servicios REST + datos.</a:t>
            </a:r>
          </a:p>
        </p:txBody>
      </p:sp>
      <p:sp>
        <p:nvSpPr>
          <p:cNvPr id="21" name="Oval 20"/>
          <p:cNvSpPr/>
          <p:nvPr/>
        </p:nvSpPr>
        <p:spPr>
          <a:xfrm>
            <a:off x="7251192" y="4160520"/>
            <a:ext cx="475488" cy="475488"/>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51192" y="4169663"/>
            <a:ext cx="475488" cy="457200"/>
          </a:xfrm>
          <a:prstGeom prst="rect">
            <a:avLst/>
          </a:prstGeom>
          <a:noFill/>
        </p:spPr>
        <p:txBody>
          <a:bodyPr wrap="square" anchor="ctr">
            <a:spAutoFit/>
          </a:bodyPr>
          <a:lstStyle/>
          <a:p>
            <a:pPr algn="ctr"/>
            <a:r>
              <a:rPr sz="1500" b="1">
                <a:solidFill>
                  <a:srgbClr val="FFFFFF"/>
                </a:solidFill>
                <a:latin typeface="Arial"/>
              </a:rPr>
              <a:t>3</a:t>
            </a:r>
          </a:p>
        </p:txBody>
      </p:sp>
      <p:sp>
        <p:nvSpPr>
          <p:cNvPr id="23" name="Rounded Rectangle 22"/>
          <p:cNvSpPr/>
          <p:nvPr/>
        </p:nvSpPr>
        <p:spPr>
          <a:xfrm>
            <a:off x="9098280" y="1508760"/>
            <a:ext cx="2514600" cy="2377440"/>
          </a:xfrm>
          <a:prstGeom prst="roundRect">
            <a:avLst/>
          </a:prstGeom>
          <a:solidFill>
            <a:srgbClr val="FCEFDC"/>
          </a:solidFill>
          <a:ln w="13970">
            <a:solidFill>
              <a:srgbClr val="CDD3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62872" y="1636776"/>
            <a:ext cx="2185416" cy="347472"/>
          </a:xfrm>
          <a:prstGeom prst="rect">
            <a:avLst/>
          </a:prstGeom>
          <a:noFill/>
        </p:spPr>
        <p:txBody>
          <a:bodyPr wrap="square" anchor="t">
            <a:spAutoFit/>
          </a:bodyPr>
          <a:lstStyle/>
          <a:p>
            <a:pPr algn="l"/>
            <a:r>
              <a:rPr sz="1800" b="1">
                <a:solidFill>
                  <a:srgbClr val="E69138"/>
                </a:solidFill>
                <a:latin typeface="Arial"/>
              </a:rPr>
              <a:t>DEMO REEL</a:t>
            </a:r>
          </a:p>
        </p:txBody>
      </p:sp>
      <p:sp>
        <p:nvSpPr>
          <p:cNvPr id="25" name="TextBox 24"/>
          <p:cNvSpPr txBox="1"/>
          <p:nvPr/>
        </p:nvSpPr>
        <p:spPr>
          <a:xfrm>
            <a:off x="9262872" y="2075688"/>
            <a:ext cx="2185416" cy="1691640"/>
          </a:xfrm>
          <a:prstGeom prst="rect">
            <a:avLst/>
          </a:prstGeom>
          <a:noFill/>
        </p:spPr>
        <p:txBody>
          <a:bodyPr wrap="square" anchor="t">
            <a:spAutoFit/>
          </a:bodyPr>
          <a:lstStyle/>
          <a:p>
            <a:pPr algn="l"/>
            <a:r>
              <a:rPr sz="1400" b="0">
                <a:solidFill>
                  <a:srgbClr val="30373E"/>
                </a:solidFill>
                <a:latin typeface="Arial"/>
              </a:rPr>
              <a:t>Video corto de 3–5 min
con el funcionamiento.</a:t>
            </a:r>
          </a:p>
        </p:txBody>
      </p:sp>
      <p:sp>
        <p:nvSpPr>
          <p:cNvPr id="26" name="Oval 25"/>
          <p:cNvSpPr/>
          <p:nvPr/>
        </p:nvSpPr>
        <p:spPr>
          <a:xfrm>
            <a:off x="10085832" y="4160520"/>
            <a:ext cx="475488" cy="475488"/>
          </a:xfrm>
          <a:prstGeom prst="ellipse">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85832" y="4169663"/>
            <a:ext cx="475488" cy="457200"/>
          </a:xfrm>
          <a:prstGeom prst="rect">
            <a:avLst/>
          </a:prstGeom>
          <a:noFill/>
        </p:spPr>
        <p:txBody>
          <a:bodyPr wrap="square" anchor="ctr">
            <a:spAutoFit/>
          </a:bodyPr>
          <a:lstStyle/>
          <a:p>
            <a:pPr algn="ctr"/>
            <a:r>
              <a:rPr sz="1500" b="1">
                <a:solidFill>
                  <a:srgbClr val="FFFFFF"/>
                </a:solidFill>
                <a:latin typeface="Arial"/>
              </a:rPr>
              <a:t>4</a:t>
            </a:r>
          </a:p>
        </p:txBody>
      </p:sp>
      <p:sp>
        <p:nvSpPr>
          <p:cNvPr id="28" name="TextBox 27"/>
          <p:cNvSpPr txBox="1"/>
          <p:nvPr/>
        </p:nvSpPr>
        <p:spPr>
          <a:xfrm>
            <a:off x="822960" y="4892040"/>
            <a:ext cx="4114800" cy="320040"/>
          </a:xfrm>
          <a:prstGeom prst="rect">
            <a:avLst/>
          </a:prstGeom>
          <a:noFill/>
        </p:spPr>
        <p:txBody>
          <a:bodyPr wrap="square" anchor="t">
            <a:spAutoFit/>
          </a:bodyPr>
          <a:lstStyle/>
          <a:p>
            <a:pPr algn="l"/>
            <a:r>
              <a:rPr sz="1700" b="1">
                <a:solidFill>
                  <a:srgbClr val="183F66"/>
                </a:solidFill>
                <a:latin typeface="Arial"/>
              </a:rPr>
              <a:t>Evidencias técnicas que conviene mostrar</a:t>
            </a:r>
          </a:p>
        </p:txBody>
      </p:sp>
      <p:sp>
        <p:nvSpPr>
          <p:cNvPr id="29" name="Rounded Rectangle 28"/>
          <p:cNvSpPr/>
          <p:nvPr/>
        </p:nvSpPr>
        <p:spPr>
          <a:xfrm>
            <a:off x="822960" y="5349240"/>
            <a:ext cx="1508760" cy="365760"/>
          </a:xfrm>
          <a:prstGeom prst="round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358383"/>
            <a:ext cx="1508760" cy="347472"/>
          </a:xfrm>
          <a:prstGeom prst="rect">
            <a:avLst/>
          </a:prstGeom>
          <a:noFill/>
        </p:spPr>
        <p:txBody>
          <a:bodyPr wrap="square" anchor="ctr">
            <a:spAutoFit/>
          </a:bodyPr>
          <a:lstStyle/>
          <a:p>
            <a:pPr algn="ctr"/>
            <a:r>
              <a:rPr sz="1100" b="1">
                <a:solidFill>
                  <a:srgbClr val="677078"/>
                </a:solidFill>
                <a:latin typeface="Arial"/>
              </a:rPr>
              <a:t>Login</a:t>
            </a:r>
          </a:p>
        </p:txBody>
      </p:sp>
      <p:sp>
        <p:nvSpPr>
          <p:cNvPr id="31" name="Rounded Rectangle 30"/>
          <p:cNvSpPr/>
          <p:nvPr/>
        </p:nvSpPr>
        <p:spPr>
          <a:xfrm>
            <a:off x="2743200" y="5349240"/>
            <a:ext cx="1508760" cy="365760"/>
          </a:xfrm>
          <a:prstGeom prst="round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0" y="5358383"/>
            <a:ext cx="1508760" cy="347472"/>
          </a:xfrm>
          <a:prstGeom prst="rect">
            <a:avLst/>
          </a:prstGeom>
          <a:noFill/>
        </p:spPr>
        <p:txBody>
          <a:bodyPr wrap="square" anchor="ctr">
            <a:spAutoFit/>
          </a:bodyPr>
          <a:lstStyle/>
          <a:p>
            <a:pPr algn="ctr"/>
            <a:r>
              <a:rPr sz="1100" b="1">
                <a:solidFill>
                  <a:srgbClr val="677078"/>
                </a:solidFill>
                <a:latin typeface="Arial"/>
              </a:rPr>
              <a:t>CRUD REST</a:t>
            </a:r>
          </a:p>
        </p:txBody>
      </p:sp>
      <p:sp>
        <p:nvSpPr>
          <p:cNvPr id="33" name="Rounded Rectangle 32"/>
          <p:cNvSpPr/>
          <p:nvPr/>
        </p:nvSpPr>
        <p:spPr>
          <a:xfrm>
            <a:off x="4663440" y="5349240"/>
            <a:ext cx="1508760" cy="365760"/>
          </a:xfrm>
          <a:prstGeom prst="round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0" y="5358383"/>
            <a:ext cx="1508760" cy="347472"/>
          </a:xfrm>
          <a:prstGeom prst="rect">
            <a:avLst/>
          </a:prstGeom>
          <a:noFill/>
        </p:spPr>
        <p:txBody>
          <a:bodyPr wrap="square" anchor="ctr">
            <a:spAutoFit/>
          </a:bodyPr>
          <a:lstStyle/>
          <a:p>
            <a:pPr algn="ctr"/>
            <a:r>
              <a:rPr sz="1100" b="1">
                <a:solidFill>
                  <a:srgbClr val="677078"/>
                </a:solidFill>
                <a:latin typeface="Arial"/>
              </a:rPr>
              <a:t>Persistencia</a:t>
            </a:r>
          </a:p>
        </p:txBody>
      </p:sp>
      <p:sp>
        <p:nvSpPr>
          <p:cNvPr id="35" name="Rounded Rectangle 34"/>
          <p:cNvSpPr/>
          <p:nvPr/>
        </p:nvSpPr>
        <p:spPr>
          <a:xfrm>
            <a:off x="822960" y="5852159"/>
            <a:ext cx="1508760" cy="365760"/>
          </a:xfrm>
          <a:prstGeom prst="round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861303"/>
            <a:ext cx="1508760" cy="347472"/>
          </a:xfrm>
          <a:prstGeom prst="rect">
            <a:avLst/>
          </a:prstGeom>
          <a:noFill/>
        </p:spPr>
        <p:txBody>
          <a:bodyPr wrap="square" anchor="ctr">
            <a:spAutoFit/>
          </a:bodyPr>
          <a:lstStyle/>
          <a:p>
            <a:pPr algn="ctr"/>
            <a:r>
              <a:rPr sz="1100" b="1">
                <a:solidFill>
                  <a:srgbClr val="677078"/>
                </a:solidFill>
                <a:latin typeface="Arial"/>
              </a:rPr>
              <a:t>Catálogo</a:t>
            </a:r>
          </a:p>
        </p:txBody>
      </p:sp>
      <p:sp>
        <p:nvSpPr>
          <p:cNvPr id="37" name="Rounded Rectangle 36"/>
          <p:cNvSpPr/>
          <p:nvPr/>
        </p:nvSpPr>
        <p:spPr>
          <a:xfrm>
            <a:off x="2743200" y="5852159"/>
            <a:ext cx="1508760" cy="365760"/>
          </a:xfrm>
          <a:prstGeom prst="round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0" y="5861303"/>
            <a:ext cx="1508760" cy="347472"/>
          </a:xfrm>
          <a:prstGeom prst="rect">
            <a:avLst/>
          </a:prstGeom>
          <a:noFill/>
        </p:spPr>
        <p:txBody>
          <a:bodyPr wrap="square" anchor="ctr">
            <a:spAutoFit/>
          </a:bodyPr>
          <a:lstStyle/>
          <a:p>
            <a:pPr algn="ctr"/>
            <a:r>
              <a:rPr sz="1100" b="1">
                <a:solidFill>
                  <a:srgbClr val="677078"/>
                </a:solidFill>
                <a:latin typeface="Arial"/>
              </a:rPr>
              <a:t>Pedidos</a:t>
            </a:r>
          </a:p>
        </p:txBody>
      </p:sp>
      <p:sp>
        <p:nvSpPr>
          <p:cNvPr id="39" name="Rounded Rectangle 38"/>
          <p:cNvSpPr/>
          <p:nvPr/>
        </p:nvSpPr>
        <p:spPr>
          <a:xfrm>
            <a:off x="4663440" y="5852159"/>
            <a:ext cx="1508760" cy="365760"/>
          </a:xfrm>
          <a:prstGeom prst="round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63440" y="5861303"/>
            <a:ext cx="1508760" cy="347472"/>
          </a:xfrm>
          <a:prstGeom prst="rect">
            <a:avLst/>
          </a:prstGeom>
          <a:noFill/>
        </p:spPr>
        <p:txBody>
          <a:bodyPr wrap="square" anchor="ctr">
            <a:spAutoFit/>
          </a:bodyPr>
          <a:lstStyle/>
          <a:p>
            <a:pPr algn="ctr"/>
            <a:r>
              <a:rPr sz="1100" b="1">
                <a:solidFill>
                  <a:srgbClr val="677078"/>
                </a:solidFill>
                <a:latin typeface="Arial"/>
              </a:rPr>
              <a:t>Arquitectura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Conclusiones y recomendaciones</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23</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Cierre de la exposición</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23</a:t>
            </a:r>
          </a:p>
        </p:txBody>
      </p:sp>
      <p:sp>
        <p:nvSpPr>
          <p:cNvPr id="8" name="Rounded Rectangle 7"/>
          <p:cNvSpPr/>
          <p:nvPr/>
        </p:nvSpPr>
        <p:spPr>
          <a:xfrm>
            <a:off x="640080" y="1234440"/>
            <a:ext cx="5349240" cy="4480560"/>
          </a:xfrm>
          <a:prstGeom prst="roundRect">
            <a:avLst/>
          </a:prstGeom>
          <a:solidFill>
            <a:srgbClr val="E5F2E8"/>
          </a:solidFill>
          <a:ln w="13970">
            <a:solidFill>
              <a:srgbClr val="B5D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362456"/>
            <a:ext cx="5020055" cy="347472"/>
          </a:xfrm>
          <a:prstGeom prst="rect">
            <a:avLst/>
          </a:prstGeom>
          <a:noFill/>
        </p:spPr>
        <p:txBody>
          <a:bodyPr wrap="square" anchor="t">
            <a:spAutoFit/>
          </a:bodyPr>
          <a:lstStyle/>
          <a:p>
            <a:pPr algn="l"/>
            <a:r>
              <a:rPr sz="1700" b="1">
                <a:solidFill>
                  <a:srgbClr val="4F9667"/>
                </a:solidFill>
                <a:latin typeface="Arial"/>
              </a:rPr>
              <a:t>CONCLUSIONES</a:t>
            </a:r>
          </a:p>
        </p:txBody>
      </p:sp>
      <p:sp>
        <p:nvSpPr>
          <p:cNvPr id="10" name="Oval 9"/>
          <p:cNvSpPr/>
          <p:nvPr/>
        </p:nvSpPr>
        <p:spPr>
          <a:xfrm>
            <a:off x="914400" y="1965960"/>
            <a:ext cx="384048" cy="384048"/>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75103"/>
            <a:ext cx="384048" cy="365759"/>
          </a:xfrm>
          <a:prstGeom prst="rect">
            <a:avLst/>
          </a:prstGeom>
          <a:noFill/>
        </p:spPr>
        <p:txBody>
          <a:bodyPr wrap="square" anchor="ctr">
            <a:spAutoFit/>
          </a:bodyPr>
          <a:lstStyle/>
          <a:p>
            <a:pPr algn="ctr"/>
            <a:r>
              <a:rPr sz="1300" b="1">
                <a:solidFill>
                  <a:srgbClr val="FFFFFF"/>
                </a:solidFill>
                <a:latin typeface="Arial"/>
              </a:rPr>
              <a:t>1</a:t>
            </a:r>
          </a:p>
        </p:txBody>
      </p:sp>
      <p:sp>
        <p:nvSpPr>
          <p:cNvPr id="12" name="TextBox 11"/>
          <p:cNvSpPr txBox="1"/>
          <p:nvPr/>
        </p:nvSpPr>
        <p:spPr>
          <a:xfrm>
            <a:off x="1481328" y="1947672"/>
            <a:ext cx="3977639" cy="749808"/>
          </a:xfrm>
          <a:prstGeom prst="rect">
            <a:avLst/>
          </a:prstGeom>
          <a:noFill/>
        </p:spPr>
        <p:txBody>
          <a:bodyPr wrap="square" anchor="t">
            <a:spAutoFit/>
          </a:bodyPr>
          <a:lstStyle/>
          <a:p>
            <a:pPr algn="l"/>
            <a:r>
              <a:rPr sz="1450" b="0">
                <a:solidFill>
                  <a:srgbClr val="30373E"/>
                </a:solidFill>
                <a:latin typeface="Arial"/>
              </a:rPr>
              <a:t>Ocho microservicios con GET, POST, PUT y DELETE en BD, seguridad BCrypt + JWT y 78 pruebas que pasan.</a:t>
            </a:r>
          </a:p>
        </p:txBody>
      </p:sp>
      <p:sp>
        <p:nvSpPr>
          <p:cNvPr id="13" name="Oval 12"/>
          <p:cNvSpPr/>
          <p:nvPr/>
        </p:nvSpPr>
        <p:spPr>
          <a:xfrm>
            <a:off x="914400" y="3017520"/>
            <a:ext cx="384048" cy="384048"/>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026663"/>
            <a:ext cx="384048" cy="365759"/>
          </a:xfrm>
          <a:prstGeom prst="rect">
            <a:avLst/>
          </a:prstGeom>
          <a:noFill/>
        </p:spPr>
        <p:txBody>
          <a:bodyPr wrap="square" anchor="ctr">
            <a:spAutoFit/>
          </a:bodyPr>
          <a:lstStyle/>
          <a:p>
            <a:pPr algn="ctr"/>
            <a:r>
              <a:rPr sz="1300" b="1">
                <a:solidFill>
                  <a:srgbClr val="FFFFFF"/>
                </a:solidFill>
                <a:latin typeface="Arial"/>
              </a:rPr>
              <a:t>2</a:t>
            </a:r>
          </a:p>
        </p:txBody>
      </p:sp>
      <p:sp>
        <p:nvSpPr>
          <p:cNvPr id="15" name="TextBox 14"/>
          <p:cNvSpPr txBox="1"/>
          <p:nvPr/>
        </p:nvSpPr>
        <p:spPr>
          <a:xfrm>
            <a:off x="1481328" y="2999232"/>
            <a:ext cx="3977639" cy="749808"/>
          </a:xfrm>
          <a:prstGeom prst="rect">
            <a:avLst/>
          </a:prstGeom>
          <a:noFill/>
        </p:spPr>
        <p:txBody>
          <a:bodyPr wrap="square" anchor="t">
            <a:spAutoFit/>
          </a:bodyPr>
          <a:lstStyle/>
          <a:p>
            <a:pPr algn="l"/>
            <a:r>
              <a:rPr sz="1450" b="0">
                <a:solidFill>
                  <a:srgbClr val="30373E"/>
                </a:solidFill>
                <a:latin typeface="Arial"/>
              </a:rPr>
              <a:t>Medir antes de optimizar: de 21 a 0 consultas por listado, +55 % de rendimiento y p95 de 116 a 59 ms.</a:t>
            </a:r>
          </a:p>
        </p:txBody>
      </p:sp>
      <p:sp>
        <p:nvSpPr>
          <p:cNvPr id="16" name="Oval 15"/>
          <p:cNvSpPr/>
          <p:nvPr/>
        </p:nvSpPr>
        <p:spPr>
          <a:xfrm>
            <a:off x="914400" y="4069079"/>
            <a:ext cx="384048" cy="384048"/>
          </a:xfrm>
          <a:prstGeom prst="ellipse">
            <a:avLst/>
          </a:prstGeom>
          <a:solidFill>
            <a:srgbClr val="4F96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78223"/>
            <a:ext cx="384048" cy="365759"/>
          </a:xfrm>
          <a:prstGeom prst="rect">
            <a:avLst/>
          </a:prstGeom>
          <a:noFill/>
        </p:spPr>
        <p:txBody>
          <a:bodyPr wrap="square" anchor="ctr">
            <a:spAutoFit/>
          </a:bodyPr>
          <a:lstStyle/>
          <a:p>
            <a:pPr algn="ctr"/>
            <a:r>
              <a:rPr sz="1300" b="1">
                <a:solidFill>
                  <a:srgbClr val="FFFFFF"/>
                </a:solidFill>
                <a:latin typeface="Arial"/>
              </a:rPr>
              <a:t>3</a:t>
            </a:r>
          </a:p>
        </p:txBody>
      </p:sp>
      <p:sp>
        <p:nvSpPr>
          <p:cNvPr id="18" name="TextBox 17"/>
          <p:cNvSpPr txBox="1"/>
          <p:nvPr/>
        </p:nvSpPr>
        <p:spPr>
          <a:xfrm>
            <a:off x="1481328" y="4050791"/>
            <a:ext cx="3977639" cy="749808"/>
          </a:xfrm>
          <a:prstGeom prst="rect">
            <a:avLst/>
          </a:prstGeom>
          <a:noFill/>
        </p:spPr>
        <p:txBody>
          <a:bodyPr wrap="square" anchor="t">
            <a:spAutoFit/>
          </a:bodyPr>
          <a:lstStyle/>
          <a:p>
            <a:pPr algn="l"/>
            <a:r>
              <a:rPr sz="1450" b="0">
                <a:solidFill>
                  <a:srgbClr val="30373E"/>
                </a:solidFill>
                <a:latin typeface="Arial"/>
              </a:rPr>
              <a:t>La integración continua detectó errores reales antes de publicar, como el PATCH de Feign.</a:t>
            </a:r>
          </a:p>
        </p:txBody>
      </p:sp>
      <p:sp>
        <p:nvSpPr>
          <p:cNvPr id="19" name="Rounded Rectangle 18"/>
          <p:cNvSpPr/>
          <p:nvPr/>
        </p:nvSpPr>
        <p:spPr>
          <a:xfrm>
            <a:off x="6217920" y="1234440"/>
            <a:ext cx="5349240" cy="4480560"/>
          </a:xfrm>
          <a:prstGeom prst="roundRect">
            <a:avLst/>
          </a:prstGeom>
          <a:solidFill>
            <a:srgbClr val="E2EFF9"/>
          </a:solidFill>
          <a:ln w="13970">
            <a:solidFill>
              <a:srgbClr val="AAC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1362456"/>
            <a:ext cx="5020055" cy="347472"/>
          </a:xfrm>
          <a:prstGeom prst="rect">
            <a:avLst/>
          </a:prstGeom>
          <a:noFill/>
        </p:spPr>
        <p:txBody>
          <a:bodyPr wrap="square" anchor="t">
            <a:spAutoFit/>
          </a:bodyPr>
          <a:lstStyle/>
          <a:p>
            <a:pPr algn="l"/>
            <a:r>
              <a:rPr sz="1700" b="1">
                <a:solidFill>
                  <a:srgbClr val="2D70AA"/>
                </a:solidFill>
                <a:latin typeface="Arial"/>
              </a:rPr>
              <a:t>RECOMENDACIONES</a:t>
            </a:r>
          </a:p>
        </p:txBody>
      </p:sp>
      <p:sp>
        <p:nvSpPr>
          <p:cNvPr id="21" name="Oval 20"/>
          <p:cNvSpPr/>
          <p:nvPr/>
        </p:nvSpPr>
        <p:spPr>
          <a:xfrm>
            <a:off x="6492240" y="1965960"/>
            <a:ext cx="384048" cy="384048"/>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1975103"/>
            <a:ext cx="384048" cy="365759"/>
          </a:xfrm>
          <a:prstGeom prst="rect">
            <a:avLst/>
          </a:prstGeom>
          <a:noFill/>
        </p:spPr>
        <p:txBody>
          <a:bodyPr wrap="square" anchor="ctr">
            <a:spAutoFit/>
          </a:bodyPr>
          <a:lstStyle/>
          <a:p>
            <a:pPr algn="ctr"/>
            <a:r>
              <a:rPr sz="1300" b="1">
                <a:solidFill>
                  <a:srgbClr val="FFFFFF"/>
                </a:solidFill>
                <a:latin typeface="Arial"/>
              </a:rPr>
              <a:t>1</a:t>
            </a:r>
          </a:p>
        </p:txBody>
      </p:sp>
      <p:sp>
        <p:nvSpPr>
          <p:cNvPr id="23" name="TextBox 22"/>
          <p:cNvSpPr txBox="1"/>
          <p:nvPr/>
        </p:nvSpPr>
        <p:spPr>
          <a:xfrm>
            <a:off x="7059168" y="1947672"/>
            <a:ext cx="3977639" cy="749808"/>
          </a:xfrm>
          <a:prstGeom prst="rect">
            <a:avLst/>
          </a:prstGeom>
          <a:noFill/>
        </p:spPr>
        <p:txBody>
          <a:bodyPr wrap="square" anchor="t">
            <a:spAutoFit/>
          </a:bodyPr>
          <a:lstStyle/>
          <a:p>
            <a:pPr algn="l"/>
            <a:r>
              <a:rPr sz="1450" b="0">
                <a:solidFill>
                  <a:srgbClr val="30373E"/>
                </a:solidFill>
                <a:latin typeface="Arial"/>
              </a:rPr>
              <a:t>Desarrollar el frontend en Angular sobre el API Gateway.</a:t>
            </a:r>
          </a:p>
        </p:txBody>
      </p:sp>
      <p:sp>
        <p:nvSpPr>
          <p:cNvPr id="24" name="Oval 23"/>
          <p:cNvSpPr/>
          <p:nvPr/>
        </p:nvSpPr>
        <p:spPr>
          <a:xfrm>
            <a:off x="6492240" y="3017520"/>
            <a:ext cx="384048" cy="384048"/>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3026663"/>
            <a:ext cx="384048" cy="365759"/>
          </a:xfrm>
          <a:prstGeom prst="rect">
            <a:avLst/>
          </a:prstGeom>
          <a:noFill/>
        </p:spPr>
        <p:txBody>
          <a:bodyPr wrap="square" anchor="ctr">
            <a:spAutoFit/>
          </a:bodyPr>
          <a:lstStyle/>
          <a:p>
            <a:pPr algn="ctr"/>
            <a:r>
              <a:rPr sz="1300" b="1">
                <a:solidFill>
                  <a:srgbClr val="FFFFFF"/>
                </a:solidFill>
                <a:latin typeface="Arial"/>
              </a:rPr>
              <a:t>2</a:t>
            </a:r>
          </a:p>
        </p:txBody>
      </p:sp>
      <p:sp>
        <p:nvSpPr>
          <p:cNvPr id="26" name="TextBox 25"/>
          <p:cNvSpPr txBox="1"/>
          <p:nvPr/>
        </p:nvSpPr>
        <p:spPr>
          <a:xfrm>
            <a:off x="7059168" y="2999232"/>
            <a:ext cx="3977639" cy="749808"/>
          </a:xfrm>
          <a:prstGeom prst="rect">
            <a:avLst/>
          </a:prstGeom>
          <a:noFill/>
        </p:spPr>
        <p:txBody>
          <a:bodyPr wrap="square" anchor="t">
            <a:spAutoFit/>
          </a:bodyPr>
          <a:lstStyle/>
          <a:p>
            <a:pPr algn="l"/>
            <a:r>
              <a:rPr sz="1450" b="0">
                <a:solidFill>
                  <a:srgbClr val="30373E"/>
                </a:solidFill>
                <a:latin typeface="Arial"/>
              </a:rPr>
              <a:t>Para producción: plan sin suspensión, RabbitMQ administrado y gestor de secretos.</a:t>
            </a:r>
          </a:p>
        </p:txBody>
      </p:sp>
      <p:sp>
        <p:nvSpPr>
          <p:cNvPr id="27" name="Oval 26"/>
          <p:cNvSpPr/>
          <p:nvPr/>
        </p:nvSpPr>
        <p:spPr>
          <a:xfrm>
            <a:off x="6492240" y="4069079"/>
            <a:ext cx="384048" cy="384048"/>
          </a:xfrm>
          <a:prstGeom prst="ellipse">
            <a:avLst/>
          </a:prstGeom>
          <a:solidFill>
            <a:srgbClr val="2D7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4078223"/>
            <a:ext cx="384048" cy="365759"/>
          </a:xfrm>
          <a:prstGeom prst="rect">
            <a:avLst/>
          </a:prstGeom>
          <a:noFill/>
        </p:spPr>
        <p:txBody>
          <a:bodyPr wrap="square" anchor="ctr">
            <a:spAutoFit/>
          </a:bodyPr>
          <a:lstStyle/>
          <a:p>
            <a:pPr algn="ctr"/>
            <a:r>
              <a:rPr sz="1300" b="1">
                <a:solidFill>
                  <a:srgbClr val="FFFFFF"/>
                </a:solidFill>
                <a:latin typeface="Arial"/>
              </a:rPr>
              <a:t>3</a:t>
            </a:r>
          </a:p>
        </p:txBody>
      </p:sp>
      <p:sp>
        <p:nvSpPr>
          <p:cNvPr id="29" name="TextBox 28"/>
          <p:cNvSpPr txBox="1"/>
          <p:nvPr/>
        </p:nvSpPr>
        <p:spPr>
          <a:xfrm>
            <a:off x="7059168" y="4050791"/>
            <a:ext cx="3977639" cy="749808"/>
          </a:xfrm>
          <a:prstGeom prst="rect">
            <a:avLst/>
          </a:prstGeom>
          <a:noFill/>
        </p:spPr>
        <p:txBody>
          <a:bodyPr wrap="square" anchor="t">
            <a:spAutoFit/>
          </a:bodyPr>
          <a:lstStyle/>
          <a:p>
            <a:pPr algn="l"/>
            <a:r>
              <a:rPr sz="1450" b="0">
                <a:solidFill>
                  <a:srgbClr val="30373E"/>
                </a:solidFill>
                <a:latin typeface="Arial"/>
              </a:rPr>
              <a:t>Monitorear con Prometheus y Grafana y repetir la prueba de carga en cada versión.</a:t>
            </a:r>
          </a:p>
        </p:txBody>
      </p:sp>
      <p:sp>
        <p:nvSpPr>
          <p:cNvPr id="30" name="Rounded Rectangle 29"/>
          <p:cNvSpPr/>
          <p:nvPr/>
        </p:nvSpPr>
        <p:spPr>
          <a:xfrm>
            <a:off x="2331720" y="5897880"/>
            <a:ext cx="7543800" cy="438912"/>
          </a:xfrm>
          <a:prstGeom prst="round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31720" y="5907024"/>
            <a:ext cx="7543800" cy="420623"/>
          </a:xfrm>
          <a:prstGeom prst="rect">
            <a:avLst/>
          </a:prstGeom>
          <a:noFill/>
        </p:spPr>
        <p:txBody>
          <a:bodyPr wrap="square" anchor="ctr">
            <a:spAutoFit/>
          </a:bodyPr>
          <a:lstStyle/>
          <a:p>
            <a:pPr algn="ctr"/>
            <a:r>
              <a:rPr sz="1300" b="1">
                <a:solidFill>
                  <a:srgbClr val="FFFFFF"/>
                </a:solidFill>
                <a:latin typeface="Arial"/>
              </a:rPr>
              <a:t>SIGIP: del pedido a la entrega, con información visible.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Arquitectura implementada</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15</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Microservicios con Spring Cloud: cada módulo tiene su propia base de datos</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15</a:t>
            </a:r>
          </a:p>
        </p:txBody>
      </p:sp>
      <p:sp>
        <p:nvSpPr>
          <p:cNvPr id="8" name="Rounded Rectangle 7"/>
          <p:cNvSpPr/>
          <p:nvPr/>
        </p:nvSpPr>
        <p:spPr>
          <a:xfrm>
            <a:off x="548640" y="1330000"/>
            <a:ext cx="1900000" cy="52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0000"/>
            <a:ext cx="1900000" cy="520000"/>
          </a:xfrm>
          <a:prstGeom prst="rect">
            <a:avLst/>
          </a:prstGeom>
          <a:noFill/>
        </p:spPr>
        <p:txBody>
          <a:bodyPr wrap="square" anchor="ctr" lIns="45720" rIns="45720">
            <a:spAutoFit/>
          </a:bodyPr>
          <a:lstStyle/>
          <a:p>
            <a:pPr algn="ctr"/>
            <a:r>
              <a:rPr sz="1400" b="1">
                <a:solidFill>
                  <a:srgbClr val="30373E"/>
                </a:solidFill>
                <a:latin typeface="Arial"/>
              </a:rPr>
              <a:t>Cliente / Postman</a:t>
            </a:r>
          </a:p>
        </p:txBody>
      </p:sp>
      <p:cxnSp>
        <p:nvCxnSpPr>
          <p:cNvPr id="10" name="Connector 9"/>
          <p:cNvCxnSpPr/>
          <p:nvPr/>
        </p:nvCxnSpPr>
        <p:spPr>
          <a:xfrm>
            <a:off x="2448640" y="1590000"/>
            <a:ext cx="55000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998640" y="1290000"/>
            <a:ext cx="3600000" cy="600000"/>
          </a:xfrm>
          <a:prstGeom prst="roundRect">
            <a:avLst>
              <a:gd name="adj" fmla="val 8000"/>
            </a:avLst>
          </a:prstGeom>
          <a:solidFill>
            <a:srgbClr val="183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8640" y="1290000"/>
            <a:ext cx="3600000" cy="600000"/>
          </a:xfrm>
          <a:prstGeom prst="rect">
            <a:avLst/>
          </a:prstGeom>
          <a:noFill/>
        </p:spPr>
        <p:txBody>
          <a:bodyPr wrap="square" anchor="ctr" lIns="45720" rIns="45720">
            <a:spAutoFit/>
          </a:bodyPr>
          <a:lstStyle/>
          <a:p>
            <a:pPr algn="ctr"/>
            <a:r>
              <a:rPr sz="1600" b="1">
                <a:solidFill>
                  <a:srgbClr val="FFFFFF"/>
                </a:solidFill>
                <a:latin typeface="Arial"/>
              </a:rPr>
              <a:t>API Gateway  :8090</a:t>
            </a:r>
          </a:p>
          <a:p>
            <a:pPr algn="ctr"/>
            <a:r>
              <a:rPr sz="1100" b="0">
                <a:solidFill>
                  <a:srgbClr val="D6E4F0"/>
                </a:solidFill>
                <a:latin typeface="Arial"/>
              </a:rPr>
              <a:t>rutas lb://  ·  CORS  ·  balanceo</a:t>
            </a:r>
          </a:p>
        </p:txBody>
      </p:sp>
      <p:cxnSp>
        <p:nvCxnSpPr>
          <p:cNvPr id="13" name="Connector 12"/>
          <p:cNvCxnSpPr/>
          <p:nvPr/>
        </p:nvCxnSpPr>
        <p:spPr>
          <a:xfrm>
            <a:off x="6598640" y="1590000"/>
            <a:ext cx="55000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148640" y="1290000"/>
            <a:ext cx="2700000" cy="6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48640" y="1290000"/>
            <a:ext cx="2700000" cy="600000"/>
          </a:xfrm>
          <a:prstGeom prst="rect">
            <a:avLst/>
          </a:prstGeom>
          <a:noFill/>
        </p:spPr>
        <p:txBody>
          <a:bodyPr wrap="square" anchor="ctr" lIns="45720" rIns="45720">
            <a:spAutoFit/>
          </a:bodyPr>
          <a:lstStyle/>
          <a:p>
            <a:pPr algn="ctr"/>
            <a:r>
              <a:rPr sz="1500" b="1">
                <a:solidFill>
                  <a:srgbClr val="2D70AA"/>
                </a:solidFill>
                <a:latin typeface="Arial"/>
              </a:rPr>
              <a:t>Eureka  :8761</a:t>
            </a:r>
          </a:p>
          <a:p>
            <a:pPr algn="ctr"/>
            <a:r>
              <a:rPr sz="1100" b="0">
                <a:solidFill>
                  <a:srgbClr val="30373E"/>
                </a:solidFill>
                <a:latin typeface="Arial"/>
              </a:rPr>
              <a:t>registro y descubrimiento</a:t>
            </a:r>
          </a:p>
        </p:txBody>
      </p:sp>
      <p:sp>
        <p:nvSpPr>
          <p:cNvPr id="16" name="Rounded Rectangle 15"/>
          <p:cNvSpPr/>
          <p:nvPr/>
        </p:nvSpPr>
        <p:spPr>
          <a:xfrm>
            <a:off x="548640" y="2500000"/>
            <a:ext cx="1310000" cy="9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540000"/>
            <a:ext cx="1310000" cy="820000"/>
          </a:xfrm>
          <a:prstGeom prst="rect">
            <a:avLst/>
          </a:prstGeom>
          <a:noFill/>
        </p:spPr>
        <p:txBody>
          <a:bodyPr wrap="square" anchor="ctr" lIns="45720" rIns="45720">
            <a:spAutoFit/>
          </a:bodyPr>
          <a:lstStyle/>
          <a:p>
            <a:pPr algn="ctr"/>
            <a:r>
              <a:rPr sz="1300" b="1">
                <a:solidFill>
                  <a:srgbClr val="2D70AA"/>
                </a:solidFill>
                <a:latin typeface="Arial"/>
              </a:rPr>
              <a:t>auth</a:t>
            </a:r>
          </a:p>
          <a:p>
            <a:pPr algn="ctr"/>
            <a:r>
              <a:rPr sz="1100" b="0">
                <a:solidFill>
                  <a:srgbClr val="30373E"/>
                </a:solidFill>
                <a:latin typeface="Arial"/>
              </a:rPr>
              <a:t>JWT + BCrypt</a:t>
            </a:r>
          </a:p>
        </p:txBody>
      </p:sp>
      <p:sp>
        <p:nvSpPr>
          <p:cNvPr id="18" name="Rounded Rectangle 17"/>
          <p:cNvSpPr/>
          <p:nvPr/>
        </p:nvSpPr>
        <p:spPr>
          <a:xfrm>
            <a:off x="878640" y="3520000"/>
            <a:ext cx="650000" cy="30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8640" y="3520000"/>
            <a:ext cx="650000" cy="300000"/>
          </a:xfrm>
          <a:prstGeom prst="rect">
            <a:avLst/>
          </a:prstGeom>
          <a:noFill/>
        </p:spPr>
        <p:txBody>
          <a:bodyPr wrap="square" anchor="ctr" lIns="45720" rIns="45720">
            <a:spAutoFit/>
          </a:bodyPr>
          <a:lstStyle/>
          <a:p>
            <a:pPr algn="ctr"/>
            <a:r>
              <a:rPr sz="1000" b="1">
                <a:solidFill>
                  <a:srgbClr val="677078"/>
                </a:solidFill>
                <a:latin typeface="Arial"/>
              </a:rPr>
              <a:t>BD</a:t>
            </a:r>
          </a:p>
        </p:txBody>
      </p:sp>
      <p:sp>
        <p:nvSpPr>
          <p:cNvPr id="20" name="Rounded Rectangle 19"/>
          <p:cNvSpPr/>
          <p:nvPr/>
        </p:nvSpPr>
        <p:spPr>
          <a:xfrm>
            <a:off x="1940640" y="2500000"/>
            <a:ext cx="1310000" cy="9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40640" y="2540000"/>
            <a:ext cx="1310000" cy="820000"/>
          </a:xfrm>
          <a:prstGeom prst="rect">
            <a:avLst/>
          </a:prstGeom>
          <a:noFill/>
        </p:spPr>
        <p:txBody>
          <a:bodyPr wrap="square" anchor="ctr" lIns="45720" rIns="45720">
            <a:spAutoFit/>
          </a:bodyPr>
          <a:lstStyle/>
          <a:p>
            <a:pPr algn="ctr"/>
            <a:r>
              <a:rPr sz="1300" b="1">
                <a:solidFill>
                  <a:srgbClr val="2D70AA"/>
                </a:solidFill>
                <a:latin typeface="Arial"/>
              </a:rPr>
              <a:t>catalog</a:t>
            </a:r>
          </a:p>
          <a:p>
            <a:pPr algn="ctr"/>
            <a:r>
              <a:rPr sz="1100" b="0">
                <a:solidFill>
                  <a:srgbClr val="30373E"/>
                </a:solidFill>
                <a:latin typeface="Arial"/>
              </a:rPr>
              <a:t>caché Caffeine</a:t>
            </a:r>
          </a:p>
        </p:txBody>
      </p:sp>
      <p:sp>
        <p:nvSpPr>
          <p:cNvPr id="22" name="Rounded Rectangle 21"/>
          <p:cNvSpPr/>
          <p:nvPr/>
        </p:nvSpPr>
        <p:spPr>
          <a:xfrm>
            <a:off x="2270640" y="3520000"/>
            <a:ext cx="650000" cy="30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0640" y="3520000"/>
            <a:ext cx="650000" cy="300000"/>
          </a:xfrm>
          <a:prstGeom prst="rect">
            <a:avLst/>
          </a:prstGeom>
          <a:noFill/>
        </p:spPr>
        <p:txBody>
          <a:bodyPr wrap="square" anchor="ctr" lIns="45720" rIns="45720">
            <a:spAutoFit/>
          </a:bodyPr>
          <a:lstStyle/>
          <a:p>
            <a:pPr algn="ctr"/>
            <a:r>
              <a:rPr sz="1000" b="1">
                <a:solidFill>
                  <a:srgbClr val="677078"/>
                </a:solidFill>
                <a:latin typeface="Arial"/>
              </a:rPr>
              <a:t>BD</a:t>
            </a:r>
          </a:p>
        </p:txBody>
      </p:sp>
      <p:sp>
        <p:nvSpPr>
          <p:cNvPr id="24" name="Rounded Rectangle 23"/>
          <p:cNvSpPr/>
          <p:nvPr/>
        </p:nvSpPr>
        <p:spPr>
          <a:xfrm>
            <a:off x="3332640" y="2500000"/>
            <a:ext cx="1310000" cy="9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32640" y="2540000"/>
            <a:ext cx="1310000" cy="820000"/>
          </a:xfrm>
          <a:prstGeom prst="rect">
            <a:avLst/>
          </a:prstGeom>
          <a:noFill/>
        </p:spPr>
        <p:txBody>
          <a:bodyPr wrap="square" anchor="ctr" lIns="45720" rIns="45720">
            <a:spAutoFit/>
          </a:bodyPr>
          <a:lstStyle/>
          <a:p>
            <a:pPr algn="ctr"/>
            <a:r>
              <a:rPr sz="1300" b="1">
                <a:solidFill>
                  <a:srgbClr val="2D70AA"/>
                </a:solidFill>
                <a:latin typeface="Arial"/>
              </a:rPr>
              <a:t>sales</a:t>
            </a:r>
          </a:p>
          <a:p>
            <a:pPr algn="ctr"/>
            <a:r>
              <a:rPr sz="1100" b="0">
                <a:solidFill>
                  <a:srgbClr val="30373E"/>
                </a:solidFill>
                <a:latin typeface="Arial"/>
              </a:rPr>
              <a:t>pedidos y pagos</a:t>
            </a:r>
          </a:p>
        </p:txBody>
      </p:sp>
      <p:sp>
        <p:nvSpPr>
          <p:cNvPr id="26" name="Rounded Rectangle 25"/>
          <p:cNvSpPr/>
          <p:nvPr/>
        </p:nvSpPr>
        <p:spPr>
          <a:xfrm>
            <a:off x="3662640" y="3520000"/>
            <a:ext cx="650000" cy="30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62640" y="3520000"/>
            <a:ext cx="650000" cy="300000"/>
          </a:xfrm>
          <a:prstGeom prst="rect">
            <a:avLst/>
          </a:prstGeom>
          <a:noFill/>
        </p:spPr>
        <p:txBody>
          <a:bodyPr wrap="square" anchor="ctr" lIns="45720" rIns="45720">
            <a:spAutoFit/>
          </a:bodyPr>
          <a:lstStyle/>
          <a:p>
            <a:pPr algn="ctr"/>
            <a:r>
              <a:rPr sz="1000" b="1">
                <a:solidFill>
                  <a:srgbClr val="677078"/>
                </a:solidFill>
                <a:latin typeface="Arial"/>
              </a:rPr>
              <a:t>BD</a:t>
            </a:r>
          </a:p>
        </p:txBody>
      </p:sp>
      <p:sp>
        <p:nvSpPr>
          <p:cNvPr id="28" name="Rounded Rectangle 27"/>
          <p:cNvSpPr/>
          <p:nvPr/>
        </p:nvSpPr>
        <p:spPr>
          <a:xfrm>
            <a:off x="4724640" y="2500000"/>
            <a:ext cx="1310000" cy="9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24640" y="2540000"/>
            <a:ext cx="1310000" cy="820000"/>
          </a:xfrm>
          <a:prstGeom prst="rect">
            <a:avLst/>
          </a:prstGeom>
          <a:noFill/>
        </p:spPr>
        <p:txBody>
          <a:bodyPr wrap="square" anchor="ctr" lIns="45720" rIns="45720">
            <a:spAutoFit/>
          </a:bodyPr>
          <a:lstStyle/>
          <a:p>
            <a:pPr algn="ctr"/>
            <a:r>
              <a:rPr sz="1300" b="1">
                <a:solidFill>
                  <a:srgbClr val="2D70AA"/>
                </a:solidFill>
                <a:latin typeface="Arial"/>
              </a:rPr>
              <a:t>design</a:t>
            </a:r>
          </a:p>
          <a:p>
            <a:pPr algn="ctr"/>
            <a:r>
              <a:rPr sz="1100" b="0">
                <a:solidFill>
                  <a:srgbClr val="30373E"/>
                </a:solidFill>
                <a:latin typeface="Arial"/>
              </a:rPr>
              <a:t>versiones</a:t>
            </a:r>
          </a:p>
        </p:txBody>
      </p:sp>
      <p:sp>
        <p:nvSpPr>
          <p:cNvPr id="30" name="Rounded Rectangle 29"/>
          <p:cNvSpPr/>
          <p:nvPr/>
        </p:nvSpPr>
        <p:spPr>
          <a:xfrm>
            <a:off x="5054640" y="3520000"/>
            <a:ext cx="650000" cy="30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4640" y="3520000"/>
            <a:ext cx="650000" cy="300000"/>
          </a:xfrm>
          <a:prstGeom prst="rect">
            <a:avLst/>
          </a:prstGeom>
          <a:noFill/>
        </p:spPr>
        <p:txBody>
          <a:bodyPr wrap="square" anchor="ctr" lIns="45720" rIns="45720">
            <a:spAutoFit/>
          </a:bodyPr>
          <a:lstStyle/>
          <a:p>
            <a:pPr algn="ctr"/>
            <a:r>
              <a:rPr sz="1000" b="1">
                <a:solidFill>
                  <a:srgbClr val="677078"/>
                </a:solidFill>
                <a:latin typeface="Arial"/>
              </a:rPr>
              <a:t>BD</a:t>
            </a:r>
          </a:p>
        </p:txBody>
      </p:sp>
      <p:sp>
        <p:nvSpPr>
          <p:cNvPr id="32" name="Rounded Rectangle 31"/>
          <p:cNvSpPr/>
          <p:nvPr/>
        </p:nvSpPr>
        <p:spPr>
          <a:xfrm>
            <a:off x="6116640" y="2500000"/>
            <a:ext cx="1310000" cy="9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16640" y="2540000"/>
            <a:ext cx="1310000" cy="820000"/>
          </a:xfrm>
          <a:prstGeom prst="rect">
            <a:avLst/>
          </a:prstGeom>
          <a:noFill/>
        </p:spPr>
        <p:txBody>
          <a:bodyPr wrap="square" anchor="ctr" lIns="45720" rIns="45720">
            <a:spAutoFit/>
          </a:bodyPr>
          <a:lstStyle/>
          <a:p>
            <a:pPr algn="ctr"/>
            <a:r>
              <a:rPr sz="1300" b="1">
                <a:solidFill>
                  <a:srgbClr val="2D70AA"/>
                </a:solidFill>
                <a:latin typeface="Arial"/>
              </a:rPr>
              <a:t>production</a:t>
            </a:r>
          </a:p>
          <a:p>
            <a:pPr algn="ctr"/>
            <a:r>
              <a:rPr sz="1100" b="0">
                <a:solidFill>
                  <a:srgbClr val="30373E"/>
                </a:solidFill>
                <a:latin typeface="Arial"/>
              </a:rPr>
              <a:t>órdenes</a:t>
            </a:r>
          </a:p>
        </p:txBody>
      </p:sp>
      <p:sp>
        <p:nvSpPr>
          <p:cNvPr id="34" name="Rounded Rectangle 33"/>
          <p:cNvSpPr/>
          <p:nvPr/>
        </p:nvSpPr>
        <p:spPr>
          <a:xfrm>
            <a:off x="6446640" y="3520000"/>
            <a:ext cx="650000" cy="30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640" y="3520000"/>
            <a:ext cx="650000" cy="300000"/>
          </a:xfrm>
          <a:prstGeom prst="rect">
            <a:avLst/>
          </a:prstGeom>
          <a:noFill/>
        </p:spPr>
        <p:txBody>
          <a:bodyPr wrap="square" anchor="ctr" lIns="45720" rIns="45720">
            <a:spAutoFit/>
          </a:bodyPr>
          <a:lstStyle/>
          <a:p>
            <a:pPr algn="ctr"/>
            <a:r>
              <a:rPr sz="1000" b="1">
                <a:solidFill>
                  <a:srgbClr val="677078"/>
                </a:solidFill>
                <a:latin typeface="Arial"/>
              </a:rPr>
              <a:t>BD</a:t>
            </a:r>
          </a:p>
        </p:txBody>
      </p:sp>
      <p:sp>
        <p:nvSpPr>
          <p:cNvPr id="36" name="Rounded Rectangle 35"/>
          <p:cNvSpPr/>
          <p:nvPr/>
        </p:nvSpPr>
        <p:spPr>
          <a:xfrm>
            <a:off x="7508640" y="2500000"/>
            <a:ext cx="1310000" cy="9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08640" y="2540000"/>
            <a:ext cx="1310000" cy="820000"/>
          </a:xfrm>
          <a:prstGeom prst="rect">
            <a:avLst/>
          </a:prstGeom>
          <a:noFill/>
        </p:spPr>
        <p:txBody>
          <a:bodyPr wrap="square" anchor="ctr" lIns="45720" rIns="45720">
            <a:spAutoFit/>
          </a:bodyPr>
          <a:lstStyle/>
          <a:p>
            <a:pPr algn="ctr"/>
            <a:r>
              <a:rPr sz="1300" b="1">
                <a:solidFill>
                  <a:srgbClr val="2D70AA"/>
                </a:solidFill>
                <a:latin typeface="Arial"/>
              </a:rPr>
              <a:t>inventory</a:t>
            </a:r>
          </a:p>
          <a:p>
            <a:pPr algn="ctr"/>
            <a:r>
              <a:rPr sz="1100" b="0">
                <a:solidFill>
                  <a:srgbClr val="30373E"/>
                </a:solidFill>
                <a:latin typeface="Arial"/>
              </a:rPr>
              <a:t>kárdex</a:t>
            </a:r>
          </a:p>
        </p:txBody>
      </p:sp>
      <p:sp>
        <p:nvSpPr>
          <p:cNvPr id="38" name="Rounded Rectangle 37"/>
          <p:cNvSpPr/>
          <p:nvPr/>
        </p:nvSpPr>
        <p:spPr>
          <a:xfrm>
            <a:off x="7838640" y="3520000"/>
            <a:ext cx="650000" cy="30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38640" y="3520000"/>
            <a:ext cx="650000" cy="300000"/>
          </a:xfrm>
          <a:prstGeom prst="rect">
            <a:avLst/>
          </a:prstGeom>
          <a:noFill/>
        </p:spPr>
        <p:txBody>
          <a:bodyPr wrap="square" anchor="ctr" lIns="45720" rIns="45720">
            <a:spAutoFit/>
          </a:bodyPr>
          <a:lstStyle/>
          <a:p>
            <a:pPr algn="ctr"/>
            <a:r>
              <a:rPr sz="1000" b="1">
                <a:solidFill>
                  <a:srgbClr val="677078"/>
                </a:solidFill>
                <a:latin typeface="Arial"/>
              </a:rPr>
              <a:t>BD</a:t>
            </a:r>
          </a:p>
        </p:txBody>
      </p:sp>
      <p:sp>
        <p:nvSpPr>
          <p:cNvPr id="40" name="Rounded Rectangle 39"/>
          <p:cNvSpPr/>
          <p:nvPr/>
        </p:nvSpPr>
        <p:spPr>
          <a:xfrm>
            <a:off x="8900640" y="2500000"/>
            <a:ext cx="1310000" cy="9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00640" y="2540000"/>
            <a:ext cx="1310000" cy="820000"/>
          </a:xfrm>
          <a:prstGeom prst="rect">
            <a:avLst/>
          </a:prstGeom>
          <a:noFill/>
        </p:spPr>
        <p:txBody>
          <a:bodyPr wrap="square" anchor="ctr" lIns="45720" rIns="45720">
            <a:spAutoFit/>
          </a:bodyPr>
          <a:lstStyle/>
          <a:p>
            <a:pPr algn="ctr"/>
            <a:r>
              <a:rPr sz="1300" b="1">
                <a:solidFill>
                  <a:srgbClr val="4F9667"/>
                </a:solidFill>
                <a:latin typeface="Arial"/>
              </a:rPr>
              <a:t>notification</a:t>
            </a:r>
          </a:p>
          <a:p>
            <a:pPr algn="ctr"/>
            <a:r>
              <a:rPr sz="1100" b="0">
                <a:solidFill>
                  <a:srgbClr val="30373E"/>
                </a:solidFill>
                <a:latin typeface="Arial"/>
              </a:rPr>
              <a:t>eventos</a:t>
            </a:r>
          </a:p>
        </p:txBody>
      </p:sp>
      <p:sp>
        <p:nvSpPr>
          <p:cNvPr id="42" name="Rounded Rectangle 41"/>
          <p:cNvSpPr/>
          <p:nvPr/>
        </p:nvSpPr>
        <p:spPr>
          <a:xfrm>
            <a:off x="9230640" y="3520000"/>
            <a:ext cx="650000" cy="30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30640" y="3520000"/>
            <a:ext cx="650000" cy="300000"/>
          </a:xfrm>
          <a:prstGeom prst="rect">
            <a:avLst/>
          </a:prstGeom>
          <a:noFill/>
        </p:spPr>
        <p:txBody>
          <a:bodyPr wrap="square" anchor="ctr" lIns="45720" rIns="45720">
            <a:spAutoFit/>
          </a:bodyPr>
          <a:lstStyle/>
          <a:p>
            <a:pPr algn="ctr"/>
            <a:r>
              <a:rPr sz="1000" b="1">
                <a:solidFill>
                  <a:srgbClr val="677078"/>
                </a:solidFill>
                <a:latin typeface="Arial"/>
              </a:rPr>
              <a:t>BD</a:t>
            </a:r>
          </a:p>
        </p:txBody>
      </p:sp>
      <p:sp>
        <p:nvSpPr>
          <p:cNvPr id="44" name="Rounded Rectangle 43"/>
          <p:cNvSpPr/>
          <p:nvPr/>
        </p:nvSpPr>
        <p:spPr>
          <a:xfrm>
            <a:off x="10292640" y="2500000"/>
            <a:ext cx="1310000" cy="9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292640" y="2540000"/>
            <a:ext cx="1310000" cy="820000"/>
          </a:xfrm>
          <a:prstGeom prst="rect">
            <a:avLst/>
          </a:prstGeom>
          <a:noFill/>
        </p:spPr>
        <p:txBody>
          <a:bodyPr wrap="square" anchor="ctr" lIns="45720" rIns="45720">
            <a:spAutoFit/>
          </a:bodyPr>
          <a:lstStyle/>
          <a:p>
            <a:pPr algn="ctr"/>
            <a:r>
              <a:rPr sz="1300" b="1">
                <a:solidFill>
                  <a:srgbClr val="2D70AA"/>
                </a:solidFill>
                <a:latin typeface="Arial"/>
              </a:rPr>
              <a:t>report</a:t>
            </a:r>
          </a:p>
          <a:p>
            <a:pPr algn="ctr"/>
            <a:r>
              <a:rPr sz="1100" b="0">
                <a:solidFill>
                  <a:srgbClr val="30373E"/>
                </a:solidFill>
                <a:latin typeface="Arial"/>
              </a:rPr>
              <a:t>dashboard</a:t>
            </a:r>
          </a:p>
        </p:txBody>
      </p:sp>
      <p:cxnSp>
        <p:nvCxnSpPr>
          <p:cNvPr id="46" name="Connector 45"/>
          <p:cNvCxnSpPr/>
          <p:nvPr/>
        </p:nvCxnSpPr>
        <p:spPr>
          <a:xfrm>
            <a:off x="4798640" y="1890000"/>
            <a:ext cx="0" cy="59000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3950000"/>
            <a:ext cx="11155680" cy="330000"/>
          </a:xfrm>
          <a:prstGeom prst="rect">
            <a:avLst/>
          </a:prstGeom>
          <a:noFill/>
        </p:spPr>
        <p:txBody>
          <a:bodyPr wrap="square" anchor="t" lIns="45720" rIns="45720">
            <a:spAutoFit/>
          </a:bodyPr>
          <a:lstStyle/>
          <a:p>
            <a:pPr algn="l"/>
            <a:r>
              <a:rPr sz="1500" b="1">
                <a:solidFill>
                  <a:srgbClr val="183F66"/>
                </a:solidFill>
                <a:latin typeface="Arial"/>
              </a:rPr>
              <a:t>Cómo se comunican</a:t>
            </a:r>
          </a:p>
        </p:txBody>
      </p:sp>
      <p:sp>
        <p:nvSpPr>
          <p:cNvPr id="48" name="Rounded Rectangle 47"/>
          <p:cNvSpPr/>
          <p:nvPr/>
        </p:nvSpPr>
        <p:spPr>
          <a:xfrm>
            <a:off x="548640" y="4330000"/>
            <a:ext cx="3600000" cy="175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8640" y="4440000"/>
            <a:ext cx="3300000" cy="380000"/>
          </a:xfrm>
          <a:prstGeom prst="rect">
            <a:avLst/>
          </a:prstGeom>
          <a:noFill/>
        </p:spPr>
        <p:txBody>
          <a:bodyPr wrap="square" anchor="t" lIns="45720" rIns="45720">
            <a:spAutoFit/>
          </a:bodyPr>
          <a:lstStyle/>
          <a:p>
            <a:pPr algn="l"/>
            <a:r>
              <a:rPr sz="1500" b="1">
                <a:solidFill>
                  <a:srgbClr val="2D70AA"/>
                </a:solidFill>
                <a:latin typeface="Arial"/>
              </a:rPr>
              <a:t>Síncrona</a:t>
            </a:r>
          </a:p>
        </p:txBody>
      </p:sp>
      <p:sp>
        <p:nvSpPr>
          <p:cNvPr id="50" name="TextBox 49"/>
          <p:cNvSpPr txBox="1"/>
          <p:nvPr/>
        </p:nvSpPr>
        <p:spPr>
          <a:xfrm>
            <a:off x="698640" y="4850000"/>
            <a:ext cx="3300000" cy="1150000"/>
          </a:xfrm>
          <a:prstGeom prst="rect">
            <a:avLst/>
          </a:prstGeom>
          <a:noFill/>
        </p:spPr>
        <p:txBody>
          <a:bodyPr wrap="square" anchor="t" lIns="45720" rIns="45720">
            <a:spAutoFit/>
          </a:bodyPr>
          <a:lstStyle/>
          <a:p>
            <a:pPr algn="l"/>
            <a:r>
              <a:rPr sz="1300" b="0">
                <a:solidFill>
                  <a:srgbClr val="30373E"/>
                </a:solidFill>
                <a:latin typeface="Arial"/>
              </a:rPr>
              <a:t>OpenFeign + Resilience4j:</a:t>
            </a:r>
          </a:p>
          <a:p>
            <a:pPr algn="l"/>
            <a:r>
              <a:rPr sz="1300" b="0">
                <a:solidFill>
                  <a:srgbClr val="30373E"/>
                </a:solidFill>
                <a:latin typeface="Arial"/>
              </a:rPr>
              <a:t>timeouts, circuit breaker</a:t>
            </a:r>
          </a:p>
          <a:p>
            <a:pPr algn="l"/>
            <a:r>
              <a:rPr sz="1300" b="0">
                <a:solidFill>
                  <a:srgbClr val="30373E"/>
                </a:solidFill>
                <a:latin typeface="Arial"/>
              </a:rPr>
              <a:t>y fallback si un servicio cae.</a:t>
            </a:r>
          </a:p>
        </p:txBody>
      </p:sp>
      <p:sp>
        <p:nvSpPr>
          <p:cNvPr id="51" name="Rounded Rectangle 50"/>
          <p:cNvSpPr/>
          <p:nvPr/>
        </p:nvSpPr>
        <p:spPr>
          <a:xfrm>
            <a:off x="4328640" y="4330000"/>
            <a:ext cx="3600000" cy="175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478640" y="4440000"/>
            <a:ext cx="3300000" cy="380000"/>
          </a:xfrm>
          <a:prstGeom prst="rect">
            <a:avLst/>
          </a:prstGeom>
          <a:noFill/>
        </p:spPr>
        <p:txBody>
          <a:bodyPr wrap="square" anchor="t" lIns="45720" rIns="45720">
            <a:spAutoFit/>
          </a:bodyPr>
          <a:lstStyle/>
          <a:p>
            <a:pPr algn="l"/>
            <a:r>
              <a:rPr sz="1500" b="1">
                <a:solidFill>
                  <a:srgbClr val="4F9667"/>
                </a:solidFill>
                <a:latin typeface="Arial"/>
              </a:rPr>
              <a:t>Asíncrona</a:t>
            </a:r>
          </a:p>
        </p:txBody>
      </p:sp>
      <p:sp>
        <p:nvSpPr>
          <p:cNvPr id="53" name="TextBox 52"/>
          <p:cNvSpPr txBox="1"/>
          <p:nvPr/>
        </p:nvSpPr>
        <p:spPr>
          <a:xfrm>
            <a:off x="4478640" y="4850000"/>
            <a:ext cx="3300000" cy="1150000"/>
          </a:xfrm>
          <a:prstGeom prst="rect">
            <a:avLst/>
          </a:prstGeom>
          <a:noFill/>
        </p:spPr>
        <p:txBody>
          <a:bodyPr wrap="square" anchor="t" lIns="45720" rIns="45720">
            <a:spAutoFit/>
          </a:bodyPr>
          <a:lstStyle/>
          <a:p>
            <a:pPr algn="l"/>
            <a:r>
              <a:rPr sz="1300" b="0">
                <a:solidFill>
                  <a:srgbClr val="30373E"/>
                </a:solidFill>
                <a:latin typeface="Arial"/>
              </a:rPr>
              <a:t>RabbitMQ: sales publica eventos,</a:t>
            </a:r>
          </a:p>
          <a:p>
            <a:pPr algn="l"/>
            <a:r>
              <a:rPr sz="1300" b="0">
                <a:solidFill>
                  <a:srgbClr val="30373E"/>
                </a:solidFill>
                <a:latin typeface="Arial"/>
              </a:rPr>
              <a:t>notification los consume con</a:t>
            </a:r>
          </a:p>
          <a:p>
            <a:pPr algn="l"/>
            <a:r>
              <a:rPr sz="1300" b="0">
                <a:solidFill>
                  <a:srgbClr val="30373E"/>
                </a:solidFill>
                <a:latin typeface="Arial"/>
              </a:rPr>
              <a:t>reintentos, DLQ e idempotencia.</a:t>
            </a:r>
          </a:p>
        </p:txBody>
      </p:sp>
      <p:sp>
        <p:nvSpPr>
          <p:cNvPr id="54" name="Rounded Rectangle 53"/>
          <p:cNvSpPr/>
          <p:nvPr/>
        </p:nvSpPr>
        <p:spPr>
          <a:xfrm>
            <a:off x="8108640" y="4330000"/>
            <a:ext cx="3600000" cy="1750000"/>
          </a:xfrm>
          <a:prstGeom prst="roundRect">
            <a:avLst>
              <a:gd name="adj" fmla="val 8000"/>
            </a:avLst>
          </a:prstGeom>
          <a:solidFill>
            <a:srgbClr val="FBEEDF"/>
          </a:solidFill>
          <a:ln w="13970">
            <a:solidFill>
              <a:srgbClr val="E8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58640" y="4440000"/>
            <a:ext cx="3300000" cy="380000"/>
          </a:xfrm>
          <a:prstGeom prst="rect">
            <a:avLst/>
          </a:prstGeom>
          <a:noFill/>
        </p:spPr>
        <p:txBody>
          <a:bodyPr wrap="square" anchor="t" lIns="45720" rIns="45720">
            <a:spAutoFit/>
          </a:bodyPr>
          <a:lstStyle/>
          <a:p>
            <a:pPr algn="l"/>
            <a:r>
              <a:rPr sz="1500" b="1">
                <a:solidFill>
                  <a:srgbClr val="C0712B"/>
                </a:solidFill>
                <a:latin typeface="Arial"/>
              </a:rPr>
              <a:t>Librería sigip-common</a:t>
            </a:r>
          </a:p>
        </p:txBody>
      </p:sp>
      <p:sp>
        <p:nvSpPr>
          <p:cNvPr id="56" name="TextBox 55"/>
          <p:cNvSpPr txBox="1"/>
          <p:nvPr/>
        </p:nvSpPr>
        <p:spPr>
          <a:xfrm>
            <a:off x="8258640" y="4850000"/>
            <a:ext cx="3300000" cy="1150000"/>
          </a:xfrm>
          <a:prstGeom prst="rect">
            <a:avLst/>
          </a:prstGeom>
          <a:noFill/>
        </p:spPr>
        <p:txBody>
          <a:bodyPr wrap="square" anchor="t" lIns="45720" rIns="45720">
            <a:spAutoFit/>
          </a:bodyPr>
          <a:lstStyle/>
          <a:p>
            <a:pPr algn="l"/>
            <a:r>
              <a:rPr sz="1300" b="0">
                <a:solidFill>
                  <a:srgbClr val="30373E"/>
                </a:solidFill>
                <a:latin typeface="Arial"/>
              </a:rPr>
              <a:t>Seguridad JWT, errores con un</a:t>
            </a:r>
          </a:p>
          <a:p>
            <a:pPr algn="l"/>
            <a:r>
              <a:rPr sz="1300" b="0">
                <a:solidFill>
                  <a:srgbClr val="30373E"/>
                </a:solidFill>
                <a:latin typeface="Arial"/>
              </a:rPr>
              <a:t>solo formato y contrato de</a:t>
            </a:r>
          </a:p>
          <a:p>
            <a:pPr algn="l"/>
            <a:r>
              <a:rPr sz="1300" b="0">
                <a:solidFill>
                  <a:srgbClr val="30373E"/>
                </a:solidFill>
                <a:latin typeface="Arial"/>
              </a:rPr>
              <a:t>eventos compartidos (SOLID, DRY).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Integración y despliegue continuo</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16</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Cada push a main o develop se compila, se prueba y se empaqueta automáticamente</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16</a:t>
            </a:r>
          </a:p>
        </p:txBody>
      </p:sp>
      <p:sp>
        <p:nvSpPr>
          <p:cNvPr id="8" name="Rounded Rectangle 7"/>
          <p:cNvSpPr/>
          <p:nvPr/>
        </p:nvSpPr>
        <p:spPr>
          <a:xfrm>
            <a:off x="548640" y="1450000"/>
            <a:ext cx="2000000" cy="15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08640" y="1580000"/>
            <a:ext cx="480000" cy="480000"/>
          </a:xfrm>
          <a:prstGeom prst="ellipse">
            <a:avLst/>
          </a:prstGeom>
          <a:solidFill>
            <a:srgbClr val="2D70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08640" y="1580000"/>
            <a:ext cx="480000" cy="480000"/>
          </a:xfrm>
          <a:prstGeom prst="rect">
            <a:avLst/>
          </a:prstGeom>
          <a:noFill/>
        </p:spPr>
        <p:txBody>
          <a:bodyPr wrap="square" anchor="ctr" lIns="45720" rIns="45720">
            <a:spAutoFit/>
          </a:bodyPr>
          <a:lstStyle/>
          <a:p>
            <a:pPr algn="ctr"/>
            <a:r>
              <a:rPr sz="1700" b="1">
                <a:solidFill>
                  <a:srgbClr val="FFFFFF"/>
                </a:solidFill>
                <a:latin typeface="Arial"/>
              </a:rPr>
              <a:t>1</a:t>
            </a:r>
          </a:p>
        </p:txBody>
      </p:sp>
      <p:sp>
        <p:nvSpPr>
          <p:cNvPr id="11" name="TextBox 10"/>
          <p:cNvSpPr txBox="1"/>
          <p:nvPr/>
        </p:nvSpPr>
        <p:spPr>
          <a:xfrm>
            <a:off x="548640" y="2150000"/>
            <a:ext cx="2000000" cy="380000"/>
          </a:xfrm>
          <a:prstGeom prst="rect">
            <a:avLst/>
          </a:prstGeom>
          <a:noFill/>
        </p:spPr>
        <p:txBody>
          <a:bodyPr wrap="square" anchor="t" lIns="45720" rIns="45720">
            <a:spAutoFit/>
          </a:bodyPr>
          <a:lstStyle/>
          <a:p>
            <a:pPr algn="ctr"/>
            <a:r>
              <a:rPr sz="1700" b="1">
                <a:solidFill>
                  <a:srgbClr val="2D70AA"/>
                </a:solidFill>
                <a:latin typeface="Arial"/>
              </a:rPr>
              <a:t>Push / PR</a:t>
            </a:r>
          </a:p>
        </p:txBody>
      </p:sp>
      <p:sp>
        <p:nvSpPr>
          <p:cNvPr id="12" name="TextBox 11"/>
          <p:cNvSpPr txBox="1"/>
          <p:nvPr/>
        </p:nvSpPr>
        <p:spPr>
          <a:xfrm>
            <a:off x="548640" y="2540000"/>
            <a:ext cx="2000000" cy="380000"/>
          </a:xfrm>
          <a:prstGeom prst="rect">
            <a:avLst/>
          </a:prstGeom>
          <a:noFill/>
        </p:spPr>
        <p:txBody>
          <a:bodyPr wrap="square" anchor="t" lIns="45720" rIns="45720">
            <a:spAutoFit/>
          </a:bodyPr>
          <a:lstStyle/>
          <a:p>
            <a:pPr algn="ctr"/>
            <a:r>
              <a:rPr sz="1200" b="0">
                <a:solidFill>
                  <a:srgbClr val="30373E"/>
                </a:solidFill>
                <a:latin typeface="Arial"/>
              </a:rPr>
              <a:t>GitHub</a:t>
            </a:r>
          </a:p>
        </p:txBody>
      </p:sp>
      <p:cxnSp>
        <p:nvCxnSpPr>
          <p:cNvPr id="13" name="Connector 12"/>
          <p:cNvCxnSpPr/>
          <p:nvPr/>
        </p:nvCxnSpPr>
        <p:spPr>
          <a:xfrm>
            <a:off x="2578640" y="2200000"/>
            <a:ext cx="22892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37560" y="1450000"/>
            <a:ext cx="2000000" cy="15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97560" y="1580000"/>
            <a:ext cx="480000" cy="480000"/>
          </a:xfrm>
          <a:prstGeom prst="ellipse">
            <a:avLst/>
          </a:prstGeom>
          <a:solidFill>
            <a:srgbClr val="2D70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7560" y="1580000"/>
            <a:ext cx="480000" cy="480000"/>
          </a:xfrm>
          <a:prstGeom prst="rect">
            <a:avLst/>
          </a:prstGeom>
          <a:noFill/>
        </p:spPr>
        <p:txBody>
          <a:bodyPr wrap="square" anchor="ctr" lIns="45720" rIns="45720">
            <a:spAutoFit/>
          </a:bodyPr>
          <a:lstStyle/>
          <a:p>
            <a:pPr algn="ctr"/>
            <a:r>
              <a:rPr sz="1700" b="1">
                <a:solidFill>
                  <a:srgbClr val="FFFFFF"/>
                </a:solidFill>
                <a:latin typeface="Arial"/>
              </a:rPr>
              <a:t>2</a:t>
            </a:r>
          </a:p>
        </p:txBody>
      </p:sp>
      <p:sp>
        <p:nvSpPr>
          <p:cNvPr id="17" name="TextBox 16"/>
          <p:cNvSpPr txBox="1"/>
          <p:nvPr/>
        </p:nvSpPr>
        <p:spPr>
          <a:xfrm>
            <a:off x="2837560" y="2150000"/>
            <a:ext cx="2000000" cy="380000"/>
          </a:xfrm>
          <a:prstGeom prst="rect">
            <a:avLst/>
          </a:prstGeom>
          <a:noFill/>
        </p:spPr>
        <p:txBody>
          <a:bodyPr wrap="square" anchor="t" lIns="45720" rIns="45720">
            <a:spAutoFit/>
          </a:bodyPr>
          <a:lstStyle/>
          <a:p>
            <a:pPr algn="ctr"/>
            <a:r>
              <a:rPr sz="1700" b="1">
                <a:solidFill>
                  <a:srgbClr val="2D70AA"/>
                </a:solidFill>
                <a:latin typeface="Arial"/>
              </a:rPr>
              <a:t>Compilar</a:t>
            </a:r>
          </a:p>
        </p:txBody>
      </p:sp>
      <p:sp>
        <p:nvSpPr>
          <p:cNvPr id="18" name="TextBox 17"/>
          <p:cNvSpPr txBox="1"/>
          <p:nvPr/>
        </p:nvSpPr>
        <p:spPr>
          <a:xfrm>
            <a:off x="2837560" y="2540000"/>
            <a:ext cx="2000000" cy="380000"/>
          </a:xfrm>
          <a:prstGeom prst="rect">
            <a:avLst/>
          </a:prstGeom>
          <a:noFill/>
        </p:spPr>
        <p:txBody>
          <a:bodyPr wrap="square" anchor="t" lIns="45720" rIns="45720">
            <a:spAutoFit/>
          </a:bodyPr>
          <a:lstStyle/>
          <a:p>
            <a:pPr algn="ctr"/>
            <a:r>
              <a:rPr sz="1200" b="0">
                <a:solidFill>
                  <a:srgbClr val="30373E"/>
                </a:solidFill>
                <a:latin typeface="Arial"/>
              </a:rPr>
              <a:t>Maven, 11 módulos</a:t>
            </a:r>
          </a:p>
        </p:txBody>
      </p:sp>
      <p:cxnSp>
        <p:nvCxnSpPr>
          <p:cNvPr id="19" name="Connector 18"/>
          <p:cNvCxnSpPr/>
          <p:nvPr/>
        </p:nvCxnSpPr>
        <p:spPr>
          <a:xfrm>
            <a:off x="4867560" y="2200000"/>
            <a:ext cx="22892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26480" y="1450000"/>
            <a:ext cx="2000000" cy="15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86480" y="1580000"/>
            <a:ext cx="480000" cy="480000"/>
          </a:xfrm>
          <a:prstGeom prst="ellipse">
            <a:avLst/>
          </a:prstGeom>
          <a:solidFill>
            <a:srgbClr val="2D70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6480" y="1580000"/>
            <a:ext cx="480000" cy="480000"/>
          </a:xfrm>
          <a:prstGeom prst="rect">
            <a:avLst/>
          </a:prstGeom>
          <a:noFill/>
        </p:spPr>
        <p:txBody>
          <a:bodyPr wrap="square" anchor="ctr" lIns="45720" rIns="45720">
            <a:spAutoFit/>
          </a:bodyPr>
          <a:lstStyle/>
          <a:p>
            <a:pPr algn="ctr"/>
            <a:r>
              <a:rPr sz="1700" b="1">
                <a:solidFill>
                  <a:srgbClr val="FFFFFF"/>
                </a:solidFill>
                <a:latin typeface="Arial"/>
              </a:rPr>
              <a:t>3</a:t>
            </a:r>
          </a:p>
        </p:txBody>
      </p:sp>
      <p:sp>
        <p:nvSpPr>
          <p:cNvPr id="23" name="TextBox 22"/>
          <p:cNvSpPr txBox="1"/>
          <p:nvPr/>
        </p:nvSpPr>
        <p:spPr>
          <a:xfrm>
            <a:off x="5126480" y="2150000"/>
            <a:ext cx="2000000" cy="380000"/>
          </a:xfrm>
          <a:prstGeom prst="rect">
            <a:avLst/>
          </a:prstGeom>
          <a:noFill/>
        </p:spPr>
        <p:txBody>
          <a:bodyPr wrap="square" anchor="t" lIns="45720" rIns="45720">
            <a:spAutoFit/>
          </a:bodyPr>
          <a:lstStyle/>
          <a:p>
            <a:pPr algn="ctr"/>
            <a:r>
              <a:rPr sz="1700" b="1">
                <a:solidFill>
                  <a:srgbClr val="2D70AA"/>
                </a:solidFill>
                <a:latin typeface="Arial"/>
              </a:rPr>
              <a:t>Probar</a:t>
            </a:r>
          </a:p>
        </p:txBody>
      </p:sp>
      <p:sp>
        <p:nvSpPr>
          <p:cNvPr id="24" name="TextBox 23"/>
          <p:cNvSpPr txBox="1"/>
          <p:nvPr/>
        </p:nvSpPr>
        <p:spPr>
          <a:xfrm>
            <a:off x="5126480" y="2540000"/>
            <a:ext cx="2000000" cy="380000"/>
          </a:xfrm>
          <a:prstGeom prst="rect">
            <a:avLst/>
          </a:prstGeom>
          <a:noFill/>
        </p:spPr>
        <p:txBody>
          <a:bodyPr wrap="square" anchor="t" lIns="45720" rIns="45720">
            <a:spAutoFit/>
          </a:bodyPr>
          <a:lstStyle/>
          <a:p>
            <a:pPr algn="ctr"/>
            <a:r>
              <a:rPr sz="1200" b="0">
                <a:solidFill>
                  <a:srgbClr val="30373E"/>
                </a:solidFill>
                <a:latin typeface="Arial"/>
              </a:rPr>
              <a:t>78 pruebas + JaCoCo</a:t>
            </a:r>
          </a:p>
        </p:txBody>
      </p:sp>
      <p:cxnSp>
        <p:nvCxnSpPr>
          <p:cNvPr id="25" name="Connector 24"/>
          <p:cNvCxnSpPr/>
          <p:nvPr/>
        </p:nvCxnSpPr>
        <p:spPr>
          <a:xfrm>
            <a:off x="7156480" y="2200000"/>
            <a:ext cx="22892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15400" y="1450000"/>
            <a:ext cx="2000000" cy="15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175400" y="1580000"/>
            <a:ext cx="480000" cy="480000"/>
          </a:xfrm>
          <a:prstGeom prst="ellipse">
            <a:avLst/>
          </a:prstGeom>
          <a:solidFill>
            <a:srgbClr val="2D70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5400" y="1580000"/>
            <a:ext cx="480000" cy="480000"/>
          </a:xfrm>
          <a:prstGeom prst="rect">
            <a:avLst/>
          </a:prstGeom>
          <a:noFill/>
        </p:spPr>
        <p:txBody>
          <a:bodyPr wrap="square" anchor="ctr" lIns="45720" rIns="45720">
            <a:spAutoFit/>
          </a:bodyPr>
          <a:lstStyle/>
          <a:p>
            <a:pPr algn="ctr"/>
            <a:r>
              <a:rPr sz="1700" b="1">
                <a:solidFill>
                  <a:srgbClr val="FFFFFF"/>
                </a:solidFill>
                <a:latin typeface="Arial"/>
              </a:rPr>
              <a:t>4</a:t>
            </a:r>
          </a:p>
        </p:txBody>
      </p:sp>
      <p:sp>
        <p:nvSpPr>
          <p:cNvPr id="29" name="TextBox 28"/>
          <p:cNvSpPr txBox="1"/>
          <p:nvPr/>
        </p:nvSpPr>
        <p:spPr>
          <a:xfrm>
            <a:off x="7415400" y="2150000"/>
            <a:ext cx="2000000" cy="380000"/>
          </a:xfrm>
          <a:prstGeom prst="rect">
            <a:avLst/>
          </a:prstGeom>
          <a:noFill/>
        </p:spPr>
        <p:txBody>
          <a:bodyPr wrap="square" anchor="t" lIns="45720" rIns="45720">
            <a:spAutoFit/>
          </a:bodyPr>
          <a:lstStyle/>
          <a:p>
            <a:pPr algn="ctr"/>
            <a:r>
              <a:rPr sz="1700" b="1">
                <a:solidFill>
                  <a:srgbClr val="2D70AA"/>
                </a:solidFill>
                <a:latin typeface="Arial"/>
              </a:rPr>
              <a:t>Empaquetar</a:t>
            </a:r>
          </a:p>
        </p:txBody>
      </p:sp>
      <p:sp>
        <p:nvSpPr>
          <p:cNvPr id="30" name="TextBox 29"/>
          <p:cNvSpPr txBox="1"/>
          <p:nvPr/>
        </p:nvSpPr>
        <p:spPr>
          <a:xfrm>
            <a:off x="7415400" y="2540000"/>
            <a:ext cx="2000000" cy="380000"/>
          </a:xfrm>
          <a:prstGeom prst="rect">
            <a:avLst/>
          </a:prstGeom>
          <a:noFill/>
        </p:spPr>
        <p:txBody>
          <a:bodyPr wrap="square" anchor="t" lIns="45720" rIns="45720">
            <a:spAutoFit/>
          </a:bodyPr>
          <a:lstStyle/>
          <a:p>
            <a:pPr algn="ctr"/>
            <a:r>
              <a:rPr sz="1200" b="0">
                <a:solidFill>
                  <a:srgbClr val="30373E"/>
                </a:solidFill>
                <a:latin typeface="Arial"/>
              </a:rPr>
              <a:t>10 imágenes Docker</a:t>
            </a:r>
          </a:p>
        </p:txBody>
      </p:sp>
      <p:cxnSp>
        <p:nvCxnSpPr>
          <p:cNvPr id="31" name="Connector 30"/>
          <p:cNvCxnSpPr/>
          <p:nvPr/>
        </p:nvCxnSpPr>
        <p:spPr>
          <a:xfrm>
            <a:off x="9445400" y="2200000"/>
            <a:ext cx="22892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704320" y="1450000"/>
            <a:ext cx="2000000" cy="15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464320" y="1580000"/>
            <a:ext cx="480000" cy="480000"/>
          </a:xfrm>
          <a:prstGeom prst="ellipse">
            <a:avLst/>
          </a:prstGeom>
          <a:solidFill>
            <a:srgbClr val="4F96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64320" y="1580000"/>
            <a:ext cx="480000" cy="480000"/>
          </a:xfrm>
          <a:prstGeom prst="rect">
            <a:avLst/>
          </a:prstGeom>
          <a:noFill/>
        </p:spPr>
        <p:txBody>
          <a:bodyPr wrap="square" anchor="ctr" lIns="45720" rIns="45720">
            <a:spAutoFit/>
          </a:bodyPr>
          <a:lstStyle/>
          <a:p>
            <a:pPr algn="ctr"/>
            <a:r>
              <a:rPr sz="1700" b="1">
                <a:solidFill>
                  <a:srgbClr val="FFFFFF"/>
                </a:solidFill>
                <a:latin typeface="Arial"/>
              </a:rPr>
              <a:t>5</a:t>
            </a:r>
          </a:p>
        </p:txBody>
      </p:sp>
      <p:sp>
        <p:nvSpPr>
          <p:cNvPr id="35" name="TextBox 34"/>
          <p:cNvSpPr txBox="1"/>
          <p:nvPr/>
        </p:nvSpPr>
        <p:spPr>
          <a:xfrm>
            <a:off x="9704320" y="2150000"/>
            <a:ext cx="2000000" cy="380000"/>
          </a:xfrm>
          <a:prstGeom prst="rect">
            <a:avLst/>
          </a:prstGeom>
          <a:noFill/>
        </p:spPr>
        <p:txBody>
          <a:bodyPr wrap="square" anchor="t" lIns="45720" rIns="45720">
            <a:spAutoFit/>
          </a:bodyPr>
          <a:lstStyle/>
          <a:p>
            <a:pPr algn="ctr"/>
            <a:r>
              <a:rPr sz="1700" b="1">
                <a:solidFill>
                  <a:srgbClr val="4F9667"/>
                </a:solidFill>
                <a:latin typeface="Arial"/>
              </a:rPr>
              <a:t>Desplegar</a:t>
            </a:r>
          </a:p>
        </p:txBody>
      </p:sp>
      <p:sp>
        <p:nvSpPr>
          <p:cNvPr id="36" name="TextBox 35"/>
          <p:cNvSpPr txBox="1"/>
          <p:nvPr/>
        </p:nvSpPr>
        <p:spPr>
          <a:xfrm>
            <a:off x="9704320" y="2540000"/>
            <a:ext cx="2000000" cy="380000"/>
          </a:xfrm>
          <a:prstGeom prst="rect">
            <a:avLst/>
          </a:prstGeom>
          <a:noFill/>
        </p:spPr>
        <p:txBody>
          <a:bodyPr wrap="square" anchor="t" lIns="45720" rIns="45720">
            <a:spAutoFit/>
          </a:bodyPr>
          <a:lstStyle/>
          <a:p>
            <a:pPr algn="ctr"/>
            <a:r>
              <a:rPr sz="1200" b="0">
                <a:solidFill>
                  <a:srgbClr val="30373E"/>
                </a:solidFill>
                <a:latin typeface="Arial"/>
              </a:rPr>
              <a:t>Render + PostgreSQL</a:t>
            </a:r>
          </a:p>
        </p:txBody>
      </p:sp>
      <p:sp>
        <p:nvSpPr>
          <p:cNvPr id="37" name="TextBox 36"/>
          <p:cNvSpPr txBox="1"/>
          <p:nvPr/>
        </p:nvSpPr>
        <p:spPr>
          <a:xfrm>
            <a:off x="548640" y="3300000"/>
            <a:ext cx="11155680" cy="330000"/>
          </a:xfrm>
          <a:prstGeom prst="rect">
            <a:avLst/>
          </a:prstGeom>
          <a:noFill/>
        </p:spPr>
        <p:txBody>
          <a:bodyPr wrap="square" anchor="t" lIns="45720" rIns="45720">
            <a:spAutoFit/>
          </a:bodyPr>
          <a:lstStyle/>
          <a:p>
            <a:pPr algn="l"/>
            <a:r>
              <a:rPr sz="1500" b="1">
                <a:solidFill>
                  <a:srgbClr val="183F66"/>
                </a:solidFill>
                <a:latin typeface="Arial"/>
              </a:rPr>
              <a:t>Qué usamos en cada parte</a:t>
            </a:r>
          </a:p>
        </p:txBody>
      </p:sp>
      <p:sp>
        <p:nvSpPr>
          <p:cNvPr id="38" name="Rounded Rectangle 37"/>
          <p:cNvSpPr/>
          <p:nvPr/>
        </p:nvSpPr>
        <p:spPr>
          <a:xfrm>
            <a:off x="548640" y="3700000"/>
            <a:ext cx="3600000" cy="23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8640" y="3810000"/>
            <a:ext cx="3300000" cy="380000"/>
          </a:xfrm>
          <a:prstGeom prst="rect">
            <a:avLst/>
          </a:prstGeom>
          <a:noFill/>
        </p:spPr>
        <p:txBody>
          <a:bodyPr wrap="square" anchor="t" lIns="45720" rIns="45720">
            <a:spAutoFit/>
          </a:bodyPr>
          <a:lstStyle/>
          <a:p>
            <a:pPr algn="l"/>
            <a:r>
              <a:rPr sz="1500" b="1">
                <a:solidFill>
                  <a:srgbClr val="2D70AA"/>
                </a:solidFill>
                <a:latin typeface="Arial"/>
              </a:rPr>
              <a:t>GitHub Actions</a:t>
            </a:r>
          </a:p>
        </p:txBody>
      </p:sp>
      <p:sp>
        <p:nvSpPr>
          <p:cNvPr id="40" name="TextBox 39"/>
          <p:cNvSpPr txBox="1"/>
          <p:nvPr/>
        </p:nvSpPr>
        <p:spPr>
          <a:xfrm>
            <a:off x="698640" y="4220000"/>
            <a:ext cx="3300000" cy="1700000"/>
          </a:xfrm>
          <a:prstGeom prst="rect">
            <a:avLst/>
          </a:prstGeom>
          <a:noFill/>
        </p:spPr>
        <p:txBody>
          <a:bodyPr wrap="square" anchor="t" lIns="45720" rIns="45720">
            <a:spAutoFit/>
          </a:bodyPr>
          <a:lstStyle/>
          <a:p>
            <a:pPr algn="l"/>
            <a:r>
              <a:rPr sz="1300" b="0">
                <a:solidFill>
                  <a:srgbClr val="30373E"/>
                </a:solidFill>
                <a:latin typeface="Arial"/>
              </a:rPr>
              <a:t>ci.yml: JDK 25 con caché Maven,</a:t>
            </a:r>
          </a:p>
          <a:p>
            <a:pPr algn="l"/>
            <a:r>
              <a:rPr sz="1300" b="0">
                <a:solidFill>
                  <a:srgbClr val="30373E"/>
                </a:solidFill>
                <a:latin typeface="Arial"/>
              </a:rPr>
              <a:t>mvn clean verify, reportes de</a:t>
            </a:r>
          </a:p>
          <a:p>
            <a:pPr algn="l"/>
            <a:r>
              <a:rPr sz="1300" b="0">
                <a:solidFill>
                  <a:srgbClr val="30373E"/>
                </a:solidFill>
                <a:latin typeface="Arial"/>
              </a:rPr>
              <a:t>pruebas y cobertura como</a:t>
            </a:r>
          </a:p>
          <a:p>
            <a:pPr algn="l"/>
            <a:r>
              <a:rPr sz="1300" b="0">
                <a:solidFill>
                  <a:srgbClr val="30373E"/>
                </a:solidFill>
                <a:latin typeface="Arial"/>
              </a:rPr>
              <a:t>artefactos, build Docker en matriz.</a:t>
            </a:r>
          </a:p>
        </p:txBody>
      </p:sp>
      <p:sp>
        <p:nvSpPr>
          <p:cNvPr id="41" name="Rounded Rectangle 40"/>
          <p:cNvSpPr/>
          <p:nvPr/>
        </p:nvSpPr>
        <p:spPr>
          <a:xfrm>
            <a:off x="4328640" y="3700000"/>
            <a:ext cx="3600000" cy="23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78640" y="3810000"/>
            <a:ext cx="3300000" cy="380000"/>
          </a:xfrm>
          <a:prstGeom prst="rect">
            <a:avLst/>
          </a:prstGeom>
          <a:noFill/>
        </p:spPr>
        <p:txBody>
          <a:bodyPr wrap="square" anchor="t" lIns="45720" rIns="45720">
            <a:spAutoFit/>
          </a:bodyPr>
          <a:lstStyle/>
          <a:p>
            <a:pPr algn="l"/>
            <a:r>
              <a:rPr sz="1500" b="1">
                <a:solidFill>
                  <a:srgbClr val="2D70AA"/>
                </a:solidFill>
                <a:latin typeface="Arial"/>
              </a:rPr>
              <a:t>Docker</a:t>
            </a:r>
          </a:p>
        </p:txBody>
      </p:sp>
      <p:sp>
        <p:nvSpPr>
          <p:cNvPr id="43" name="TextBox 42"/>
          <p:cNvSpPr txBox="1"/>
          <p:nvPr/>
        </p:nvSpPr>
        <p:spPr>
          <a:xfrm>
            <a:off x="4478640" y="4220000"/>
            <a:ext cx="3300000" cy="1700000"/>
          </a:xfrm>
          <a:prstGeom prst="rect">
            <a:avLst/>
          </a:prstGeom>
          <a:noFill/>
        </p:spPr>
        <p:txBody>
          <a:bodyPr wrap="square" anchor="t" lIns="45720" rIns="45720">
            <a:spAutoFit/>
          </a:bodyPr>
          <a:lstStyle/>
          <a:p>
            <a:pPr algn="l"/>
            <a:r>
              <a:rPr sz="1300" b="0">
                <a:solidFill>
                  <a:srgbClr val="30373E"/>
                </a:solidFill>
                <a:latin typeface="Arial"/>
              </a:rPr>
              <a:t>Un Dockerfile multi-etapa para</a:t>
            </a:r>
          </a:p>
          <a:p>
            <a:pPr algn="l"/>
            <a:r>
              <a:rPr sz="1300" b="0">
                <a:solidFill>
                  <a:srgbClr val="30373E"/>
                </a:solidFill>
                <a:latin typeface="Arial"/>
              </a:rPr>
              <a:t>los 10 servicios, usuario no root.</a:t>
            </a:r>
          </a:p>
          <a:p>
            <a:pPr algn="l"/>
            <a:r>
              <a:rPr sz="1300" b="0">
                <a:solidFill>
                  <a:srgbClr val="30373E"/>
                </a:solidFill>
                <a:latin typeface="Arial"/>
              </a:rPr>
              <a:t>docker compose levanta todo:</a:t>
            </a:r>
          </a:p>
          <a:p>
            <a:pPr algn="l"/>
            <a:r>
              <a:rPr sz="1300" b="0">
                <a:solidFill>
                  <a:srgbClr val="30373E"/>
                </a:solidFill>
                <a:latin typeface="Arial"/>
              </a:rPr>
              <a:t>MySQL, RabbitMQ y servicios.</a:t>
            </a:r>
          </a:p>
        </p:txBody>
      </p:sp>
      <p:sp>
        <p:nvSpPr>
          <p:cNvPr id="44" name="Rounded Rectangle 43"/>
          <p:cNvSpPr/>
          <p:nvPr/>
        </p:nvSpPr>
        <p:spPr>
          <a:xfrm>
            <a:off x="8108640" y="3700000"/>
            <a:ext cx="3600000" cy="23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58640" y="3810000"/>
            <a:ext cx="3300000" cy="380000"/>
          </a:xfrm>
          <a:prstGeom prst="rect">
            <a:avLst/>
          </a:prstGeom>
          <a:noFill/>
        </p:spPr>
        <p:txBody>
          <a:bodyPr wrap="square" anchor="t" lIns="45720" rIns="45720">
            <a:spAutoFit/>
          </a:bodyPr>
          <a:lstStyle/>
          <a:p>
            <a:pPr algn="l"/>
            <a:r>
              <a:rPr sz="1500" b="1">
                <a:solidFill>
                  <a:srgbClr val="4F9667"/>
                </a:solidFill>
                <a:latin typeface="Arial"/>
              </a:rPr>
              <a:t>Render (nube)</a:t>
            </a:r>
          </a:p>
        </p:txBody>
      </p:sp>
      <p:sp>
        <p:nvSpPr>
          <p:cNvPr id="46" name="TextBox 45"/>
          <p:cNvSpPr txBox="1"/>
          <p:nvPr/>
        </p:nvSpPr>
        <p:spPr>
          <a:xfrm>
            <a:off x="8258640" y="4220000"/>
            <a:ext cx="3300000" cy="1700000"/>
          </a:xfrm>
          <a:prstGeom prst="rect">
            <a:avLst/>
          </a:prstGeom>
          <a:noFill/>
        </p:spPr>
        <p:txBody>
          <a:bodyPr wrap="square" anchor="t" lIns="45720" rIns="45720">
            <a:spAutoFit/>
          </a:bodyPr>
          <a:lstStyle/>
          <a:p>
            <a:pPr algn="l"/>
            <a:r>
              <a:rPr sz="1300" b="0">
                <a:solidFill>
                  <a:srgbClr val="30373E"/>
                </a:solidFill>
                <a:latin typeface="Arial"/>
              </a:rPr>
              <a:t>render.yaml crea la BD y los</a:t>
            </a:r>
          </a:p>
          <a:p>
            <a:pPr algn="l"/>
            <a:r>
              <a:rPr sz="1300" b="0">
                <a:solidFill>
                  <a:srgbClr val="30373E"/>
                </a:solidFill>
                <a:latin typeface="Arial"/>
              </a:rPr>
              <a:t>9 servicios web. El perfil cloud</a:t>
            </a:r>
          </a:p>
          <a:p>
            <a:pPr algn="l"/>
            <a:r>
              <a:rPr sz="1300" b="0">
                <a:solidFill>
                  <a:srgbClr val="30373E"/>
                </a:solidFill>
                <a:latin typeface="Arial"/>
              </a:rPr>
              <a:t>usa PostgreSQL con un esquema</a:t>
            </a:r>
          </a:p>
          <a:p>
            <a:pPr algn="l"/>
            <a:r>
              <a:rPr sz="1300" b="0">
                <a:solidFill>
                  <a:srgbClr val="30373E"/>
                </a:solidFill>
                <a:latin typeface="Arial"/>
              </a:rPr>
              <a:t>por servicio. Jenkinsfile alterno.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Optimización: diagnóstico</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17</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Primero medimos dónde se perdía tiempo; después aplicamos la mejora</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17</a:t>
            </a:r>
          </a:p>
        </p:txBody>
      </p:sp>
      <p:sp>
        <p:nvSpPr>
          <p:cNvPr id="8" name="TextBox 7"/>
          <p:cNvSpPr txBox="1"/>
          <p:nvPr/>
        </p:nvSpPr>
        <p:spPr>
          <a:xfrm>
            <a:off x="2848640" y="1250000"/>
            <a:ext cx="4300000" cy="330000"/>
          </a:xfrm>
          <a:prstGeom prst="rect">
            <a:avLst/>
          </a:prstGeom>
          <a:noFill/>
        </p:spPr>
        <p:txBody>
          <a:bodyPr wrap="square" anchor="t" lIns="45720" rIns="45720">
            <a:spAutoFit/>
          </a:bodyPr>
          <a:lstStyle/>
          <a:p>
            <a:pPr algn="l"/>
            <a:r>
              <a:rPr sz="1400" b="1">
                <a:solidFill>
                  <a:srgbClr val="C0712B"/>
                </a:solidFill>
                <a:latin typeface="Arial"/>
              </a:rPr>
              <a:t>Problema encontrado</a:t>
            </a:r>
          </a:p>
        </p:txBody>
      </p:sp>
      <p:sp>
        <p:nvSpPr>
          <p:cNvPr id="9" name="TextBox 8"/>
          <p:cNvSpPr txBox="1"/>
          <p:nvPr/>
        </p:nvSpPr>
        <p:spPr>
          <a:xfrm>
            <a:off x="7498640" y="1250000"/>
            <a:ext cx="4200000" cy="330000"/>
          </a:xfrm>
          <a:prstGeom prst="rect">
            <a:avLst/>
          </a:prstGeom>
          <a:noFill/>
        </p:spPr>
        <p:txBody>
          <a:bodyPr wrap="square" anchor="t" lIns="45720" rIns="45720">
            <a:spAutoFit/>
          </a:bodyPr>
          <a:lstStyle/>
          <a:p>
            <a:pPr algn="l"/>
            <a:r>
              <a:rPr sz="1400" b="1">
                <a:solidFill>
                  <a:srgbClr val="4F9667"/>
                </a:solidFill>
                <a:latin typeface="Arial"/>
              </a:rPr>
              <a:t>Solución aplicada</a:t>
            </a:r>
          </a:p>
        </p:txBody>
      </p:sp>
      <p:sp>
        <p:nvSpPr>
          <p:cNvPr id="10" name="Rounded Rectangle 9"/>
          <p:cNvSpPr/>
          <p:nvPr/>
        </p:nvSpPr>
        <p:spPr>
          <a:xfrm>
            <a:off x="548640" y="1650000"/>
            <a:ext cx="2150000" cy="1000000"/>
          </a:xfrm>
          <a:prstGeom prst="roundRect">
            <a:avLst>
              <a:gd name="adj" fmla="val 8000"/>
            </a:avLst>
          </a:prstGeom>
          <a:solidFill>
            <a:srgbClr val="183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50000"/>
            <a:ext cx="2150000" cy="1000000"/>
          </a:xfrm>
          <a:prstGeom prst="rect">
            <a:avLst/>
          </a:prstGeom>
          <a:noFill/>
        </p:spPr>
        <p:txBody>
          <a:bodyPr wrap="square" anchor="ctr" lIns="45720" rIns="45720">
            <a:spAutoFit/>
          </a:bodyPr>
          <a:lstStyle/>
          <a:p>
            <a:pPr algn="ctr"/>
            <a:r>
              <a:rPr sz="1400" b="1">
                <a:solidFill>
                  <a:srgbClr val="FFFFFF"/>
                </a:solidFill>
                <a:latin typeface="Arial"/>
              </a:rPr>
              <a:t>Consulta N+1</a:t>
            </a:r>
          </a:p>
        </p:txBody>
      </p:sp>
      <p:sp>
        <p:nvSpPr>
          <p:cNvPr id="12" name="Rounded Rectangle 11"/>
          <p:cNvSpPr/>
          <p:nvPr/>
        </p:nvSpPr>
        <p:spPr>
          <a:xfrm>
            <a:off x="2848640" y="1650000"/>
            <a:ext cx="4300000" cy="1000000"/>
          </a:xfrm>
          <a:prstGeom prst="roundRect">
            <a:avLst>
              <a:gd name="adj" fmla="val 8000"/>
            </a:avLst>
          </a:prstGeom>
          <a:solidFill>
            <a:srgbClr val="FBEEDF"/>
          </a:solidFill>
          <a:ln w="13970">
            <a:solidFill>
              <a:srgbClr val="E8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48640" y="1650000"/>
            <a:ext cx="4100000" cy="1000000"/>
          </a:xfrm>
          <a:prstGeom prst="rect">
            <a:avLst/>
          </a:prstGeom>
          <a:noFill/>
        </p:spPr>
        <p:txBody>
          <a:bodyPr wrap="square" anchor="ctr" lIns="45720" rIns="45720">
            <a:spAutoFit/>
          </a:bodyPr>
          <a:lstStyle/>
          <a:p>
            <a:pPr algn="l"/>
            <a:r>
              <a:rPr sz="1300" b="0">
                <a:solidFill>
                  <a:srgbClr val="30373E"/>
                </a:solidFill>
                <a:latin typeface="Arial"/>
              </a:rPr>
              <a:t>El listado de servicios hacía 1 consulta por cada categoría: 21 consultas por petición.</a:t>
            </a:r>
          </a:p>
        </p:txBody>
      </p:sp>
      <p:cxnSp>
        <p:nvCxnSpPr>
          <p:cNvPr id="14" name="Connector 13"/>
          <p:cNvCxnSpPr/>
          <p:nvPr/>
        </p:nvCxnSpPr>
        <p:spPr>
          <a:xfrm>
            <a:off x="7168640" y="2150000"/>
            <a:ext cx="31000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498640" y="1650000"/>
            <a:ext cx="4200000" cy="10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98640" y="1650000"/>
            <a:ext cx="4000000" cy="1000000"/>
          </a:xfrm>
          <a:prstGeom prst="rect">
            <a:avLst/>
          </a:prstGeom>
          <a:noFill/>
        </p:spPr>
        <p:txBody>
          <a:bodyPr wrap="square" anchor="ctr" lIns="45720" rIns="45720">
            <a:spAutoFit/>
          </a:bodyPr>
          <a:lstStyle/>
          <a:p>
            <a:pPr algn="l"/>
            <a:r>
              <a:rPr sz="1300" b="0">
                <a:solidFill>
                  <a:srgbClr val="30373E"/>
                </a:solidFill>
                <a:latin typeface="Arial"/>
              </a:rPr>
              <a:t>JOIN FETCH en el repositorio: 1 sola consulta.</a:t>
            </a:r>
          </a:p>
        </p:txBody>
      </p:sp>
      <p:sp>
        <p:nvSpPr>
          <p:cNvPr id="17" name="Rounded Rectangle 16"/>
          <p:cNvSpPr/>
          <p:nvPr/>
        </p:nvSpPr>
        <p:spPr>
          <a:xfrm>
            <a:off x="548640" y="2800000"/>
            <a:ext cx="2150000" cy="1000000"/>
          </a:xfrm>
          <a:prstGeom prst="roundRect">
            <a:avLst>
              <a:gd name="adj" fmla="val 8000"/>
            </a:avLst>
          </a:prstGeom>
          <a:solidFill>
            <a:srgbClr val="183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800000"/>
            <a:ext cx="2150000" cy="1000000"/>
          </a:xfrm>
          <a:prstGeom prst="rect">
            <a:avLst/>
          </a:prstGeom>
          <a:noFill/>
        </p:spPr>
        <p:txBody>
          <a:bodyPr wrap="square" anchor="ctr" lIns="45720" rIns="45720">
            <a:spAutoFit/>
          </a:bodyPr>
          <a:lstStyle/>
          <a:p>
            <a:pPr algn="ctr"/>
            <a:r>
              <a:rPr sz="1400" b="1">
                <a:solidFill>
                  <a:srgbClr val="FFFFFF"/>
                </a:solidFill>
                <a:latin typeface="Arial"/>
              </a:rPr>
              <a:t>Catálogo sin caché</a:t>
            </a:r>
          </a:p>
        </p:txBody>
      </p:sp>
      <p:sp>
        <p:nvSpPr>
          <p:cNvPr id="19" name="Rounded Rectangle 18"/>
          <p:cNvSpPr/>
          <p:nvPr/>
        </p:nvSpPr>
        <p:spPr>
          <a:xfrm>
            <a:off x="2848640" y="2800000"/>
            <a:ext cx="4300000" cy="1000000"/>
          </a:xfrm>
          <a:prstGeom prst="roundRect">
            <a:avLst>
              <a:gd name="adj" fmla="val 8000"/>
            </a:avLst>
          </a:prstGeom>
          <a:solidFill>
            <a:srgbClr val="FBEEDF"/>
          </a:solidFill>
          <a:ln w="13970">
            <a:solidFill>
              <a:srgbClr val="E8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48640" y="2800000"/>
            <a:ext cx="4100000" cy="1000000"/>
          </a:xfrm>
          <a:prstGeom prst="rect">
            <a:avLst/>
          </a:prstGeom>
          <a:noFill/>
        </p:spPr>
        <p:txBody>
          <a:bodyPr wrap="square" anchor="ctr" lIns="45720" rIns="45720">
            <a:spAutoFit/>
          </a:bodyPr>
          <a:lstStyle/>
          <a:p>
            <a:pPr algn="l"/>
            <a:r>
              <a:rPr sz="1300" b="0">
                <a:solidFill>
                  <a:srgbClr val="30373E"/>
                </a:solidFill>
                <a:latin typeface="Arial"/>
              </a:rPr>
              <a:t>El catálogo cambia poco, pero se leía de la BD en cada petición.</a:t>
            </a:r>
          </a:p>
        </p:txBody>
      </p:sp>
      <p:cxnSp>
        <p:nvCxnSpPr>
          <p:cNvPr id="21" name="Connector 20"/>
          <p:cNvCxnSpPr/>
          <p:nvPr/>
        </p:nvCxnSpPr>
        <p:spPr>
          <a:xfrm>
            <a:off x="7168640" y="3300000"/>
            <a:ext cx="31000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98640" y="2800000"/>
            <a:ext cx="4200000" cy="10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98640" y="2800000"/>
            <a:ext cx="4000000" cy="1000000"/>
          </a:xfrm>
          <a:prstGeom prst="rect">
            <a:avLst/>
          </a:prstGeom>
          <a:noFill/>
        </p:spPr>
        <p:txBody>
          <a:bodyPr wrap="square" anchor="ctr" lIns="45720" rIns="45720">
            <a:spAutoFit/>
          </a:bodyPr>
          <a:lstStyle/>
          <a:p>
            <a:pPr algn="l"/>
            <a:r>
              <a:rPr sz="1300" b="0">
                <a:solidFill>
                  <a:srgbClr val="30373E"/>
                </a:solidFill>
                <a:latin typeface="Arial"/>
              </a:rPr>
              <a:t>Caché Caffeine con expiración y limpieza al editar.</a:t>
            </a:r>
          </a:p>
        </p:txBody>
      </p:sp>
      <p:sp>
        <p:nvSpPr>
          <p:cNvPr id="24" name="Rounded Rectangle 23"/>
          <p:cNvSpPr/>
          <p:nvPr/>
        </p:nvSpPr>
        <p:spPr>
          <a:xfrm>
            <a:off x="548640" y="3950000"/>
            <a:ext cx="2150000" cy="1000000"/>
          </a:xfrm>
          <a:prstGeom prst="roundRect">
            <a:avLst>
              <a:gd name="adj" fmla="val 8000"/>
            </a:avLst>
          </a:prstGeom>
          <a:solidFill>
            <a:srgbClr val="183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950000"/>
            <a:ext cx="2150000" cy="1000000"/>
          </a:xfrm>
          <a:prstGeom prst="rect">
            <a:avLst/>
          </a:prstGeom>
          <a:noFill/>
        </p:spPr>
        <p:txBody>
          <a:bodyPr wrap="square" anchor="ctr" lIns="45720" rIns="45720">
            <a:spAutoFit/>
          </a:bodyPr>
          <a:lstStyle/>
          <a:p>
            <a:pPr algn="ctr"/>
            <a:r>
              <a:rPr sz="1400" b="1">
                <a:solidFill>
                  <a:srgbClr val="FFFFFF"/>
                </a:solidFill>
                <a:latin typeface="Arial"/>
              </a:rPr>
              <a:t>Fallos en cascada</a:t>
            </a:r>
          </a:p>
        </p:txBody>
      </p:sp>
      <p:sp>
        <p:nvSpPr>
          <p:cNvPr id="26" name="Rounded Rectangle 25"/>
          <p:cNvSpPr/>
          <p:nvPr/>
        </p:nvSpPr>
        <p:spPr>
          <a:xfrm>
            <a:off x="2848640" y="3950000"/>
            <a:ext cx="4300000" cy="1000000"/>
          </a:xfrm>
          <a:prstGeom prst="roundRect">
            <a:avLst>
              <a:gd name="adj" fmla="val 8000"/>
            </a:avLst>
          </a:prstGeom>
          <a:solidFill>
            <a:srgbClr val="FBEEDF"/>
          </a:solidFill>
          <a:ln w="13970">
            <a:solidFill>
              <a:srgbClr val="E8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48640" y="3950000"/>
            <a:ext cx="4100000" cy="1000000"/>
          </a:xfrm>
          <a:prstGeom prst="rect">
            <a:avLst/>
          </a:prstGeom>
          <a:noFill/>
        </p:spPr>
        <p:txBody>
          <a:bodyPr wrap="square" anchor="ctr" lIns="45720" rIns="45720">
            <a:spAutoFit/>
          </a:bodyPr>
          <a:lstStyle/>
          <a:p>
            <a:pPr algn="l"/>
            <a:r>
              <a:rPr sz="1300" b="0">
                <a:solidFill>
                  <a:srgbClr val="30373E"/>
                </a:solidFill>
                <a:latin typeface="Arial"/>
              </a:rPr>
              <a:t>Si inventory o sales caía, report y production quedaban esperando.</a:t>
            </a:r>
          </a:p>
        </p:txBody>
      </p:sp>
      <p:cxnSp>
        <p:nvCxnSpPr>
          <p:cNvPr id="28" name="Connector 27"/>
          <p:cNvCxnSpPr/>
          <p:nvPr/>
        </p:nvCxnSpPr>
        <p:spPr>
          <a:xfrm>
            <a:off x="7168640" y="4450000"/>
            <a:ext cx="31000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498640" y="3950000"/>
            <a:ext cx="4200000" cy="10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98640" y="3950000"/>
            <a:ext cx="4000000" cy="1000000"/>
          </a:xfrm>
          <a:prstGeom prst="rect">
            <a:avLst/>
          </a:prstGeom>
          <a:noFill/>
        </p:spPr>
        <p:txBody>
          <a:bodyPr wrap="square" anchor="ctr" lIns="45720" rIns="45720">
            <a:spAutoFit/>
          </a:bodyPr>
          <a:lstStyle/>
          <a:p>
            <a:pPr algn="l"/>
            <a:r>
              <a:rPr sz="1300" b="0">
                <a:solidFill>
                  <a:srgbClr val="30373E"/>
                </a:solidFill>
                <a:latin typeface="Arial"/>
              </a:rPr>
              <a:t>Timeouts, circuit breaker y fallback con Resilience4j.</a:t>
            </a:r>
          </a:p>
        </p:txBody>
      </p:sp>
      <p:sp>
        <p:nvSpPr>
          <p:cNvPr id="31" name="Rounded Rectangle 30"/>
          <p:cNvSpPr/>
          <p:nvPr/>
        </p:nvSpPr>
        <p:spPr>
          <a:xfrm>
            <a:off x="548640" y="5100000"/>
            <a:ext cx="2150000" cy="1000000"/>
          </a:xfrm>
          <a:prstGeom prst="roundRect">
            <a:avLst>
              <a:gd name="adj" fmla="val 8000"/>
            </a:avLst>
          </a:prstGeom>
          <a:solidFill>
            <a:srgbClr val="183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100000"/>
            <a:ext cx="2150000" cy="1000000"/>
          </a:xfrm>
          <a:prstGeom prst="rect">
            <a:avLst/>
          </a:prstGeom>
          <a:noFill/>
        </p:spPr>
        <p:txBody>
          <a:bodyPr wrap="square" anchor="ctr" lIns="45720" rIns="45720">
            <a:spAutoFit/>
          </a:bodyPr>
          <a:lstStyle/>
          <a:p>
            <a:pPr algn="ctr"/>
            <a:r>
              <a:rPr sz="1400" b="1">
                <a:solidFill>
                  <a:srgbClr val="FFFFFF"/>
                </a:solidFill>
                <a:latin typeface="Arial"/>
              </a:rPr>
              <a:t>Eventos perdidos</a:t>
            </a:r>
          </a:p>
        </p:txBody>
      </p:sp>
      <p:sp>
        <p:nvSpPr>
          <p:cNvPr id="33" name="Rounded Rectangle 32"/>
          <p:cNvSpPr/>
          <p:nvPr/>
        </p:nvSpPr>
        <p:spPr>
          <a:xfrm>
            <a:off x="2848640" y="5100000"/>
            <a:ext cx="4300000" cy="1000000"/>
          </a:xfrm>
          <a:prstGeom prst="roundRect">
            <a:avLst>
              <a:gd name="adj" fmla="val 8000"/>
            </a:avLst>
          </a:prstGeom>
          <a:solidFill>
            <a:srgbClr val="FBEEDF"/>
          </a:solidFill>
          <a:ln w="13970">
            <a:solidFill>
              <a:srgbClr val="E8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48640" y="5100000"/>
            <a:ext cx="4100000" cy="1000000"/>
          </a:xfrm>
          <a:prstGeom prst="rect">
            <a:avLst/>
          </a:prstGeom>
          <a:noFill/>
        </p:spPr>
        <p:txBody>
          <a:bodyPr wrap="square" anchor="ctr" lIns="45720" rIns="45720">
            <a:spAutoFit/>
          </a:bodyPr>
          <a:lstStyle/>
          <a:p>
            <a:pPr algn="l"/>
            <a:r>
              <a:rPr sz="1300" b="0">
                <a:solidFill>
                  <a:srgbClr val="30373E"/>
                </a:solidFill>
                <a:latin typeface="Arial"/>
              </a:rPr>
              <a:t>Un mensaje con error se reintentaba sin fin o se perdía.</a:t>
            </a:r>
          </a:p>
        </p:txBody>
      </p:sp>
      <p:cxnSp>
        <p:nvCxnSpPr>
          <p:cNvPr id="35" name="Connector 34"/>
          <p:cNvCxnSpPr/>
          <p:nvPr/>
        </p:nvCxnSpPr>
        <p:spPr>
          <a:xfrm>
            <a:off x="7168640" y="5600000"/>
            <a:ext cx="31000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498640" y="5100000"/>
            <a:ext cx="4200000" cy="10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98640" y="5100000"/>
            <a:ext cx="4000000" cy="1000000"/>
          </a:xfrm>
          <a:prstGeom prst="rect">
            <a:avLst/>
          </a:prstGeom>
          <a:noFill/>
        </p:spPr>
        <p:txBody>
          <a:bodyPr wrap="square" anchor="ctr" lIns="45720" rIns="45720">
            <a:spAutoFit/>
          </a:bodyPr>
          <a:lstStyle/>
          <a:p>
            <a:pPr algn="l"/>
            <a:r>
              <a:rPr sz="1300" b="0">
                <a:solidFill>
                  <a:srgbClr val="30373E"/>
                </a:solidFill>
                <a:latin typeface="Arial"/>
              </a:rPr>
              <a:t>Cola de fallos (DLQ) e idempotencia por eventId.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Optimización: resultados medidos</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18</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Prueba de carga: 3000 peticiones con 20 hilos por el API Gateway</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18</a:t>
            </a:r>
          </a:p>
        </p:txBody>
      </p:sp>
      <p:graphicFrame>
        <p:nvGraphicFramePr>
          <p:cNvPr id="8" name="Chart 7"/>
          <p:cNvGraphicFramePr>
            <a:graphicFrameLocks noGrp="1"/>
          </p:cNvGraphicFramePr>
          <p:nvPr/>
        </p:nvGraphicFramePr>
        <p:xfrm>
          <a:off x="548640" y="1300000"/>
          <a:ext cx="5300000" cy="3500000"/>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398640" y="1300000"/>
          <a:ext cx="5300000" cy="3500000"/>
        </p:xfrm>
        <a:graphic>
          <a:graphicData uri="http://schemas.openxmlformats.org/drawingml/2006/chart">
            <c:chart xmlns:c="http://schemas.openxmlformats.org/drawingml/2006/chart" r:id="rId3"/>
          </a:graphicData>
        </a:graphic>
      </p:graphicFrame>
      <p:graphicFrame>
        <p:nvGraphicFramePr>
          <p:cNvPr id="10" name="Table 9"/>
          <p:cNvGraphicFramePr>
            <a:graphicFrameLocks noGrp="1"/>
          </p:cNvGraphicFramePr>
          <p:nvPr/>
        </p:nvGraphicFramePr>
        <p:xfrm>
          <a:off x="548640" y="5000000"/>
          <a:ext cx="11155680" cy="1320000"/>
        </p:xfrm>
        <a:graphic>
          <a:graphicData uri="http://schemas.openxmlformats.org/drawingml/2006/table">
            <a:tbl>
              <a:tblPr firstRow="1" bandRow="1">
                <a:tableStyleId>{5C22544A-7EE6-4342-B048-85BDC9FD1C3A}</a:tableStyleId>
              </a:tblPr>
              <a:tblGrid>
                <a:gridCol w="6155680"/>
                <a:gridCol w="2500000"/>
                <a:gridCol w="2500000"/>
              </a:tblGrid>
              <a:tr h="330000">
                <a:tc>
                  <a:txBody>
                    <a:bodyPr/>
                    <a:lstStyle/>
                    <a:p>
                      <a:pPr algn="l"/>
                      <a:r>
                        <a:rPr sz="1200" b="1">
                          <a:solidFill>
                            <a:srgbClr val="FFFFFF"/>
                          </a:solidFill>
                          <a:latin typeface="Arial"/>
                        </a:rPr>
                        <a:t>Listado de servicios (prueba unitaria)</a:t>
                      </a:r>
                    </a:p>
                  </a:txBody>
                  <a:tcPr marT="30000" marB="30000" anchor="ctr">
                    <a:solidFill>
                      <a:srgbClr val="183F66"/>
                    </a:solidFill>
                  </a:tcPr>
                </a:tc>
                <a:tc>
                  <a:txBody>
                    <a:bodyPr/>
                    <a:lstStyle/>
                    <a:p>
                      <a:pPr algn="ctr"/>
                      <a:r>
                        <a:rPr sz="1200" b="1">
                          <a:solidFill>
                            <a:srgbClr val="FFFFFF"/>
                          </a:solidFill>
                          <a:latin typeface="Arial"/>
                        </a:rPr>
                        <a:t>Consultas SQL</a:t>
                      </a:r>
                    </a:p>
                  </a:txBody>
                  <a:tcPr marT="30000" marB="30000" anchor="ctr">
                    <a:solidFill>
                      <a:srgbClr val="183F66"/>
                    </a:solidFill>
                  </a:tcPr>
                </a:tc>
                <a:tc>
                  <a:txBody>
                    <a:bodyPr/>
                    <a:lstStyle/>
                    <a:p>
                      <a:pPr algn="ctr"/>
                      <a:r>
                        <a:rPr sz="1200" b="1">
                          <a:solidFill>
                            <a:srgbClr val="FFFFFF"/>
                          </a:solidFill>
                          <a:latin typeface="Arial"/>
                        </a:rPr>
                        <a:t>Tiempo</a:t>
                      </a:r>
                    </a:p>
                  </a:txBody>
                  <a:tcPr marT="30000" marB="30000" anchor="ctr">
                    <a:solidFill>
                      <a:srgbClr val="183F66"/>
                    </a:solidFill>
                  </a:tcPr>
                </a:tc>
              </a:tr>
              <a:tr h="330000">
                <a:tc>
                  <a:txBody>
                    <a:bodyPr/>
                    <a:lstStyle/>
                    <a:p>
                      <a:pPr algn="l"/>
                      <a:r>
                        <a:rPr sz="1200">
                          <a:solidFill>
                            <a:srgbClr val="30373E"/>
                          </a:solidFill>
                          <a:latin typeface="Arial"/>
                        </a:rPr>
                        <a:t>Con N+1 (versión inicial)</a:t>
                      </a:r>
                    </a:p>
                  </a:txBody>
                  <a:tcPr marT="30000" marB="30000" anchor="ctr">
                    <a:solidFill>
                      <a:srgbClr val="FFFFFF"/>
                    </a:solidFill>
                  </a:tcPr>
                </a:tc>
                <a:tc>
                  <a:txBody>
                    <a:bodyPr/>
                    <a:lstStyle/>
                    <a:p>
                      <a:pPr algn="ctr"/>
                      <a:r>
                        <a:rPr sz="1200">
                          <a:solidFill>
                            <a:srgbClr val="30373E"/>
                          </a:solidFill>
                          <a:latin typeface="Arial"/>
                        </a:rPr>
                        <a:t>21</a:t>
                      </a:r>
                    </a:p>
                  </a:txBody>
                  <a:tcPr marT="30000" marB="30000" anchor="ctr">
                    <a:solidFill>
                      <a:srgbClr val="FFFFFF"/>
                    </a:solidFill>
                  </a:tcPr>
                </a:tc>
                <a:tc>
                  <a:txBody>
                    <a:bodyPr/>
                    <a:lstStyle/>
                    <a:p>
                      <a:pPr algn="ctr"/>
                      <a:r>
                        <a:rPr sz="1200">
                          <a:solidFill>
                            <a:srgbClr val="30373E"/>
                          </a:solidFill>
                          <a:latin typeface="Arial"/>
                        </a:rPr>
                        <a:t>9.7 ms</a:t>
                      </a:r>
                    </a:p>
                  </a:txBody>
                  <a:tcPr marT="30000" marB="30000" anchor="ctr">
                    <a:solidFill>
                      <a:srgbClr val="FFFFFF"/>
                    </a:solidFill>
                  </a:tcPr>
                </a:tc>
              </a:tr>
              <a:tr h="330000">
                <a:tc>
                  <a:txBody>
                    <a:bodyPr/>
                    <a:lstStyle/>
                    <a:p>
                      <a:pPr algn="l"/>
                      <a:r>
                        <a:rPr sz="1200">
                          <a:solidFill>
                            <a:srgbClr val="30373E"/>
                          </a:solidFill>
                          <a:latin typeface="Arial"/>
                        </a:rPr>
                        <a:t>Con JOIN FETCH</a:t>
                      </a:r>
                    </a:p>
                  </a:txBody>
                  <a:tcPr marT="30000" marB="30000" anchor="ctr">
                    <a:solidFill>
                      <a:srgbClr val="F2F6FA"/>
                    </a:solidFill>
                  </a:tcPr>
                </a:tc>
                <a:tc>
                  <a:txBody>
                    <a:bodyPr/>
                    <a:lstStyle/>
                    <a:p>
                      <a:pPr algn="ctr"/>
                      <a:r>
                        <a:rPr sz="1200">
                          <a:solidFill>
                            <a:srgbClr val="30373E"/>
                          </a:solidFill>
                          <a:latin typeface="Arial"/>
                        </a:rPr>
                        <a:t>1</a:t>
                      </a:r>
                    </a:p>
                  </a:txBody>
                  <a:tcPr marT="30000" marB="30000" anchor="ctr">
                    <a:solidFill>
                      <a:srgbClr val="F2F6FA"/>
                    </a:solidFill>
                  </a:tcPr>
                </a:tc>
                <a:tc>
                  <a:txBody>
                    <a:bodyPr/>
                    <a:lstStyle/>
                    <a:p>
                      <a:pPr algn="ctr"/>
                      <a:r>
                        <a:rPr sz="1200">
                          <a:solidFill>
                            <a:srgbClr val="30373E"/>
                          </a:solidFill>
                          <a:latin typeface="Arial"/>
                        </a:rPr>
                        <a:t>2.2 ms</a:t>
                      </a:r>
                    </a:p>
                  </a:txBody>
                  <a:tcPr marT="30000" marB="30000" anchor="ctr">
                    <a:solidFill>
                      <a:srgbClr val="F2F6FA"/>
                    </a:solidFill>
                  </a:tcPr>
                </a:tc>
              </a:tr>
              <a:tr h="330000">
                <a:tc>
                  <a:txBody>
                    <a:bodyPr/>
                    <a:lstStyle/>
                    <a:p>
                      <a:pPr algn="l"/>
                      <a:r>
                        <a:rPr sz="1200">
                          <a:solidFill>
                            <a:srgbClr val="30373E"/>
                          </a:solidFill>
                          <a:latin typeface="Arial"/>
                        </a:rPr>
                        <a:t>Con JOIN FETCH + caché</a:t>
                      </a:r>
                    </a:p>
                  </a:txBody>
                  <a:tcPr marT="30000" marB="30000" anchor="ctr">
                    <a:solidFill>
                      <a:srgbClr val="FFFFFF"/>
                    </a:solidFill>
                  </a:tcPr>
                </a:tc>
                <a:tc>
                  <a:txBody>
                    <a:bodyPr/>
                    <a:lstStyle/>
                    <a:p>
                      <a:pPr algn="ctr"/>
                      <a:r>
                        <a:rPr sz="1200">
                          <a:solidFill>
                            <a:srgbClr val="30373E"/>
                          </a:solidFill>
                          <a:latin typeface="Arial"/>
                        </a:rPr>
                        <a:t>0</a:t>
                      </a:r>
                    </a:p>
                  </a:txBody>
                  <a:tcPr marT="30000" marB="30000" anchor="ctr">
                    <a:solidFill>
                      <a:srgbClr val="FFFFFF"/>
                    </a:solidFill>
                  </a:tcPr>
                </a:tc>
                <a:tc>
                  <a:txBody>
                    <a:bodyPr/>
                    <a:lstStyle/>
                    <a:p>
                      <a:pPr algn="ctr"/>
                      <a:r>
                        <a:rPr sz="1200">
                          <a:solidFill>
                            <a:srgbClr val="30373E"/>
                          </a:solidFill>
                          <a:latin typeface="Arial"/>
                        </a:rPr>
                        <a:t>0.07 ms</a:t>
                      </a:r>
                    </a:p>
                  </a:txBody>
                  <a:tcPr marT="30000" marB="30000"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Pruebas automatizadas</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19</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mvn clean verify ejecuta 78 pruebas en cada cambio: BUILD SUCCESS</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19</a:t>
            </a:r>
          </a:p>
        </p:txBody>
      </p:sp>
      <p:graphicFrame>
        <p:nvGraphicFramePr>
          <p:cNvPr id="8" name="Table 7"/>
          <p:cNvGraphicFramePr>
            <a:graphicFrameLocks noGrp="1"/>
          </p:cNvGraphicFramePr>
          <p:nvPr/>
        </p:nvGraphicFramePr>
        <p:xfrm>
          <a:off x="548640" y="1300000"/>
          <a:ext cx="5300000" cy="4400000"/>
        </p:xfrm>
        <a:graphic>
          <a:graphicData uri="http://schemas.openxmlformats.org/drawingml/2006/table">
            <a:tbl>
              <a:tblPr firstRow="1" bandRow="1">
                <a:tableStyleId>{5C22544A-7EE6-4342-B048-85BDC9FD1C3A}</a:tableStyleId>
              </a:tblPr>
              <a:tblGrid>
                <a:gridCol w="3500000"/>
                <a:gridCol w="1800000"/>
              </a:tblGrid>
              <a:tr h="400000">
                <a:tc>
                  <a:txBody>
                    <a:bodyPr/>
                    <a:lstStyle/>
                    <a:p>
                      <a:pPr algn="l"/>
                      <a:r>
                        <a:rPr sz="1300" b="1">
                          <a:solidFill>
                            <a:srgbClr val="FFFFFF"/>
                          </a:solidFill>
                          <a:latin typeface="Arial"/>
                        </a:rPr>
                        <a:t>Módulo</a:t>
                      </a:r>
                    </a:p>
                  </a:txBody>
                  <a:tcPr marT="30000" marB="30000" anchor="ctr">
                    <a:solidFill>
                      <a:srgbClr val="183F66"/>
                    </a:solidFill>
                  </a:tcPr>
                </a:tc>
                <a:tc>
                  <a:txBody>
                    <a:bodyPr/>
                    <a:lstStyle/>
                    <a:p>
                      <a:pPr algn="ctr"/>
                      <a:r>
                        <a:rPr sz="1300" b="1">
                          <a:solidFill>
                            <a:srgbClr val="FFFFFF"/>
                          </a:solidFill>
                          <a:latin typeface="Arial"/>
                        </a:rPr>
                        <a:t>Pruebas</a:t>
                      </a:r>
                    </a:p>
                  </a:txBody>
                  <a:tcPr marT="30000" marB="30000" anchor="ctr">
                    <a:solidFill>
                      <a:srgbClr val="183F66"/>
                    </a:solidFill>
                  </a:tcPr>
                </a:tc>
              </a:tr>
              <a:tr h="400000">
                <a:tc>
                  <a:txBody>
                    <a:bodyPr/>
                    <a:lstStyle/>
                    <a:p>
                      <a:pPr algn="l"/>
                      <a:r>
                        <a:rPr sz="1300">
                          <a:solidFill>
                            <a:srgbClr val="30373E"/>
                          </a:solidFill>
                          <a:latin typeface="Arial"/>
                        </a:rPr>
                        <a:t>auth-service</a:t>
                      </a:r>
                    </a:p>
                  </a:txBody>
                  <a:tcPr marT="30000" marB="30000" anchor="ctr">
                    <a:solidFill>
                      <a:srgbClr val="FFFFFF"/>
                    </a:solidFill>
                  </a:tcPr>
                </a:tc>
                <a:tc>
                  <a:txBody>
                    <a:bodyPr/>
                    <a:lstStyle/>
                    <a:p>
                      <a:pPr algn="ctr"/>
                      <a:r>
                        <a:rPr sz="1300">
                          <a:solidFill>
                            <a:srgbClr val="30373E"/>
                          </a:solidFill>
                          <a:latin typeface="Arial"/>
                        </a:rPr>
                        <a:t>15</a:t>
                      </a:r>
                    </a:p>
                  </a:txBody>
                  <a:tcPr marT="30000" marB="30000" anchor="ctr">
                    <a:solidFill>
                      <a:srgbClr val="FFFFFF"/>
                    </a:solidFill>
                  </a:tcPr>
                </a:tc>
              </a:tr>
              <a:tr h="400000">
                <a:tc>
                  <a:txBody>
                    <a:bodyPr/>
                    <a:lstStyle/>
                    <a:p>
                      <a:pPr algn="l"/>
                      <a:r>
                        <a:rPr sz="1300">
                          <a:solidFill>
                            <a:srgbClr val="30373E"/>
                          </a:solidFill>
                          <a:latin typeface="Arial"/>
                        </a:rPr>
                        <a:t>catalog-service</a:t>
                      </a:r>
                    </a:p>
                  </a:txBody>
                  <a:tcPr marT="30000" marB="30000" anchor="ctr">
                    <a:solidFill>
                      <a:srgbClr val="F2F6FA"/>
                    </a:solidFill>
                  </a:tcPr>
                </a:tc>
                <a:tc>
                  <a:txBody>
                    <a:bodyPr/>
                    <a:lstStyle/>
                    <a:p>
                      <a:pPr algn="ctr"/>
                      <a:r>
                        <a:rPr sz="1300">
                          <a:solidFill>
                            <a:srgbClr val="30373E"/>
                          </a:solidFill>
                          <a:latin typeface="Arial"/>
                        </a:rPr>
                        <a:t>15</a:t>
                      </a:r>
                    </a:p>
                  </a:txBody>
                  <a:tcPr marT="30000" marB="30000" anchor="ctr">
                    <a:solidFill>
                      <a:srgbClr val="F2F6FA"/>
                    </a:solidFill>
                  </a:tcPr>
                </a:tc>
              </a:tr>
              <a:tr h="400000">
                <a:tc>
                  <a:txBody>
                    <a:bodyPr/>
                    <a:lstStyle/>
                    <a:p>
                      <a:pPr algn="l"/>
                      <a:r>
                        <a:rPr sz="1300">
                          <a:solidFill>
                            <a:srgbClr val="30373E"/>
                          </a:solidFill>
                          <a:latin typeface="Arial"/>
                        </a:rPr>
                        <a:t>sales-service</a:t>
                      </a:r>
                    </a:p>
                  </a:txBody>
                  <a:tcPr marT="30000" marB="30000" anchor="ctr">
                    <a:solidFill>
                      <a:srgbClr val="FFFFFF"/>
                    </a:solidFill>
                  </a:tcPr>
                </a:tc>
                <a:tc>
                  <a:txBody>
                    <a:bodyPr/>
                    <a:lstStyle/>
                    <a:p>
                      <a:pPr algn="ctr"/>
                      <a:r>
                        <a:rPr sz="1300">
                          <a:solidFill>
                            <a:srgbClr val="30373E"/>
                          </a:solidFill>
                          <a:latin typeface="Arial"/>
                        </a:rPr>
                        <a:t>14</a:t>
                      </a:r>
                    </a:p>
                  </a:txBody>
                  <a:tcPr marT="30000" marB="30000" anchor="ctr">
                    <a:solidFill>
                      <a:srgbClr val="FFFFFF"/>
                    </a:solidFill>
                  </a:tcPr>
                </a:tc>
              </a:tr>
              <a:tr h="400000">
                <a:tc>
                  <a:txBody>
                    <a:bodyPr/>
                    <a:lstStyle/>
                    <a:p>
                      <a:pPr algn="l"/>
                      <a:r>
                        <a:rPr sz="1300">
                          <a:solidFill>
                            <a:srgbClr val="30373E"/>
                          </a:solidFill>
                          <a:latin typeface="Arial"/>
                        </a:rPr>
                        <a:t>production-service</a:t>
                      </a:r>
                    </a:p>
                  </a:txBody>
                  <a:tcPr marT="30000" marB="30000" anchor="ctr">
                    <a:solidFill>
                      <a:srgbClr val="F2F6FA"/>
                    </a:solidFill>
                  </a:tcPr>
                </a:tc>
                <a:tc>
                  <a:txBody>
                    <a:bodyPr/>
                    <a:lstStyle/>
                    <a:p>
                      <a:pPr algn="ctr"/>
                      <a:r>
                        <a:rPr sz="1300">
                          <a:solidFill>
                            <a:srgbClr val="30373E"/>
                          </a:solidFill>
                          <a:latin typeface="Arial"/>
                        </a:rPr>
                        <a:t>8</a:t>
                      </a:r>
                    </a:p>
                  </a:txBody>
                  <a:tcPr marT="30000" marB="30000" anchor="ctr">
                    <a:solidFill>
                      <a:srgbClr val="F2F6FA"/>
                    </a:solidFill>
                  </a:tcPr>
                </a:tc>
              </a:tr>
              <a:tr h="400000">
                <a:tc>
                  <a:txBody>
                    <a:bodyPr/>
                    <a:lstStyle/>
                    <a:p>
                      <a:pPr algn="l"/>
                      <a:r>
                        <a:rPr sz="1300">
                          <a:solidFill>
                            <a:srgbClr val="30373E"/>
                          </a:solidFill>
                          <a:latin typeface="Arial"/>
                        </a:rPr>
                        <a:t>design-service</a:t>
                      </a:r>
                    </a:p>
                  </a:txBody>
                  <a:tcPr marT="30000" marB="30000" anchor="ctr">
                    <a:solidFill>
                      <a:srgbClr val="FFFFFF"/>
                    </a:solidFill>
                  </a:tcPr>
                </a:tc>
                <a:tc>
                  <a:txBody>
                    <a:bodyPr/>
                    <a:lstStyle/>
                    <a:p>
                      <a:pPr algn="ctr"/>
                      <a:r>
                        <a:rPr sz="1300">
                          <a:solidFill>
                            <a:srgbClr val="30373E"/>
                          </a:solidFill>
                          <a:latin typeface="Arial"/>
                        </a:rPr>
                        <a:t>7</a:t>
                      </a:r>
                    </a:p>
                  </a:txBody>
                  <a:tcPr marT="30000" marB="30000" anchor="ctr">
                    <a:solidFill>
                      <a:srgbClr val="FFFFFF"/>
                    </a:solidFill>
                  </a:tcPr>
                </a:tc>
              </a:tr>
              <a:tr h="400000">
                <a:tc>
                  <a:txBody>
                    <a:bodyPr/>
                    <a:lstStyle/>
                    <a:p>
                      <a:pPr algn="l"/>
                      <a:r>
                        <a:rPr sz="1300">
                          <a:solidFill>
                            <a:srgbClr val="30373E"/>
                          </a:solidFill>
                          <a:latin typeface="Arial"/>
                        </a:rPr>
                        <a:t>inventory-service</a:t>
                      </a:r>
                    </a:p>
                  </a:txBody>
                  <a:tcPr marT="30000" marB="30000" anchor="ctr">
                    <a:solidFill>
                      <a:srgbClr val="F2F6FA"/>
                    </a:solidFill>
                  </a:tcPr>
                </a:tc>
                <a:tc>
                  <a:txBody>
                    <a:bodyPr/>
                    <a:lstStyle/>
                    <a:p>
                      <a:pPr algn="ctr"/>
                      <a:r>
                        <a:rPr sz="1300">
                          <a:solidFill>
                            <a:srgbClr val="30373E"/>
                          </a:solidFill>
                          <a:latin typeface="Arial"/>
                        </a:rPr>
                        <a:t>6</a:t>
                      </a:r>
                    </a:p>
                  </a:txBody>
                  <a:tcPr marT="30000" marB="30000" anchor="ctr">
                    <a:solidFill>
                      <a:srgbClr val="F2F6FA"/>
                    </a:solidFill>
                  </a:tcPr>
                </a:tc>
              </a:tr>
              <a:tr h="400000">
                <a:tc>
                  <a:txBody>
                    <a:bodyPr/>
                    <a:lstStyle/>
                    <a:p>
                      <a:pPr algn="l"/>
                      <a:r>
                        <a:rPr sz="1300">
                          <a:solidFill>
                            <a:srgbClr val="30373E"/>
                          </a:solidFill>
                          <a:latin typeface="Arial"/>
                        </a:rPr>
                        <a:t>notification-service</a:t>
                      </a:r>
                    </a:p>
                  </a:txBody>
                  <a:tcPr marT="30000" marB="30000" anchor="ctr">
                    <a:solidFill>
                      <a:srgbClr val="FFFFFF"/>
                    </a:solidFill>
                  </a:tcPr>
                </a:tc>
                <a:tc>
                  <a:txBody>
                    <a:bodyPr/>
                    <a:lstStyle/>
                    <a:p>
                      <a:pPr algn="ctr"/>
                      <a:r>
                        <a:rPr sz="1300">
                          <a:solidFill>
                            <a:srgbClr val="30373E"/>
                          </a:solidFill>
                          <a:latin typeface="Arial"/>
                        </a:rPr>
                        <a:t>7</a:t>
                      </a:r>
                    </a:p>
                  </a:txBody>
                  <a:tcPr marT="30000" marB="30000" anchor="ctr">
                    <a:solidFill>
                      <a:srgbClr val="FFFFFF"/>
                    </a:solidFill>
                  </a:tcPr>
                </a:tc>
              </a:tr>
              <a:tr h="400000">
                <a:tc>
                  <a:txBody>
                    <a:bodyPr/>
                    <a:lstStyle/>
                    <a:p>
                      <a:pPr algn="l"/>
                      <a:r>
                        <a:rPr sz="1300">
                          <a:solidFill>
                            <a:srgbClr val="30373E"/>
                          </a:solidFill>
                          <a:latin typeface="Arial"/>
                        </a:rPr>
                        <a:t>report-service</a:t>
                      </a:r>
                    </a:p>
                  </a:txBody>
                  <a:tcPr marT="30000" marB="30000" anchor="ctr">
                    <a:solidFill>
                      <a:srgbClr val="F2F6FA"/>
                    </a:solidFill>
                  </a:tcPr>
                </a:tc>
                <a:tc>
                  <a:txBody>
                    <a:bodyPr/>
                    <a:lstStyle/>
                    <a:p>
                      <a:pPr algn="ctr"/>
                      <a:r>
                        <a:rPr sz="1300">
                          <a:solidFill>
                            <a:srgbClr val="30373E"/>
                          </a:solidFill>
                          <a:latin typeface="Arial"/>
                        </a:rPr>
                        <a:t>4</a:t>
                      </a:r>
                    </a:p>
                  </a:txBody>
                  <a:tcPr marT="30000" marB="30000" anchor="ctr">
                    <a:solidFill>
                      <a:srgbClr val="F2F6FA"/>
                    </a:solidFill>
                  </a:tcPr>
                </a:tc>
              </a:tr>
              <a:tr h="400000">
                <a:tc>
                  <a:txBody>
                    <a:bodyPr/>
                    <a:lstStyle/>
                    <a:p>
                      <a:pPr algn="l"/>
                      <a:r>
                        <a:rPr sz="1300">
                          <a:solidFill>
                            <a:srgbClr val="30373E"/>
                          </a:solidFill>
                          <a:latin typeface="Arial"/>
                        </a:rPr>
                        <a:t>discovery + gateway</a:t>
                      </a:r>
                    </a:p>
                  </a:txBody>
                  <a:tcPr marT="30000" marB="30000" anchor="ctr">
                    <a:solidFill>
                      <a:srgbClr val="FFFFFF"/>
                    </a:solidFill>
                  </a:tcPr>
                </a:tc>
                <a:tc>
                  <a:txBody>
                    <a:bodyPr/>
                    <a:lstStyle/>
                    <a:p>
                      <a:pPr algn="ctr"/>
                      <a:r>
                        <a:rPr sz="1300">
                          <a:solidFill>
                            <a:srgbClr val="30373E"/>
                          </a:solidFill>
                          <a:latin typeface="Arial"/>
                        </a:rPr>
                        <a:t>2</a:t>
                      </a:r>
                    </a:p>
                  </a:txBody>
                  <a:tcPr marT="30000" marB="30000" anchor="ctr">
                    <a:solidFill>
                      <a:srgbClr val="FFFFFF"/>
                    </a:solidFill>
                  </a:tcPr>
                </a:tc>
              </a:tr>
              <a:tr h="400000">
                <a:tc>
                  <a:txBody>
                    <a:bodyPr/>
                    <a:lstStyle/>
                    <a:p>
                      <a:pPr algn="l"/>
                      <a:r>
                        <a:rPr sz="1300">
                          <a:solidFill>
                            <a:srgbClr val="30373E"/>
                          </a:solidFill>
                          <a:latin typeface="Arial"/>
                        </a:rPr>
                        <a:t>Total</a:t>
                      </a:r>
                    </a:p>
                  </a:txBody>
                  <a:tcPr marT="30000" marB="30000" anchor="ctr">
                    <a:solidFill>
                      <a:srgbClr val="F2F6FA"/>
                    </a:solidFill>
                  </a:tcPr>
                </a:tc>
                <a:tc>
                  <a:txBody>
                    <a:bodyPr/>
                    <a:lstStyle/>
                    <a:p>
                      <a:pPr algn="ctr"/>
                      <a:r>
                        <a:rPr sz="1300">
                          <a:solidFill>
                            <a:srgbClr val="30373E"/>
                          </a:solidFill>
                          <a:latin typeface="Arial"/>
                        </a:rPr>
                        <a:t>78</a:t>
                      </a:r>
                    </a:p>
                  </a:txBody>
                  <a:tcPr marT="30000" marB="30000" anchor="ctr">
                    <a:solidFill>
                      <a:srgbClr val="F2F6FA"/>
                    </a:solidFill>
                  </a:tcPr>
                </a:tc>
              </a:tr>
            </a:tbl>
          </a:graphicData>
        </a:graphic>
      </p:graphicFrame>
      <p:sp>
        <p:nvSpPr>
          <p:cNvPr id="9" name="Rounded Rectangle 8"/>
          <p:cNvSpPr/>
          <p:nvPr/>
        </p:nvSpPr>
        <p:spPr>
          <a:xfrm>
            <a:off x="6398640" y="1300000"/>
            <a:ext cx="5300000" cy="13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48640" y="1410000"/>
            <a:ext cx="5000000" cy="380000"/>
          </a:xfrm>
          <a:prstGeom prst="rect">
            <a:avLst/>
          </a:prstGeom>
          <a:noFill/>
        </p:spPr>
        <p:txBody>
          <a:bodyPr wrap="square" anchor="t" lIns="45720" rIns="45720">
            <a:spAutoFit/>
          </a:bodyPr>
          <a:lstStyle/>
          <a:p>
            <a:pPr algn="l"/>
            <a:r>
              <a:rPr sz="1500" b="1">
                <a:solidFill>
                  <a:srgbClr val="2D70AA"/>
                </a:solidFill>
                <a:latin typeface="Arial"/>
              </a:rPr>
              <a:t>Capa de datos (H2)</a:t>
            </a:r>
          </a:p>
        </p:txBody>
      </p:sp>
      <p:sp>
        <p:nvSpPr>
          <p:cNvPr id="11" name="TextBox 10"/>
          <p:cNvSpPr txBox="1"/>
          <p:nvPr/>
        </p:nvSpPr>
        <p:spPr>
          <a:xfrm>
            <a:off x="6548640" y="1820000"/>
            <a:ext cx="5000000" cy="700000"/>
          </a:xfrm>
          <a:prstGeom prst="rect">
            <a:avLst/>
          </a:prstGeom>
          <a:noFill/>
        </p:spPr>
        <p:txBody>
          <a:bodyPr wrap="square" anchor="t" lIns="45720" rIns="45720">
            <a:spAutoFit/>
          </a:bodyPr>
          <a:lstStyle/>
          <a:p>
            <a:pPr algn="l"/>
            <a:r>
              <a:rPr sz="1300" b="0">
                <a:solidFill>
                  <a:srgbClr val="30373E"/>
                </a:solidFill>
                <a:latin typeface="Arial"/>
              </a:rPr>
              <a:t>Insertar, actualizar, eliminar y listar</a:t>
            </a:r>
          </a:p>
          <a:p>
            <a:pPr algn="l"/>
            <a:r>
              <a:rPr sz="1300" b="0">
                <a:solidFill>
                  <a:srgbClr val="30373E"/>
                </a:solidFill>
                <a:latin typeface="Arial"/>
              </a:rPr>
              <a:t>en cada repositorio con @DataJpaTest.</a:t>
            </a:r>
          </a:p>
        </p:txBody>
      </p:sp>
      <p:sp>
        <p:nvSpPr>
          <p:cNvPr id="12" name="Rounded Rectangle 11"/>
          <p:cNvSpPr/>
          <p:nvPr/>
        </p:nvSpPr>
        <p:spPr>
          <a:xfrm>
            <a:off x="6398640" y="2750000"/>
            <a:ext cx="5300000" cy="13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48640" y="2860000"/>
            <a:ext cx="5000000" cy="380000"/>
          </a:xfrm>
          <a:prstGeom prst="rect">
            <a:avLst/>
          </a:prstGeom>
          <a:noFill/>
        </p:spPr>
        <p:txBody>
          <a:bodyPr wrap="square" anchor="t" lIns="45720" rIns="45720">
            <a:spAutoFit/>
          </a:bodyPr>
          <a:lstStyle/>
          <a:p>
            <a:pPr algn="l"/>
            <a:r>
              <a:rPr sz="1500" b="1">
                <a:solidFill>
                  <a:srgbClr val="2D70AA"/>
                </a:solidFill>
                <a:latin typeface="Arial"/>
              </a:rPr>
              <a:t>Integración REST</a:t>
            </a:r>
          </a:p>
        </p:txBody>
      </p:sp>
      <p:sp>
        <p:nvSpPr>
          <p:cNvPr id="14" name="TextBox 13"/>
          <p:cNvSpPr txBox="1"/>
          <p:nvPr/>
        </p:nvSpPr>
        <p:spPr>
          <a:xfrm>
            <a:off x="6548640" y="3270000"/>
            <a:ext cx="5000000" cy="700000"/>
          </a:xfrm>
          <a:prstGeom prst="rect">
            <a:avLst/>
          </a:prstGeom>
          <a:noFill/>
        </p:spPr>
        <p:txBody>
          <a:bodyPr wrap="square" anchor="t" lIns="45720" rIns="45720">
            <a:spAutoFit/>
          </a:bodyPr>
          <a:lstStyle/>
          <a:p>
            <a:pPr algn="l"/>
            <a:r>
              <a:rPr sz="1300" b="0">
                <a:solidFill>
                  <a:srgbClr val="30373E"/>
                </a:solidFill>
                <a:latin typeface="Arial"/>
              </a:rPr>
              <a:t>MockMvc: códigos HTTP, validaciones,</a:t>
            </a:r>
          </a:p>
          <a:p>
            <a:pPr algn="l"/>
            <a:r>
              <a:rPr sz="1300" b="0">
                <a:solidFill>
                  <a:srgbClr val="30373E"/>
                </a:solidFill>
                <a:latin typeface="Arial"/>
              </a:rPr>
              <a:t>roles ADMIN/CLIENTE y errores 404/403.</a:t>
            </a:r>
          </a:p>
        </p:txBody>
      </p:sp>
      <p:sp>
        <p:nvSpPr>
          <p:cNvPr id="15" name="Rounded Rectangle 14"/>
          <p:cNvSpPr/>
          <p:nvPr/>
        </p:nvSpPr>
        <p:spPr>
          <a:xfrm>
            <a:off x="6398640" y="4200000"/>
            <a:ext cx="5300000" cy="13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8640" y="4310000"/>
            <a:ext cx="5000000" cy="380000"/>
          </a:xfrm>
          <a:prstGeom prst="rect">
            <a:avLst/>
          </a:prstGeom>
          <a:noFill/>
        </p:spPr>
        <p:txBody>
          <a:bodyPr wrap="square" anchor="t" lIns="45720" rIns="45720">
            <a:spAutoFit/>
          </a:bodyPr>
          <a:lstStyle/>
          <a:p>
            <a:pPr algn="l"/>
            <a:r>
              <a:rPr sz="1500" b="1">
                <a:solidFill>
                  <a:srgbClr val="4F9667"/>
                </a:solidFill>
                <a:latin typeface="Arial"/>
              </a:rPr>
              <a:t>Prueba de punta a punta</a:t>
            </a:r>
          </a:p>
        </p:txBody>
      </p:sp>
      <p:sp>
        <p:nvSpPr>
          <p:cNvPr id="17" name="TextBox 16"/>
          <p:cNvSpPr txBox="1"/>
          <p:nvPr/>
        </p:nvSpPr>
        <p:spPr>
          <a:xfrm>
            <a:off x="6548640" y="4720000"/>
            <a:ext cx="5000000" cy="700000"/>
          </a:xfrm>
          <a:prstGeom prst="rect">
            <a:avLst/>
          </a:prstGeom>
          <a:noFill/>
        </p:spPr>
        <p:txBody>
          <a:bodyPr wrap="square" anchor="t" lIns="45720" rIns="45720">
            <a:spAutoFit/>
          </a:bodyPr>
          <a:lstStyle/>
          <a:p>
            <a:pPr algn="l"/>
            <a:r>
              <a:rPr sz="1300" b="0">
                <a:solidFill>
                  <a:srgbClr val="30373E"/>
                </a:solidFill>
                <a:latin typeface="Arial"/>
              </a:rPr>
              <a:t>prueba-e2e.sh y 36 peticiones Postman</a:t>
            </a:r>
          </a:p>
          <a:p>
            <a:pPr algn="l"/>
            <a:r>
              <a:rPr sz="1300" b="0">
                <a:solidFill>
                  <a:srgbClr val="30373E"/>
                </a:solidFill>
                <a:latin typeface="Arial"/>
              </a:rPr>
              <a:t>con PostgreSQL: todo el flujo funciona.</a:t>
            </a:r>
          </a:p>
        </p:txBody>
      </p:sp>
      <p:sp>
        <p:nvSpPr>
          <p:cNvPr id="18" name="TextBox 17"/>
          <p:cNvSpPr txBox="1"/>
          <p:nvPr/>
        </p:nvSpPr>
        <p:spPr>
          <a:xfrm>
            <a:off x="6398640" y="5650000"/>
            <a:ext cx="5300000" cy="400000"/>
          </a:xfrm>
          <a:prstGeom prst="rect">
            <a:avLst/>
          </a:prstGeom>
          <a:noFill/>
        </p:spPr>
        <p:txBody>
          <a:bodyPr wrap="square" anchor="t" lIns="45720" rIns="45720">
            <a:spAutoFit/>
          </a:bodyPr>
          <a:lstStyle/>
          <a:p>
            <a:pPr algn="l"/>
            <a:r>
              <a:rPr sz="1200" b="0">
                <a:solidFill>
                  <a:srgbClr val="677078"/>
                </a:solidFill>
                <a:latin typeface="Arial"/>
              </a:rPr>
              <a:t>Cobertura con JaCoCo en target/site/jacoco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Despliegue en la nube</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20</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Render + PostgreSQL con el blueprint render.yaml del repositorio</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20</a:t>
            </a:r>
          </a:p>
        </p:txBody>
      </p:sp>
      <p:sp>
        <p:nvSpPr>
          <p:cNvPr id="8" name="Rounded Rectangle 7"/>
          <p:cNvSpPr/>
          <p:nvPr/>
        </p:nvSpPr>
        <p:spPr>
          <a:xfrm>
            <a:off x="548640" y="1500000"/>
            <a:ext cx="2300000" cy="90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00000"/>
            <a:ext cx="2300000" cy="900000"/>
          </a:xfrm>
          <a:prstGeom prst="rect">
            <a:avLst/>
          </a:prstGeom>
          <a:noFill/>
        </p:spPr>
        <p:txBody>
          <a:bodyPr wrap="square" anchor="ctr" lIns="45720" rIns="45720">
            <a:spAutoFit/>
          </a:bodyPr>
          <a:lstStyle/>
          <a:p>
            <a:pPr algn="ctr"/>
            <a:r>
              <a:rPr sz="1500" b="1">
                <a:solidFill>
                  <a:srgbClr val="30373E"/>
                </a:solidFill>
                <a:latin typeface="Arial"/>
              </a:rPr>
              <a:t>GitHub</a:t>
            </a:r>
          </a:p>
          <a:p>
            <a:pPr algn="ctr"/>
            <a:r>
              <a:rPr sz="1200" b="0">
                <a:solidFill>
                  <a:srgbClr val="30373E"/>
                </a:solidFill>
                <a:latin typeface="Arial"/>
              </a:rPr>
              <a:t>rama develop</a:t>
            </a:r>
          </a:p>
        </p:txBody>
      </p:sp>
      <p:cxnSp>
        <p:nvCxnSpPr>
          <p:cNvPr id="10" name="Connector 9"/>
          <p:cNvCxnSpPr/>
          <p:nvPr/>
        </p:nvCxnSpPr>
        <p:spPr>
          <a:xfrm>
            <a:off x="2848640" y="1950000"/>
            <a:ext cx="60000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48640" y="1300000"/>
            <a:ext cx="5000000" cy="1300000"/>
          </a:xfrm>
          <a:prstGeom prst="roundRect">
            <a:avLst>
              <a:gd name="adj" fmla="val 8000"/>
            </a:avLst>
          </a:prstGeom>
          <a:solidFill>
            <a:srgbClr val="183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8640" y="1300000"/>
            <a:ext cx="5000000" cy="1300000"/>
          </a:xfrm>
          <a:prstGeom prst="rect">
            <a:avLst/>
          </a:prstGeom>
          <a:noFill/>
        </p:spPr>
        <p:txBody>
          <a:bodyPr wrap="square" anchor="ctr" lIns="45720" rIns="45720">
            <a:spAutoFit/>
          </a:bodyPr>
          <a:lstStyle/>
          <a:p>
            <a:pPr algn="ctr"/>
            <a:r>
              <a:rPr sz="1800" b="1">
                <a:solidFill>
                  <a:srgbClr val="FFFFFF"/>
                </a:solidFill>
                <a:latin typeface="Arial"/>
              </a:rPr>
              <a:t>Render</a:t>
            </a:r>
          </a:p>
          <a:p>
            <a:pPr algn="ctr"/>
            <a:r>
              <a:rPr sz="1300" b="0">
                <a:solidFill>
                  <a:srgbClr val="D6E4F0"/>
                </a:solidFill>
                <a:latin typeface="Arial"/>
              </a:rPr>
              <a:t>9 servicios web Docker</a:t>
            </a:r>
          </a:p>
          <a:p>
            <a:pPr algn="ctr"/>
            <a:r>
              <a:rPr sz="1200" b="0">
                <a:solidFill>
                  <a:srgbClr val="D6E4F0"/>
                </a:solidFill>
                <a:latin typeface="Arial"/>
              </a:rPr>
              <a:t>gateway público · resto internos</a:t>
            </a:r>
          </a:p>
        </p:txBody>
      </p:sp>
      <p:cxnSp>
        <p:nvCxnSpPr>
          <p:cNvPr id="13" name="Connector 12"/>
          <p:cNvCxnSpPr/>
          <p:nvPr/>
        </p:nvCxnSpPr>
        <p:spPr>
          <a:xfrm>
            <a:off x="8448640" y="1950000"/>
            <a:ext cx="600000" cy="0"/>
          </a:xfrm>
          <a:prstGeom prst="line">
            <a:avLst/>
          </a:prstGeom>
          <a:ln w="19050">
            <a:solidFill>
              <a:srgbClr val="67707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048640" y="1300000"/>
            <a:ext cx="2655680" cy="13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48640" y="1300000"/>
            <a:ext cx="2655680" cy="1300000"/>
          </a:xfrm>
          <a:prstGeom prst="rect">
            <a:avLst/>
          </a:prstGeom>
          <a:noFill/>
        </p:spPr>
        <p:txBody>
          <a:bodyPr wrap="square" anchor="ctr" lIns="45720" rIns="45720">
            <a:spAutoFit/>
          </a:bodyPr>
          <a:lstStyle/>
          <a:p>
            <a:pPr algn="ctr"/>
            <a:r>
              <a:rPr sz="1700" b="1">
                <a:solidFill>
                  <a:srgbClr val="4F9667"/>
                </a:solidFill>
                <a:latin typeface="Arial"/>
              </a:rPr>
              <a:t>PostgreSQL</a:t>
            </a:r>
          </a:p>
          <a:p>
            <a:pPr algn="ctr"/>
            <a:r>
              <a:rPr sz="1200" b="0">
                <a:solidFill>
                  <a:srgbClr val="30373E"/>
                </a:solidFill>
                <a:latin typeface="Arial"/>
              </a:rPr>
              <a:t>un esquema</a:t>
            </a:r>
          </a:p>
          <a:p>
            <a:pPr algn="ctr"/>
            <a:r>
              <a:rPr sz="1200" b="0">
                <a:solidFill>
                  <a:srgbClr val="30373E"/>
                </a:solidFill>
                <a:latin typeface="Arial"/>
              </a:rPr>
              <a:t>por servicio</a:t>
            </a:r>
          </a:p>
        </p:txBody>
      </p:sp>
      <p:sp>
        <p:nvSpPr>
          <p:cNvPr id="16" name="Rounded Rectangle 15"/>
          <p:cNvSpPr/>
          <p:nvPr/>
        </p:nvSpPr>
        <p:spPr>
          <a:xfrm>
            <a:off x="548640" y="3000000"/>
            <a:ext cx="3600000" cy="24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8640" y="3110000"/>
            <a:ext cx="3300000" cy="380000"/>
          </a:xfrm>
          <a:prstGeom prst="rect">
            <a:avLst/>
          </a:prstGeom>
          <a:noFill/>
        </p:spPr>
        <p:txBody>
          <a:bodyPr wrap="square" anchor="t" lIns="45720" rIns="45720">
            <a:spAutoFit/>
          </a:bodyPr>
          <a:lstStyle/>
          <a:p>
            <a:pPr algn="l"/>
            <a:r>
              <a:rPr sz="1500" b="1">
                <a:solidFill>
                  <a:srgbClr val="2D70AA"/>
                </a:solidFill>
                <a:latin typeface="Arial"/>
              </a:rPr>
              <a:t>Perfil cloud</a:t>
            </a:r>
          </a:p>
        </p:txBody>
      </p:sp>
      <p:sp>
        <p:nvSpPr>
          <p:cNvPr id="18" name="TextBox 17"/>
          <p:cNvSpPr txBox="1"/>
          <p:nvPr/>
        </p:nvSpPr>
        <p:spPr>
          <a:xfrm>
            <a:off x="698640" y="3520000"/>
            <a:ext cx="3300000" cy="1800000"/>
          </a:xfrm>
          <a:prstGeom prst="rect">
            <a:avLst/>
          </a:prstGeom>
          <a:noFill/>
        </p:spPr>
        <p:txBody>
          <a:bodyPr wrap="square" anchor="t" lIns="45720" rIns="45720">
            <a:spAutoFit/>
          </a:bodyPr>
          <a:lstStyle/>
          <a:p>
            <a:pPr algn="l"/>
            <a:r>
              <a:rPr sz="1300" b="0">
                <a:solidFill>
                  <a:srgbClr val="30373E"/>
                </a:solidFill>
                <a:latin typeface="Arial"/>
              </a:rPr>
              <a:t>SPRING_PROFILES_ACTIVE=cloud</a:t>
            </a:r>
          </a:p>
          <a:p>
            <a:pPr algn="l"/>
            <a:r>
              <a:rPr sz="1300" b="0">
                <a:solidFill>
                  <a:srgbClr val="30373E"/>
                </a:solidFill>
                <a:latin typeface="Arial"/>
              </a:rPr>
              <a:t>DB_HOST, DB_NAME, DB_USER</a:t>
            </a:r>
          </a:p>
          <a:p>
            <a:pPr algn="l"/>
            <a:r>
              <a:rPr sz="1300" b="0">
                <a:solidFill>
                  <a:srgbClr val="30373E"/>
                </a:solidFill>
                <a:latin typeface="Arial"/>
              </a:rPr>
              <a:t>y DB_PASSWORD desde la BD</a:t>
            </a:r>
          </a:p>
          <a:p>
            <a:pPr algn="l"/>
            <a:r>
              <a:rPr sz="1300" b="0">
                <a:solidFill>
                  <a:srgbClr val="30373E"/>
                </a:solidFill>
                <a:latin typeface="Arial"/>
              </a:rPr>
              <a:t>de Render (fromDatabase).</a:t>
            </a:r>
          </a:p>
        </p:txBody>
      </p:sp>
      <p:sp>
        <p:nvSpPr>
          <p:cNvPr id="19" name="Rounded Rectangle 18"/>
          <p:cNvSpPr/>
          <p:nvPr/>
        </p:nvSpPr>
        <p:spPr>
          <a:xfrm>
            <a:off x="4328640" y="3000000"/>
            <a:ext cx="3600000" cy="24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8640" y="3110000"/>
            <a:ext cx="3300000" cy="380000"/>
          </a:xfrm>
          <a:prstGeom prst="rect">
            <a:avLst/>
          </a:prstGeom>
          <a:noFill/>
        </p:spPr>
        <p:txBody>
          <a:bodyPr wrap="square" anchor="t" lIns="45720" rIns="45720">
            <a:spAutoFit/>
          </a:bodyPr>
          <a:lstStyle/>
          <a:p>
            <a:pPr algn="l"/>
            <a:r>
              <a:rPr sz="1500" b="1">
                <a:solidFill>
                  <a:srgbClr val="2D70AA"/>
                </a:solidFill>
                <a:latin typeface="Arial"/>
              </a:rPr>
              <a:t>Secretos</a:t>
            </a:r>
          </a:p>
        </p:txBody>
      </p:sp>
      <p:sp>
        <p:nvSpPr>
          <p:cNvPr id="21" name="TextBox 20"/>
          <p:cNvSpPr txBox="1"/>
          <p:nvPr/>
        </p:nvSpPr>
        <p:spPr>
          <a:xfrm>
            <a:off x="4478640" y="3520000"/>
            <a:ext cx="3300000" cy="1800000"/>
          </a:xfrm>
          <a:prstGeom prst="rect">
            <a:avLst/>
          </a:prstGeom>
          <a:noFill/>
        </p:spPr>
        <p:txBody>
          <a:bodyPr wrap="square" anchor="t" lIns="45720" rIns="45720">
            <a:spAutoFit/>
          </a:bodyPr>
          <a:lstStyle/>
          <a:p>
            <a:pPr algn="l"/>
            <a:r>
              <a:rPr sz="1300" b="0">
                <a:solidFill>
                  <a:srgbClr val="30373E"/>
                </a:solidFill>
                <a:latin typeface="Arial"/>
              </a:rPr>
              <a:t>JWT_SECRET generado por Render</a:t>
            </a:r>
          </a:p>
          <a:p>
            <a:pPr algn="l"/>
            <a:r>
              <a:rPr sz="1300" b="0">
                <a:solidFill>
                  <a:srgbClr val="30373E"/>
                </a:solidFill>
                <a:latin typeface="Arial"/>
              </a:rPr>
              <a:t>y compartido por todos.</a:t>
            </a:r>
          </a:p>
          <a:p>
            <a:pPr algn="l"/>
            <a:r>
              <a:rPr sz="1300" b="0">
                <a:solidFill>
                  <a:srgbClr val="30373E"/>
                </a:solidFill>
                <a:latin typeface="Arial"/>
              </a:rPr>
              <a:t>SIGIP_ADMIN_PASSWORD se ingresa</a:t>
            </a:r>
          </a:p>
          <a:p>
            <a:pPr algn="l"/>
            <a:r>
              <a:rPr sz="1300" b="0">
                <a:solidFill>
                  <a:srgbClr val="30373E"/>
                </a:solidFill>
                <a:latin typeface="Arial"/>
              </a:rPr>
              <a:t>a mano; nada en el repositorio.</a:t>
            </a:r>
          </a:p>
        </p:txBody>
      </p:sp>
      <p:sp>
        <p:nvSpPr>
          <p:cNvPr id="22" name="Rounded Rectangle 21"/>
          <p:cNvSpPr/>
          <p:nvPr/>
        </p:nvSpPr>
        <p:spPr>
          <a:xfrm>
            <a:off x="8108640" y="3000000"/>
            <a:ext cx="3600000" cy="24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8640" y="3110000"/>
            <a:ext cx="3300000" cy="380000"/>
          </a:xfrm>
          <a:prstGeom prst="rect">
            <a:avLst/>
          </a:prstGeom>
          <a:noFill/>
        </p:spPr>
        <p:txBody>
          <a:bodyPr wrap="square" anchor="t" lIns="45720" rIns="45720">
            <a:spAutoFit/>
          </a:bodyPr>
          <a:lstStyle/>
          <a:p>
            <a:pPr algn="l"/>
            <a:r>
              <a:rPr sz="1500" b="1">
                <a:solidFill>
                  <a:srgbClr val="4F9667"/>
                </a:solidFill>
                <a:latin typeface="Arial"/>
              </a:rPr>
              <a:t>Verificación</a:t>
            </a:r>
          </a:p>
        </p:txBody>
      </p:sp>
      <p:sp>
        <p:nvSpPr>
          <p:cNvPr id="24" name="TextBox 23"/>
          <p:cNvSpPr txBox="1"/>
          <p:nvPr/>
        </p:nvSpPr>
        <p:spPr>
          <a:xfrm>
            <a:off x="8258640" y="3520000"/>
            <a:ext cx="3300000" cy="1800000"/>
          </a:xfrm>
          <a:prstGeom prst="rect">
            <a:avLst/>
          </a:prstGeom>
          <a:noFill/>
        </p:spPr>
        <p:txBody>
          <a:bodyPr wrap="square" anchor="t" lIns="45720" rIns="45720">
            <a:spAutoFit/>
          </a:bodyPr>
          <a:lstStyle/>
          <a:p>
            <a:pPr algn="l"/>
            <a:r>
              <a:rPr sz="1300" b="0">
                <a:solidFill>
                  <a:srgbClr val="30373E"/>
                </a:solidFill>
                <a:latin typeface="Arial"/>
              </a:rPr>
              <a:t>/actuator/health en cada servicio</a:t>
            </a:r>
          </a:p>
          <a:p>
            <a:pPr algn="l"/>
            <a:r>
              <a:rPr sz="1300" b="0">
                <a:solidFill>
                  <a:srgbClr val="30373E"/>
                </a:solidFill>
                <a:latin typeface="Arial"/>
              </a:rPr>
              <a:t>y prueba-e2e.sh contra la URL</a:t>
            </a:r>
          </a:p>
          <a:p>
            <a:pPr algn="l"/>
            <a:r>
              <a:rPr sz="1300" b="0">
                <a:solidFill>
                  <a:srgbClr val="30373E"/>
                </a:solidFill>
                <a:latin typeface="Arial"/>
              </a:rPr>
              <a:t>pública del gateway.</a:t>
            </a:r>
          </a:p>
          <a:p>
            <a:pPr algn="l"/>
            <a:r>
              <a:rPr sz="1300" b="0">
                <a:solidFill>
                  <a:srgbClr val="30373E"/>
                </a:solidFill>
                <a:latin typeface="Arial"/>
              </a:rPr>
              <a:t>Guía: docs/09-despliegue-nube.md</a:t>
            </a:r>
          </a:p>
        </p:txBody>
      </p:sp>
      <p:sp>
        <p:nvSpPr>
          <p:cNvPr id="25" name="Rounded Rectangle 24"/>
          <p:cNvSpPr/>
          <p:nvPr/>
        </p:nvSpPr>
        <p:spPr>
          <a:xfrm>
            <a:off x="2548640" y="5650000"/>
            <a:ext cx="7155680" cy="4200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48640" y="5650000"/>
            <a:ext cx="7155680" cy="420000"/>
          </a:xfrm>
          <a:prstGeom prst="rect">
            <a:avLst/>
          </a:prstGeom>
          <a:noFill/>
        </p:spPr>
        <p:txBody>
          <a:bodyPr wrap="square" anchor="ctr" lIns="45720" rIns="45720">
            <a:spAutoFit/>
          </a:bodyPr>
          <a:lstStyle/>
          <a:p>
            <a:pPr algn="ctr"/>
            <a:r>
              <a:rPr sz="1300" b="1">
                <a:solidFill>
                  <a:srgbClr val="183F66"/>
                </a:solidFill>
                <a:latin typeface="Arial"/>
              </a:rPr>
              <a:t>URL pública: https://sigip-gateway.onrender.com  (completar)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21792"/>
          </a:xfrm>
          <a:prstGeom prst="rect">
            <a:avLst/>
          </a:prstGeom>
          <a:solidFill>
            <a:srgbClr val="18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966960" cy="384048"/>
          </a:xfrm>
          <a:prstGeom prst="rect">
            <a:avLst/>
          </a:prstGeom>
          <a:noFill/>
        </p:spPr>
        <p:txBody>
          <a:bodyPr wrap="square" anchor="ctr">
            <a:spAutoFit/>
          </a:bodyPr>
          <a:lstStyle/>
          <a:p>
            <a:pPr algn="l"/>
            <a:r>
              <a:rPr sz="2500" b="1">
                <a:solidFill>
                  <a:srgbClr val="FFFFFF"/>
                </a:solidFill>
                <a:latin typeface="Arial"/>
              </a:rPr>
              <a:t>Demostración</a:t>
            </a:r>
          </a:p>
        </p:txBody>
      </p:sp>
      <p:sp>
        <p:nvSpPr>
          <p:cNvPr id="4" name="TextBox 3"/>
          <p:cNvSpPr txBox="1"/>
          <p:nvPr/>
        </p:nvSpPr>
        <p:spPr>
          <a:xfrm>
            <a:off x="11201400" y="118872"/>
            <a:ext cx="457200" cy="320040"/>
          </a:xfrm>
          <a:prstGeom prst="rect">
            <a:avLst/>
          </a:prstGeom>
          <a:noFill/>
        </p:spPr>
        <p:txBody>
          <a:bodyPr wrap="square" anchor="t">
            <a:spAutoFit/>
          </a:bodyPr>
          <a:lstStyle/>
          <a:p>
            <a:pPr algn="ctr"/>
            <a:r>
              <a:rPr sz="1700" b="1">
                <a:solidFill>
                  <a:srgbClr val="FFFFFF"/>
                </a:solidFill>
                <a:latin typeface="Arial"/>
              </a:rPr>
              <a:t>21</a:t>
            </a:r>
          </a:p>
        </p:txBody>
      </p:sp>
      <p:sp>
        <p:nvSpPr>
          <p:cNvPr id="5" name="TextBox 4"/>
          <p:cNvSpPr txBox="1"/>
          <p:nvPr/>
        </p:nvSpPr>
        <p:spPr>
          <a:xfrm>
            <a:off x="530352" y="749808"/>
            <a:ext cx="10789920" cy="411480"/>
          </a:xfrm>
          <a:prstGeom prst="rect">
            <a:avLst/>
          </a:prstGeom>
          <a:noFill/>
        </p:spPr>
        <p:txBody>
          <a:bodyPr wrap="square" anchor="t">
            <a:spAutoFit/>
          </a:bodyPr>
          <a:lstStyle/>
          <a:p>
            <a:pPr algn="l"/>
            <a:r>
              <a:rPr sz="1300" b="0">
                <a:solidFill>
                  <a:srgbClr val="677078"/>
                </a:solidFill>
                <a:latin typeface="Arial"/>
              </a:rPr>
              <a:t>Guion de la demo y del video de 3 a 5 minutos</a:t>
            </a:r>
          </a:p>
        </p:txBody>
      </p:sp>
      <p:sp>
        <p:nvSpPr>
          <p:cNvPr id="6" name="TextBox 5"/>
          <p:cNvSpPr txBox="1"/>
          <p:nvPr/>
        </p:nvSpPr>
        <p:spPr>
          <a:xfrm>
            <a:off x="502920" y="6537960"/>
            <a:ext cx="6583680" cy="182880"/>
          </a:xfrm>
          <a:prstGeom prst="rect">
            <a:avLst/>
          </a:prstGeom>
          <a:noFill/>
        </p:spPr>
        <p:txBody>
          <a:bodyPr wrap="square" anchor="t">
            <a:spAutoFit/>
          </a:bodyPr>
          <a:lstStyle/>
          <a:p>
            <a:pPr algn="l"/>
            <a:r>
              <a:rPr sz="850" b="0">
                <a:solidFill>
                  <a:srgbClr val="677078"/>
                </a:solidFill>
                <a:latin typeface="Arial"/>
              </a:rPr>
              <a:t>SIGIP  |  Desarrollo de Servicios Web II  |  2026</a:t>
            </a:r>
          </a:p>
        </p:txBody>
      </p:sp>
      <p:sp>
        <p:nvSpPr>
          <p:cNvPr id="7" name="TextBox 6"/>
          <p:cNvSpPr txBox="1"/>
          <p:nvPr/>
        </p:nvSpPr>
        <p:spPr>
          <a:xfrm>
            <a:off x="11201400" y="6510528"/>
            <a:ext cx="457200" cy="182880"/>
          </a:xfrm>
          <a:prstGeom prst="rect">
            <a:avLst/>
          </a:prstGeom>
          <a:noFill/>
        </p:spPr>
        <p:txBody>
          <a:bodyPr wrap="square" anchor="t">
            <a:spAutoFit/>
          </a:bodyPr>
          <a:lstStyle/>
          <a:p>
            <a:pPr algn="ctr"/>
            <a:r>
              <a:rPr sz="850" b="0">
                <a:solidFill>
                  <a:srgbClr val="677078"/>
                </a:solidFill>
                <a:latin typeface="Arial"/>
              </a:rPr>
              <a:t>21</a:t>
            </a:r>
          </a:p>
        </p:txBody>
      </p:sp>
      <p:sp>
        <p:nvSpPr>
          <p:cNvPr id="8" name="Rounded Rectangle 7"/>
          <p:cNvSpPr/>
          <p:nvPr/>
        </p:nvSpPr>
        <p:spPr>
          <a:xfrm>
            <a:off x="548640" y="1350000"/>
            <a:ext cx="5500000" cy="14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98640" y="1500000"/>
            <a:ext cx="480000" cy="480000"/>
          </a:xfrm>
          <a:prstGeom prst="ellipse">
            <a:avLst/>
          </a:prstGeom>
          <a:solidFill>
            <a:srgbClr val="2D70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8640" y="1500000"/>
            <a:ext cx="480000" cy="480000"/>
          </a:xfrm>
          <a:prstGeom prst="rect">
            <a:avLst/>
          </a:prstGeom>
          <a:noFill/>
        </p:spPr>
        <p:txBody>
          <a:bodyPr wrap="square" anchor="ctr" lIns="45720" rIns="45720">
            <a:spAutoFit/>
          </a:bodyPr>
          <a:lstStyle/>
          <a:p>
            <a:pPr algn="ctr"/>
            <a:r>
              <a:rPr sz="1600" b="1">
                <a:solidFill>
                  <a:srgbClr val="FFFFFF"/>
                </a:solidFill>
                <a:latin typeface="Arial"/>
              </a:rPr>
              <a:t>1</a:t>
            </a:r>
          </a:p>
        </p:txBody>
      </p:sp>
      <p:sp>
        <p:nvSpPr>
          <p:cNvPr id="11" name="TextBox 10"/>
          <p:cNvSpPr txBox="1"/>
          <p:nvPr/>
        </p:nvSpPr>
        <p:spPr>
          <a:xfrm>
            <a:off x="1328640" y="1500000"/>
            <a:ext cx="4600000" cy="400000"/>
          </a:xfrm>
          <a:prstGeom prst="rect">
            <a:avLst/>
          </a:prstGeom>
          <a:noFill/>
        </p:spPr>
        <p:txBody>
          <a:bodyPr wrap="square" anchor="t" lIns="45720" rIns="45720">
            <a:spAutoFit/>
          </a:bodyPr>
          <a:lstStyle/>
          <a:p>
            <a:pPr algn="l"/>
            <a:r>
              <a:rPr sz="1600" b="1">
                <a:solidFill>
                  <a:srgbClr val="2D70AA"/>
                </a:solidFill>
                <a:latin typeface="Arial"/>
              </a:rPr>
              <a:t>Login</a:t>
            </a:r>
          </a:p>
        </p:txBody>
      </p:sp>
      <p:sp>
        <p:nvSpPr>
          <p:cNvPr id="12" name="TextBox 11"/>
          <p:cNvSpPr txBox="1"/>
          <p:nvPr/>
        </p:nvSpPr>
        <p:spPr>
          <a:xfrm>
            <a:off x="1328640" y="1930000"/>
            <a:ext cx="4600000" cy="800000"/>
          </a:xfrm>
          <a:prstGeom prst="rect">
            <a:avLst/>
          </a:prstGeom>
          <a:noFill/>
        </p:spPr>
        <p:txBody>
          <a:bodyPr wrap="square" anchor="t" lIns="45720" rIns="45720">
            <a:spAutoFit/>
          </a:bodyPr>
          <a:lstStyle/>
          <a:p>
            <a:pPr algn="l"/>
            <a:r>
              <a:rPr sz="1300" b="0">
                <a:solidFill>
                  <a:srgbClr val="30373E"/>
                </a:solidFill>
                <a:latin typeface="Arial"/>
              </a:rPr>
              <a:t>POST /auth/login con usuario de la BD; la contraseña está cifrada con BCrypt y se recibe el JWT.</a:t>
            </a:r>
          </a:p>
        </p:txBody>
      </p:sp>
      <p:sp>
        <p:nvSpPr>
          <p:cNvPr id="13" name="Rounded Rectangle 12"/>
          <p:cNvSpPr/>
          <p:nvPr/>
        </p:nvSpPr>
        <p:spPr>
          <a:xfrm>
            <a:off x="6198640" y="1350000"/>
            <a:ext cx="5500000" cy="14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48640" y="1500000"/>
            <a:ext cx="480000" cy="480000"/>
          </a:xfrm>
          <a:prstGeom prst="ellipse">
            <a:avLst/>
          </a:prstGeom>
          <a:solidFill>
            <a:srgbClr val="4F96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8640" y="1500000"/>
            <a:ext cx="480000" cy="480000"/>
          </a:xfrm>
          <a:prstGeom prst="rect">
            <a:avLst/>
          </a:prstGeom>
          <a:noFill/>
        </p:spPr>
        <p:txBody>
          <a:bodyPr wrap="square" anchor="ctr" lIns="45720" rIns="45720">
            <a:spAutoFit/>
          </a:bodyPr>
          <a:lstStyle/>
          <a:p>
            <a:pPr algn="ctr"/>
            <a:r>
              <a:rPr sz="1600" b="1">
                <a:solidFill>
                  <a:srgbClr val="FFFFFF"/>
                </a:solidFill>
                <a:latin typeface="Arial"/>
              </a:rPr>
              <a:t>2</a:t>
            </a:r>
          </a:p>
        </p:txBody>
      </p:sp>
      <p:sp>
        <p:nvSpPr>
          <p:cNvPr id="16" name="TextBox 15"/>
          <p:cNvSpPr txBox="1"/>
          <p:nvPr/>
        </p:nvSpPr>
        <p:spPr>
          <a:xfrm>
            <a:off x="6978640" y="1500000"/>
            <a:ext cx="4600000" cy="400000"/>
          </a:xfrm>
          <a:prstGeom prst="rect">
            <a:avLst/>
          </a:prstGeom>
          <a:noFill/>
        </p:spPr>
        <p:txBody>
          <a:bodyPr wrap="square" anchor="t" lIns="45720" rIns="45720">
            <a:spAutoFit/>
          </a:bodyPr>
          <a:lstStyle/>
          <a:p>
            <a:pPr algn="l"/>
            <a:r>
              <a:rPr sz="1600" b="1">
                <a:solidFill>
                  <a:srgbClr val="4F9667"/>
                </a:solidFill>
                <a:latin typeface="Arial"/>
              </a:rPr>
              <a:t>Catálogo</a:t>
            </a:r>
          </a:p>
        </p:txBody>
      </p:sp>
      <p:sp>
        <p:nvSpPr>
          <p:cNvPr id="17" name="TextBox 16"/>
          <p:cNvSpPr txBox="1"/>
          <p:nvPr/>
        </p:nvSpPr>
        <p:spPr>
          <a:xfrm>
            <a:off x="6978640" y="1930000"/>
            <a:ext cx="4600000" cy="800000"/>
          </a:xfrm>
          <a:prstGeom prst="rect">
            <a:avLst/>
          </a:prstGeom>
          <a:noFill/>
        </p:spPr>
        <p:txBody>
          <a:bodyPr wrap="square" anchor="t" lIns="45720" rIns="45720">
            <a:spAutoFit/>
          </a:bodyPr>
          <a:lstStyle/>
          <a:p>
            <a:pPr algn="l"/>
            <a:r>
              <a:rPr sz="1300" b="0">
                <a:solidFill>
                  <a:srgbClr val="30373E"/>
                </a:solidFill>
                <a:latin typeface="Arial"/>
              </a:rPr>
              <a:t>GET, POST, PUT y DELETE de servicios; la segunda lectura sale de la caché.</a:t>
            </a:r>
          </a:p>
        </p:txBody>
      </p:sp>
      <p:sp>
        <p:nvSpPr>
          <p:cNvPr id="18" name="Rounded Rectangle 17"/>
          <p:cNvSpPr/>
          <p:nvPr/>
        </p:nvSpPr>
        <p:spPr>
          <a:xfrm>
            <a:off x="548640" y="2900000"/>
            <a:ext cx="5500000" cy="14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98640" y="3050000"/>
            <a:ext cx="480000" cy="480000"/>
          </a:xfrm>
          <a:prstGeom prst="ellipse">
            <a:avLst/>
          </a:prstGeom>
          <a:solidFill>
            <a:srgbClr val="2D70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8640" y="3050000"/>
            <a:ext cx="480000" cy="480000"/>
          </a:xfrm>
          <a:prstGeom prst="rect">
            <a:avLst/>
          </a:prstGeom>
          <a:noFill/>
        </p:spPr>
        <p:txBody>
          <a:bodyPr wrap="square" anchor="ctr" lIns="45720" rIns="45720">
            <a:spAutoFit/>
          </a:bodyPr>
          <a:lstStyle/>
          <a:p>
            <a:pPr algn="ctr"/>
            <a:r>
              <a:rPr sz="1600" b="1">
                <a:solidFill>
                  <a:srgbClr val="FFFFFF"/>
                </a:solidFill>
                <a:latin typeface="Arial"/>
              </a:rPr>
              <a:t>3</a:t>
            </a:r>
          </a:p>
        </p:txBody>
      </p:sp>
      <p:sp>
        <p:nvSpPr>
          <p:cNvPr id="21" name="TextBox 20"/>
          <p:cNvSpPr txBox="1"/>
          <p:nvPr/>
        </p:nvSpPr>
        <p:spPr>
          <a:xfrm>
            <a:off x="1328640" y="3050000"/>
            <a:ext cx="4600000" cy="400000"/>
          </a:xfrm>
          <a:prstGeom prst="rect">
            <a:avLst/>
          </a:prstGeom>
          <a:noFill/>
        </p:spPr>
        <p:txBody>
          <a:bodyPr wrap="square" anchor="t" lIns="45720" rIns="45720">
            <a:spAutoFit/>
          </a:bodyPr>
          <a:lstStyle/>
          <a:p>
            <a:pPr algn="l"/>
            <a:r>
              <a:rPr sz="1600" b="1">
                <a:solidFill>
                  <a:srgbClr val="2D70AA"/>
                </a:solidFill>
                <a:latin typeface="Arial"/>
              </a:rPr>
              <a:t>Pedido</a:t>
            </a:r>
          </a:p>
        </p:txBody>
      </p:sp>
      <p:sp>
        <p:nvSpPr>
          <p:cNvPr id="22" name="TextBox 21"/>
          <p:cNvSpPr txBox="1"/>
          <p:nvPr/>
        </p:nvSpPr>
        <p:spPr>
          <a:xfrm>
            <a:off x="1328640" y="3480000"/>
            <a:ext cx="4600000" cy="800000"/>
          </a:xfrm>
          <a:prstGeom prst="rect">
            <a:avLst/>
          </a:prstGeom>
          <a:noFill/>
        </p:spPr>
        <p:txBody>
          <a:bodyPr wrap="square" anchor="t" lIns="45720" rIns="45720">
            <a:spAutoFit/>
          </a:bodyPr>
          <a:lstStyle/>
          <a:p>
            <a:pPr algn="l"/>
            <a:r>
              <a:rPr sz="1300" b="0">
                <a:solidFill>
                  <a:srgbClr val="30373E"/>
                </a:solidFill>
                <a:latin typeface="Arial"/>
              </a:rPr>
              <a:t>El cliente registra un pedido; sales consulta precios a catalog con Feign.</a:t>
            </a:r>
          </a:p>
        </p:txBody>
      </p:sp>
      <p:sp>
        <p:nvSpPr>
          <p:cNvPr id="23" name="Rounded Rectangle 22"/>
          <p:cNvSpPr/>
          <p:nvPr/>
        </p:nvSpPr>
        <p:spPr>
          <a:xfrm>
            <a:off x="6198640" y="2900000"/>
            <a:ext cx="5500000" cy="14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48640" y="3050000"/>
            <a:ext cx="480000" cy="480000"/>
          </a:xfrm>
          <a:prstGeom prst="ellipse">
            <a:avLst/>
          </a:prstGeom>
          <a:solidFill>
            <a:srgbClr val="4F96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8640" y="3050000"/>
            <a:ext cx="480000" cy="480000"/>
          </a:xfrm>
          <a:prstGeom prst="rect">
            <a:avLst/>
          </a:prstGeom>
          <a:noFill/>
        </p:spPr>
        <p:txBody>
          <a:bodyPr wrap="square" anchor="ctr" lIns="45720" rIns="45720">
            <a:spAutoFit/>
          </a:bodyPr>
          <a:lstStyle/>
          <a:p>
            <a:pPr algn="ctr"/>
            <a:r>
              <a:rPr sz="1600" b="1">
                <a:solidFill>
                  <a:srgbClr val="FFFFFF"/>
                </a:solidFill>
                <a:latin typeface="Arial"/>
              </a:rPr>
              <a:t>4</a:t>
            </a:r>
          </a:p>
        </p:txBody>
      </p:sp>
      <p:sp>
        <p:nvSpPr>
          <p:cNvPr id="26" name="TextBox 25"/>
          <p:cNvSpPr txBox="1"/>
          <p:nvPr/>
        </p:nvSpPr>
        <p:spPr>
          <a:xfrm>
            <a:off x="6978640" y="3050000"/>
            <a:ext cx="4600000" cy="400000"/>
          </a:xfrm>
          <a:prstGeom prst="rect">
            <a:avLst/>
          </a:prstGeom>
          <a:noFill/>
        </p:spPr>
        <p:txBody>
          <a:bodyPr wrap="square" anchor="t" lIns="45720" rIns="45720">
            <a:spAutoFit/>
          </a:bodyPr>
          <a:lstStyle/>
          <a:p>
            <a:pPr algn="l"/>
            <a:r>
              <a:rPr sz="1600" b="1">
                <a:solidFill>
                  <a:srgbClr val="4F9667"/>
                </a:solidFill>
                <a:latin typeface="Arial"/>
              </a:rPr>
              <a:t>Diseño y producción</a:t>
            </a:r>
          </a:p>
        </p:txBody>
      </p:sp>
      <p:sp>
        <p:nvSpPr>
          <p:cNvPr id="27" name="TextBox 26"/>
          <p:cNvSpPr txBox="1"/>
          <p:nvPr/>
        </p:nvSpPr>
        <p:spPr>
          <a:xfrm>
            <a:off x="6978640" y="3480000"/>
            <a:ext cx="4600000" cy="800000"/>
          </a:xfrm>
          <a:prstGeom prst="rect">
            <a:avLst/>
          </a:prstGeom>
          <a:noFill/>
        </p:spPr>
        <p:txBody>
          <a:bodyPr wrap="square" anchor="t" lIns="45720" rIns="45720">
            <a:spAutoFit/>
          </a:bodyPr>
          <a:lstStyle/>
          <a:p>
            <a:pPr algn="l"/>
            <a:r>
              <a:rPr sz="1300" b="0">
                <a:solidFill>
                  <a:srgbClr val="30373E"/>
                </a:solidFill>
                <a:latin typeface="Arial"/>
              </a:rPr>
              <a:t>Se aprueba el diseño, se crea la orden y el pedido avanza de estado.</a:t>
            </a:r>
          </a:p>
        </p:txBody>
      </p:sp>
      <p:sp>
        <p:nvSpPr>
          <p:cNvPr id="28" name="Rounded Rectangle 27"/>
          <p:cNvSpPr/>
          <p:nvPr/>
        </p:nvSpPr>
        <p:spPr>
          <a:xfrm>
            <a:off x="548640" y="4450000"/>
            <a:ext cx="5500000" cy="1400000"/>
          </a:xfrm>
          <a:prstGeom prst="roundRect">
            <a:avLst>
              <a:gd name="adj" fmla="val 8000"/>
            </a:avLst>
          </a:prstGeom>
          <a:solidFill>
            <a:srgbClr val="E2EFF9"/>
          </a:solidFill>
          <a:ln w="13970">
            <a:solidFill>
              <a:srgbClr val="AAC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98640" y="4600000"/>
            <a:ext cx="480000" cy="480000"/>
          </a:xfrm>
          <a:prstGeom prst="ellipse">
            <a:avLst/>
          </a:prstGeom>
          <a:solidFill>
            <a:srgbClr val="2D70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640" y="4600000"/>
            <a:ext cx="480000" cy="480000"/>
          </a:xfrm>
          <a:prstGeom prst="rect">
            <a:avLst/>
          </a:prstGeom>
          <a:noFill/>
        </p:spPr>
        <p:txBody>
          <a:bodyPr wrap="square" anchor="ctr" lIns="45720" rIns="45720">
            <a:spAutoFit/>
          </a:bodyPr>
          <a:lstStyle/>
          <a:p>
            <a:pPr algn="ctr"/>
            <a:r>
              <a:rPr sz="1600" b="1">
                <a:solidFill>
                  <a:srgbClr val="FFFFFF"/>
                </a:solidFill>
                <a:latin typeface="Arial"/>
              </a:rPr>
              <a:t>5</a:t>
            </a:r>
          </a:p>
        </p:txBody>
      </p:sp>
      <p:sp>
        <p:nvSpPr>
          <p:cNvPr id="31" name="TextBox 30"/>
          <p:cNvSpPr txBox="1"/>
          <p:nvPr/>
        </p:nvSpPr>
        <p:spPr>
          <a:xfrm>
            <a:off x="1328640" y="4600000"/>
            <a:ext cx="4600000" cy="400000"/>
          </a:xfrm>
          <a:prstGeom prst="rect">
            <a:avLst/>
          </a:prstGeom>
          <a:noFill/>
        </p:spPr>
        <p:txBody>
          <a:bodyPr wrap="square" anchor="t" lIns="45720" rIns="45720">
            <a:spAutoFit/>
          </a:bodyPr>
          <a:lstStyle/>
          <a:p>
            <a:pPr algn="l"/>
            <a:r>
              <a:rPr sz="1600" b="1">
                <a:solidFill>
                  <a:srgbClr val="2D70AA"/>
                </a:solidFill>
                <a:latin typeface="Arial"/>
              </a:rPr>
              <a:t>Notificación</a:t>
            </a:r>
          </a:p>
        </p:txBody>
      </p:sp>
      <p:sp>
        <p:nvSpPr>
          <p:cNvPr id="32" name="TextBox 31"/>
          <p:cNvSpPr txBox="1"/>
          <p:nvPr/>
        </p:nvSpPr>
        <p:spPr>
          <a:xfrm>
            <a:off x="1328640" y="5030000"/>
            <a:ext cx="4600000" cy="800000"/>
          </a:xfrm>
          <a:prstGeom prst="rect">
            <a:avLst/>
          </a:prstGeom>
          <a:noFill/>
        </p:spPr>
        <p:txBody>
          <a:bodyPr wrap="square" anchor="t" lIns="45720" rIns="45720">
            <a:spAutoFit/>
          </a:bodyPr>
          <a:lstStyle/>
          <a:p>
            <a:pPr algn="l"/>
            <a:r>
              <a:rPr sz="1300" b="0">
                <a:solidFill>
                  <a:srgbClr val="30373E"/>
                </a:solidFill>
                <a:latin typeface="Arial"/>
              </a:rPr>
              <a:t>RabbitMQ entrega el evento y el cliente ve el aviso en notification.</a:t>
            </a:r>
          </a:p>
        </p:txBody>
      </p:sp>
      <p:sp>
        <p:nvSpPr>
          <p:cNvPr id="33" name="Rounded Rectangle 32"/>
          <p:cNvSpPr/>
          <p:nvPr/>
        </p:nvSpPr>
        <p:spPr>
          <a:xfrm>
            <a:off x="6198640" y="4450000"/>
            <a:ext cx="5500000" cy="1400000"/>
          </a:xfrm>
          <a:prstGeom prst="roundRect">
            <a:avLst>
              <a:gd name="adj" fmla="val 8000"/>
            </a:avLst>
          </a:prstGeom>
          <a:solidFill>
            <a:srgbClr val="E5F2E8"/>
          </a:solidFill>
          <a:ln w="13970">
            <a:solidFill>
              <a:srgbClr val="B5D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48640" y="4600000"/>
            <a:ext cx="480000" cy="480000"/>
          </a:xfrm>
          <a:prstGeom prst="ellipse">
            <a:avLst/>
          </a:prstGeom>
          <a:solidFill>
            <a:srgbClr val="4F96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8640" y="4600000"/>
            <a:ext cx="480000" cy="480000"/>
          </a:xfrm>
          <a:prstGeom prst="rect">
            <a:avLst/>
          </a:prstGeom>
          <a:noFill/>
        </p:spPr>
        <p:txBody>
          <a:bodyPr wrap="square" anchor="ctr" lIns="45720" rIns="45720">
            <a:spAutoFit/>
          </a:bodyPr>
          <a:lstStyle/>
          <a:p>
            <a:pPr algn="ctr"/>
            <a:r>
              <a:rPr sz="1600" b="1">
                <a:solidFill>
                  <a:srgbClr val="FFFFFF"/>
                </a:solidFill>
                <a:latin typeface="Arial"/>
              </a:rPr>
              <a:t>6</a:t>
            </a:r>
          </a:p>
        </p:txBody>
      </p:sp>
      <p:sp>
        <p:nvSpPr>
          <p:cNvPr id="36" name="TextBox 35"/>
          <p:cNvSpPr txBox="1"/>
          <p:nvPr/>
        </p:nvSpPr>
        <p:spPr>
          <a:xfrm>
            <a:off x="6978640" y="4600000"/>
            <a:ext cx="4600000" cy="400000"/>
          </a:xfrm>
          <a:prstGeom prst="rect">
            <a:avLst/>
          </a:prstGeom>
          <a:noFill/>
        </p:spPr>
        <p:txBody>
          <a:bodyPr wrap="square" anchor="t" lIns="45720" rIns="45720">
            <a:spAutoFit/>
          </a:bodyPr>
          <a:lstStyle/>
          <a:p>
            <a:pPr algn="l"/>
            <a:r>
              <a:rPr sz="1600" b="1">
                <a:solidFill>
                  <a:srgbClr val="4F9667"/>
                </a:solidFill>
                <a:latin typeface="Arial"/>
              </a:rPr>
              <a:t>Dashboard y CI</a:t>
            </a:r>
          </a:p>
        </p:txBody>
      </p:sp>
      <p:sp>
        <p:nvSpPr>
          <p:cNvPr id="37" name="TextBox 36"/>
          <p:cNvSpPr txBox="1"/>
          <p:nvPr/>
        </p:nvSpPr>
        <p:spPr>
          <a:xfrm>
            <a:off x="6978640" y="5030000"/>
            <a:ext cx="4600000" cy="800000"/>
          </a:xfrm>
          <a:prstGeom prst="rect">
            <a:avLst/>
          </a:prstGeom>
          <a:noFill/>
        </p:spPr>
        <p:txBody>
          <a:bodyPr wrap="square" anchor="t" lIns="45720" rIns="45720">
            <a:spAutoFit/>
          </a:bodyPr>
          <a:lstStyle/>
          <a:p>
            <a:pPr algn="l"/>
            <a:r>
              <a:rPr sz="1300" b="0">
                <a:solidFill>
                  <a:srgbClr val="30373E"/>
                </a:solidFill>
                <a:latin typeface="Arial"/>
              </a:rPr>
              <a:t>report consolida ventas e inventario; se muestra el pipeline en verde.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